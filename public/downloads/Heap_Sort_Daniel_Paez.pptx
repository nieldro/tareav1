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+KpzpDI9L7ff6CWnk8zFj64k5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7F9327-847C-4EDB-A2DB-095B8445EB99}">
  <a:tblStyle styleId="{887F9327-847C-4EDB-A2DB-095B8445EB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89fece7ac420b98fb8881490542dae3338fdf7a.jpg" id="17" name="Google Shape;17;p1"/>
          <p:cNvPicPr preferRelativeResize="0"/>
          <p:nvPr/>
        </p:nvPicPr>
        <p:blipFill rotWithShape="1">
          <a:blip r:embed="rId3">
            <a:alphaModFix amt="30000"/>
          </a:blip>
          <a:srcRect b="0" l="5556" r="5556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85098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4353669" y="823913"/>
            <a:ext cx="3486150" cy="504825"/>
          </a:xfrm>
          <a:custGeom>
            <a:rect b="b" l="l" r="r" t="t"/>
            <a:pathLst>
              <a:path extrusionOk="0" h="504825" w="3486150">
                <a:moveTo>
                  <a:pt x="252413" y="0"/>
                </a:moveTo>
                <a:lnTo>
                  <a:pt x="3233738" y="0"/>
                </a:lnTo>
                <a:cubicBezTo>
                  <a:pt x="3373048" y="0"/>
                  <a:pt x="3486150" y="113102"/>
                  <a:pt x="3486150" y="252413"/>
                </a:cubicBezTo>
                <a:lnTo>
                  <a:pt x="3486150" y="252413"/>
                </a:lnTo>
                <a:cubicBezTo>
                  <a:pt x="3486150" y="391723"/>
                  <a:pt x="3373048" y="504825"/>
                  <a:pt x="3233738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44169" y="962025"/>
            <a:ext cx="31035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Daniel Alejandro Paez Torres</a:t>
            </a:r>
            <a:endParaRPr b="0" i="0" sz="1600" u="none" cap="none" strike="noStrike"/>
          </a:p>
        </p:txBody>
      </p:sp>
      <p:sp>
        <p:nvSpPr>
          <p:cNvPr id="21" name="Google Shape;21;p1"/>
          <p:cNvSpPr/>
          <p:nvPr/>
        </p:nvSpPr>
        <p:spPr>
          <a:xfrm>
            <a:off x="3768328" y="1866900"/>
            <a:ext cx="4657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Heap Sort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5486400" y="3238500"/>
            <a:ext cx="1219200" cy="38100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23" name="Google Shape;23;p1"/>
          <p:cNvSpPr/>
          <p:nvPr/>
        </p:nvSpPr>
        <p:spPr>
          <a:xfrm>
            <a:off x="3077170" y="3581400"/>
            <a:ext cx="6038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Algoritmo de Ordenamiento Eficiente</a:t>
            </a:r>
            <a:endParaRPr b="0" i="0" sz="1600" u="none" cap="none" strike="noStrike"/>
          </a:p>
        </p:txBody>
      </p:sp>
      <p:sp>
        <p:nvSpPr>
          <p:cNvPr id="24" name="Google Shape;24;p1"/>
          <p:cNvSpPr/>
          <p:nvPr/>
        </p:nvSpPr>
        <p:spPr>
          <a:xfrm>
            <a:off x="3776514" y="4419600"/>
            <a:ext cx="46386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Análisis Completo del Algoritmo Heap Sort: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Análisis de Algoritmos</a:t>
            </a:r>
            <a:endParaRPr b="0" i="0" sz="1600" u="none" cap="none" strike="noStrike"/>
          </a:p>
        </p:txBody>
      </p:sp>
      <p:sp>
        <p:nvSpPr>
          <p:cNvPr id="25" name="Google Shape;25;p1"/>
          <p:cNvSpPr/>
          <p:nvPr/>
        </p:nvSpPr>
        <p:spPr>
          <a:xfrm>
            <a:off x="2932807" y="5791200"/>
            <a:ext cx="257175" cy="228600"/>
          </a:xfrm>
          <a:custGeom>
            <a:rect b="b" l="l" r="r" t="t"/>
            <a:pathLst>
              <a:path extrusionOk="0" h="228600" w="257175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275707" y="577215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Implementación Python</a:t>
            </a:r>
            <a:endParaRPr b="0" i="0" sz="1600" u="none" cap="none" strike="noStrike"/>
          </a:p>
        </p:txBody>
      </p:sp>
      <p:sp>
        <p:nvSpPr>
          <p:cNvPr id="27" name="Google Shape;27;p1"/>
          <p:cNvSpPr/>
          <p:nvPr/>
        </p:nvSpPr>
        <p:spPr>
          <a:xfrm>
            <a:off x="5509171" y="5791200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837783" y="577215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Análisis O(n log n)</a:t>
            </a:r>
            <a:endParaRPr b="0" i="0" sz="1600" u="none" cap="none" strike="noStrike"/>
          </a:p>
        </p:txBody>
      </p:sp>
      <p:sp>
        <p:nvSpPr>
          <p:cNvPr id="29" name="Google Shape;29;p1"/>
          <p:cNvSpPr/>
          <p:nvPr/>
        </p:nvSpPr>
        <p:spPr>
          <a:xfrm>
            <a:off x="7630120" y="5791200"/>
            <a:ext cx="228600" cy="228600"/>
          </a:xfrm>
          <a:custGeom>
            <a:rect b="b" l="l" r="r" t="t"/>
            <a:pathLst>
              <a:path extrusionOk="0" h="228600" w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958733" y="5772150"/>
            <a:ext cx="136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Estructura Heap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381000" y="381000"/>
            <a:ext cx="76200" cy="457200"/>
          </a:xfrm>
          <a:custGeom>
            <a:rect b="b" l="l" r="r" t="t"/>
            <a:pathLst>
              <a:path extrusionOk="0" h="457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71500" y="381000"/>
            <a:ext cx="472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Historia de Heap Sort</a:t>
            </a:r>
            <a:endParaRPr b="0" i="0" sz="1600" u="none" cap="none" strike="noStrike"/>
          </a:p>
        </p:txBody>
      </p:sp>
      <p:sp>
        <p:nvSpPr>
          <p:cNvPr id="38" name="Google Shape;38;p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El nacimiento de una estructura revolucionaria</a:t>
            </a:r>
            <a:endParaRPr b="0" i="0" sz="1600" u="none" cap="none" strike="noStrike"/>
          </a:p>
        </p:txBody>
      </p:sp>
      <p:sp>
        <p:nvSpPr>
          <p:cNvPr id="39" name="Google Shape;39;p2"/>
          <p:cNvSpPr/>
          <p:nvPr/>
        </p:nvSpPr>
        <p:spPr>
          <a:xfrm>
            <a:off x="385763" y="1338263"/>
            <a:ext cx="5591175" cy="2447925"/>
          </a:xfrm>
          <a:custGeom>
            <a:rect b="b" l="l" r="r" t="t"/>
            <a:pathLst>
              <a:path extrusionOk="0" h="2447925" w="5591175">
                <a:moveTo>
                  <a:pt x="114294" y="0"/>
                </a:moveTo>
                <a:lnTo>
                  <a:pt x="5476881" y="0"/>
                </a:lnTo>
                <a:cubicBezTo>
                  <a:pt x="5540004" y="0"/>
                  <a:pt x="5591175" y="51171"/>
                  <a:pt x="5591175" y="114294"/>
                </a:cubicBezTo>
                <a:lnTo>
                  <a:pt x="5591175" y="2333631"/>
                </a:lnTo>
                <a:cubicBezTo>
                  <a:pt x="5591175" y="2396754"/>
                  <a:pt x="5540004" y="2447925"/>
                  <a:pt x="5476881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81025" y="153352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47713" y="1685925"/>
            <a:ext cx="200025" cy="228600"/>
          </a:xfrm>
          <a:custGeom>
            <a:rect b="b" l="l" r="r" t="t"/>
            <a:pathLst>
              <a:path extrusionOk="0" h="228600" w="200025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228725" y="1533525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J.W.J. Williams</a:t>
            </a:r>
            <a:endParaRPr b="0" i="0" sz="1600" u="none" cap="none" strike="noStrike"/>
          </a:p>
        </p:txBody>
      </p:sp>
      <p:sp>
        <p:nvSpPr>
          <p:cNvPr id="43" name="Google Shape;43;p2"/>
          <p:cNvSpPr/>
          <p:nvPr/>
        </p:nvSpPr>
        <p:spPr>
          <a:xfrm>
            <a:off x="1228725" y="1838325"/>
            <a:ext cx="2124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John William Joseph Williams</a:t>
            </a:r>
            <a:endParaRPr b="0" i="0" sz="1600" u="none" cap="none" strike="noStrike"/>
          </a:p>
        </p:txBody>
      </p:sp>
      <p:sp>
        <p:nvSpPr>
          <p:cNvPr id="44" name="Google Shape;44;p2"/>
          <p:cNvSpPr/>
          <p:nvPr/>
        </p:nvSpPr>
        <p:spPr>
          <a:xfrm>
            <a:off x="581025" y="2181225"/>
            <a:ext cx="5276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Año: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1964</a:t>
            </a:r>
            <a:endParaRPr b="0" i="0" sz="1600" u="none" cap="none" strike="noStrike"/>
          </a:p>
        </p:txBody>
      </p:sp>
      <p:sp>
        <p:nvSpPr>
          <p:cNvPr id="45" name="Google Shape;45;p2"/>
          <p:cNvSpPr/>
          <p:nvPr/>
        </p:nvSpPr>
        <p:spPr>
          <a:xfrm>
            <a:off x="581025" y="2486025"/>
            <a:ext cx="5276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Publicación: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Communications of the ACM, Algorithm 232</a:t>
            </a:r>
            <a:endParaRPr b="0" i="0" sz="160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581025" y="2790825"/>
            <a:ext cx="5276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Institución: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Elliot Bros. (London) Ltd.</a:t>
            </a:r>
            <a:endParaRPr b="0" i="0" sz="1600" u="none" cap="none" strike="noStrike"/>
          </a:p>
        </p:txBody>
      </p:sp>
      <p:sp>
        <p:nvSpPr>
          <p:cNvPr id="47" name="Google Shape;47;p2"/>
          <p:cNvSpPr/>
          <p:nvPr/>
        </p:nvSpPr>
        <p:spPr>
          <a:xfrm>
            <a:off x="581025" y="3095625"/>
            <a:ext cx="5276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Científico de la computación británico (1930-2012) que inventó Heap Sort y la estructura de datos Binary Heap.</a:t>
            </a:r>
            <a:endParaRPr b="0" i="0" sz="1600" u="none" cap="none" strike="noStrike"/>
          </a:p>
        </p:txBody>
      </p:sp>
      <p:sp>
        <p:nvSpPr>
          <p:cNvPr id="48" name="Google Shape;48;p2"/>
          <p:cNvSpPr/>
          <p:nvPr/>
        </p:nvSpPr>
        <p:spPr>
          <a:xfrm>
            <a:off x="385763" y="3948112"/>
            <a:ext cx="5591175" cy="1514475"/>
          </a:xfrm>
          <a:custGeom>
            <a:rect b="b" l="l" r="r" t="t"/>
            <a:pathLst>
              <a:path extrusionOk="0" h="1514475" w="5591175">
                <a:moveTo>
                  <a:pt x="114297" y="0"/>
                </a:moveTo>
                <a:lnTo>
                  <a:pt x="5476878" y="0"/>
                </a:lnTo>
                <a:cubicBezTo>
                  <a:pt x="5539960" y="0"/>
                  <a:pt x="5591175" y="51215"/>
                  <a:pt x="5591175" y="114297"/>
                </a:cubicBezTo>
                <a:lnTo>
                  <a:pt x="5591175" y="1400178"/>
                </a:lnTo>
                <a:cubicBezTo>
                  <a:pt x="5591175" y="1463260"/>
                  <a:pt x="5539960" y="1514475"/>
                  <a:pt x="547687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28650" y="4181475"/>
            <a:ext cx="142875" cy="1905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19150" y="4143375"/>
            <a:ext cx="505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Contribución de Robert Floyd</a:t>
            </a:r>
            <a:endParaRPr b="0" i="0" sz="1600" u="none" cap="none" strike="noStrike"/>
          </a:p>
        </p:txBody>
      </p:sp>
      <p:sp>
        <p:nvSpPr>
          <p:cNvPr id="51" name="Google Shape;51;p2"/>
          <p:cNvSpPr/>
          <p:nvPr/>
        </p:nvSpPr>
        <p:spPr>
          <a:xfrm>
            <a:off x="581025" y="4524375"/>
            <a:ext cx="52768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En el mismo año 1964,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Robert W. Floyd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publicó una versión mejorada (Algorithm 245: Treesort 3) que optimizó la construcción del heap de O(n log n) a </a:t>
            </a:r>
            <a:r>
              <a:rPr b="0" i="0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 convirtiéndose en el estándar actual.</a:t>
            </a:r>
            <a:endParaRPr b="0" i="0" sz="160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6215063" y="1338263"/>
            <a:ext cx="5591175" cy="3362325"/>
          </a:xfrm>
          <a:custGeom>
            <a:rect b="b" l="l" r="r" t="t"/>
            <a:pathLst>
              <a:path extrusionOk="0" h="3362325" w="5591175">
                <a:moveTo>
                  <a:pt x="114285" y="0"/>
                </a:moveTo>
                <a:lnTo>
                  <a:pt x="5476890" y="0"/>
                </a:lnTo>
                <a:cubicBezTo>
                  <a:pt x="5540008" y="0"/>
                  <a:pt x="5591175" y="51167"/>
                  <a:pt x="5591175" y="114285"/>
                </a:cubicBezTo>
                <a:lnTo>
                  <a:pt x="5591175" y="3248040"/>
                </a:lnTo>
                <a:cubicBezTo>
                  <a:pt x="5591175" y="3311158"/>
                  <a:pt x="5540008" y="3362325"/>
                  <a:pt x="5476890" y="3362325"/>
                </a:cubicBezTo>
                <a:lnTo>
                  <a:pt x="114285" y="3362325"/>
                </a:lnTo>
                <a:cubicBezTo>
                  <a:pt x="51167" y="3362325"/>
                  <a:pt x="0" y="3311158"/>
                  <a:pt x="0" y="32480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422231" y="1571625"/>
            <a:ext cx="214313" cy="190500"/>
          </a:xfrm>
          <a:custGeom>
            <a:rect b="b" l="l" r="r" t="t"/>
            <a:pathLst>
              <a:path extrusionOk="0" h="190500" w="214313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648450" y="1533525"/>
            <a:ext cx="505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Contexto Histórico</a:t>
            </a:r>
            <a:endParaRPr b="0" i="0" sz="1600" u="none" cap="none" strike="noStrike"/>
          </a:p>
        </p:txBody>
      </p:sp>
      <p:sp>
        <p:nvSpPr>
          <p:cNvPr id="55" name="Google Shape;55;p2"/>
          <p:cNvSpPr/>
          <p:nvPr/>
        </p:nvSpPr>
        <p:spPr>
          <a:xfrm>
            <a:off x="6410325" y="1990725"/>
            <a:ext cx="76200" cy="76200"/>
          </a:xfrm>
          <a:custGeom>
            <a:rect b="b" l="l" r="r" t="t"/>
            <a:pathLst>
              <a:path extrusionOk="0" h="76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600825" y="1914525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Era de los 60s: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Auge de la informática, necesidad de algoritmos eficientes para ordenar grandes volúmenes de datos</a:t>
            </a:r>
            <a:endParaRPr b="0" i="0" sz="16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6410325" y="2562225"/>
            <a:ext cx="76200" cy="76200"/>
          </a:xfrm>
          <a:custGeom>
            <a:rect b="b" l="l" r="r" t="t"/>
            <a:pathLst>
              <a:path extrusionOk="0" h="76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600825" y="2486025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Algoritmos como Bubble Sort y Selection Sort tenían complejidad O(n²), ineficientes para datos grandes</a:t>
            </a:r>
            <a:endParaRPr b="0" i="0" sz="16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6410325" y="3133725"/>
            <a:ext cx="76200" cy="76200"/>
          </a:xfrm>
          <a:custGeom>
            <a:rect b="b" l="l" r="r" t="t"/>
            <a:pathLst>
              <a:path extrusionOk="0" h="76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600825" y="3057525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Heap Sort ofreció O(n log n) garantizado, revolucionando el ordenamiento</a:t>
            </a:r>
            <a:endParaRPr b="0" i="0" sz="16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6215063" y="4862513"/>
            <a:ext cx="5591175" cy="1609725"/>
          </a:xfrm>
          <a:custGeom>
            <a:rect b="b" l="l" r="r" t="t"/>
            <a:pathLst>
              <a:path extrusionOk="0" h="1609725" w="5591175">
                <a:moveTo>
                  <a:pt x="114307" y="0"/>
                </a:moveTo>
                <a:lnTo>
                  <a:pt x="5476868" y="0"/>
                </a:lnTo>
                <a:cubicBezTo>
                  <a:pt x="5539956" y="0"/>
                  <a:pt x="5591175" y="51219"/>
                  <a:pt x="5591175" y="114307"/>
                </a:cubicBezTo>
                <a:lnTo>
                  <a:pt x="5591175" y="1495418"/>
                </a:lnTo>
                <a:cubicBezTo>
                  <a:pt x="5591175" y="1558506"/>
                  <a:pt x="5539956" y="1609725"/>
                  <a:pt x="5476868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422231" y="5095875"/>
            <a:ext cx="214313" cy="190500"/>
          </a:xfrm>
          <a:custGeom>
            <a:rect b="b" l="l" r="r" t="t"/>
            <a:pathLst>
              <a:path extrusionOk="0" h="190500" w="214313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648450" y="5057775"/>
            <a:ext cx="505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Importancia Histórica</a:t>
            </a:r>
            <a:endParaRPr b="0" i="0" sz="16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6429375" y="54768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677025" y="5438775"/>
            <a:ext cx="465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Introdujo el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Binary Heap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como estructura de datos independiente</a:t>
            </a:r>
            <a:endParaRPr b="0" i="0" sz="16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429375" y="5781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677025" y="5743575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Base para implementar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colas de prioridad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eficientes</a:t>
            </a:r>
            <a:endParaRPr b="0" i="0" sz="16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6429375" y="60864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677025" y="6048375"/>
            <a:ext cx="4181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Demostró que ordenamiento in-place O(n log n) es posible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379813" y="379813"/>
            <a:ext cx="75963" cy="455776"/>
          </a:xfrm>
          <a:custGeom>
            <a:rect b="b" l="l" r="r" t="t"/>
            <a:pathLst>
              <a:path extrusionOk="0" h="455776" w="75963">
                <a:moveTo>
                  <a:pt x="37981" y="0"/>
                </a:moveTo>
                <a:lnTo>
                  <a:pt x="37981" y="0"/>
                </a:lnTo>
                <a:cubicBezTo>
                  <a:pt x="58944" y="0"/>
                  <a:pt x="75963" y="17019"/>
                  <a:pt x="75963" y="37981"/>
                </a:cubicBezTo>
                <a:lnTo>
                  <a:pt x="75963" y="417794"/>
                </a:lnTo>
                <a:cubicBezTo>
                  <a:pt x="75963" y="438757"/>
                  <a:pt x="58944" y="455776"/>
                  <a:pt x="37981" y="455776"/>
                </a:cubicBezTo>
                <a:lnTo>
                  <a:pt x="37981" y="455776"/>
                </a:lnTo>
                <a:cubicBezTo>
                  <a:pt x="17019" y="455776"/>
                  <a:pt x="0" y="438757"/>
                  <a:pt x="0" y="41779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69720" y="379813"/>
            <a:ext cx="4367850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9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¿Qué es Heap Sort?</a:t>
            </a:r>
            <a:endParaRPr b="0" i="0" sz="16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569720" y="911551"/>
            <a:ext cx="11337421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5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Fundamentos del algoritmo</a:t>
            </a:r>
            <a:endParaRPr b="0" i="0" sz="160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384561" y="1334093"/>
            <a:ext cx="6770168" cy="2364336"/>
          </a:xfrm>
          <a:custGeom>
            <a:rect b="b" l="l" r="r" t="t"/>
            <a:pathLst>
              <a:path extrusionOk="0" h="2364336" w="6770168">
                <a:moveTo>
                  <a:pt x="113937" y="0"/>
                </a:moveTo>
                <a:lnTo>
                  <a:pt x="6656231" y="0"/>
                </a:lnTo>
                <a:cubicBezTo>
                  <a:pt x="6719157" y="0"/>
                  <a:pt x="6770168" y="51011"/>
                  <a:pt x="6770168" y="113937"/>
                </a:cubicBezTo>
                <a:lnTo>
                  <a:pt x="6770168" y="2250399"/>
                </a:lnTo>
                <a:cubicBezTo>
                  <a:pt x="6770168" y="2313325"/>
                  <a:pt x="6719157" y="2364336"/>
                  <a:pt x="6656231" y="2364336"/>
                </a:cubicBezTo>
                <a:lnTo>
                  <a:pt x="113937" y="2364336"/>
                </a:lnTo>
                <a:cubicBezTo>
                  <a:pt x="51011" y="2364336"/>
                  <a:pt x="0" y="2313325"/>
                  <a:pt x="0" y="2250399"/>
                </a:cubicBezTo>
                <a:lnTo>
                  <a:pt x="0" y="113937"/>
                </a:lnTo>
                <a:cubicBezTo>
                  <a:pt x="0" y="51054"/>
                  <a:pt x="51054" y="0"/>
                  <a:pt x="11393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93458" y="1566729"/>
            <a:ext cx="256374" cy="227888"/>
          </a:xfrm>
          <a:custGeom>
            <a:rect b="b" l="l" r="r" t="t"/>
            <a:pathLst>
              <a:path extrusionOk="0" h="227888" w="256374">
                <a:moveTo>
                  <a:pt x="109760" y="166732"/>
                </a:moveTo>
                <a:lnTo>
                  <a:pt x="67031" y="209461"/>
                </a:lnTo>
                <a:cubicBezTo>
                  <a:pt x="61467" y="215025"/>
                  <a:pt x="52432" y="215025"/>
                  <a:pt x="46868" y="209461"/>
                </a:cubicBezTo>
                <a:lnTo>
                  <a:pt x="4139" y="166732"/>
                </a:lnTo>
                <a:cubicBezTo>
                  <a:pt x="-1424" y="161168"/>
                  <a:pt x="-1424" y="152133"/>
                  <a:pt x="4139" y="146569"/>
                </a:cubicBezTo>
                <a:cubicBezTo>
                  <a:pt x="9703" y="141006"/>
                  <a:pt x="18738" y="141006"/>
                  <a:pt x="24302" y="146569"/>
                </a:cubicBezTo>
                <a:lnTo>
                  <a:pt x="42729" y="164996"/>
                </a:lnTo>
                <a:lnTo>
                  <a:pt x="42729" y="28486"/>
                </a:lnTo>
                <a:cubicBezTo>
                  <a:pt x="42729" y="20608"/>
                  <a:pt x="49094" y="14243"/>
                  <a:pt x="56972" y="14243"/>
                </a:cubicBezTo>
                <a:cubicBezTo>
                  <a:pt x="64850" y="14243"/>
                  <a:pt x="71215" y="20608"/>
                  <a:pt x="71215" y="28486"/>
                </a:cubicBezTo>
                <a:lnTo>
                  <a:pt x="71215" y="164996"/>
                </a:lnTo>
                <a:lnTo>
                  <a:pt x="89642" y="146569"/>
                </a:lnTo>
                <a:cubicBezTo>
                  <a:pt x="95205" y="141006"/>
                  <a:pt x="104241" y="141006"/>
                  <a:pt x="109805" y="146569"/>
                </a:cubicBezTo>
                <a:cubicBezTo>
                  <a:pt x="115368" y="152133"/>
                  <a:pt x="115368" y="161168"/>
                  <a:pt x="109805" y="166732"/>
                </a:cubicBezTo>
                <a:close/>
                <a:moveTo>
                  <a:pt x="142430" y="213645"/>
                </a:moveTo>
                <a:cubicBezTo>
                  <a:pt x="134552" y="213645"/>
                  <a:pt x="128187" y="207280"/>
                  <a:pt x="128187" y="199402"/>
                </a:cubicBezTo>
                <a:cubicBezTo>
                  <a:pt x="128187" y="191524"/>
                  <a:pt x="134552" y="185159"/>
                  <a:pt x="142430" y="185159"/>
                </a:cubicBezTo>
                <a:lnTo>
                  <a:pt x="156673" y="185159"/>
                </a:lnTo>
                <a:cubicBezTo>
                  <a:pt x="164551" y="185159"/>
                  <a:pt x="170916" y="191524"/>
                  <a:pt x="170916" y="199402"/>
                </a:cubicBezTo>
                <a:cubicBezTo>
                  <a:pt x="170916" y="207280"/>
                  <a:pt x="164551" y="213645"/>
                  <a:pt x="156673" y="213645"/>
                </a:cubicBezTo>
                <a:lnTo>
                  <a:pt x="142430" y="213645"/>
                </a:lnTo>
                <a:close/>
                <a:moveTo>
                  <a:pt x="142430" y="156673"/>
                </a:moveTo>
                <a:cubicBezTo>
                  <a:pt x="134552" y="156673"/>
                  <a:pt x="128187" y="150308"/>
                  <a:pt x="128187" y="142430"/>
                </a:cubicBezTo>
                <a:cubicBezTo>
                  <a:pt x="128187" y="134552"/>
                  <a:pt x="134552" y="128187"/>
                  <a:pt x="142430" y="128187"/>
                </a:cubicBezTo>
                <a:lnTo>
                  <a:pt x="185159" y="128187"/>
                </a:lnTo>
                <a:cubicBezTo>
                  <a:pt x="193037" y="128187"/>
                  <a:pt x="199402" y="134552"/>
                  <a:pt x="199402" y="142430"/>
                </a:cubicBezTo>
                <a:cubicBezTo>
                  <a:pt x="199402" y="150308"/>
                  <a:pt x="193037" y="156673"/>
                  <a:pt x="185159" y="156673"/>
                </a:cubicBezTo>
                <a:lnTo>
                  <a:pt x="142430" y="156673"/>
                </a:lnTo>
                <a:close/>
                <a:moveTo>
                  <a:pt x="142430" y="99701"/>
                </a:moveTo>
                <a:cubicBezTo>
                  <a:pt x="134552" y="99701"/>
                  <a:pt x="128187" y="93336"/>
                  <a:pt x="128187" y="85458"/>
                </a:cubicBezTo>
                <a:cubicBezTo>
                  <a:pt x="128187" y="77580"/>
                  <a:pt x="134552" y="71215"/>
                  <a:pt x="142430" y="71215"/>
                </a:cubicBezTo>
                <a:lnTo>
                  <a:pt x="213645" y="71215"/>
                </a:lnTo>
                <a:cubicBezTo>
                  <a:pt x="221523" y="71215"/>
                  <a:pt x="227888" y="77580"/>
                  <a:pt x="227888" y="85458"/>
                </a:cubicBezTo>
                <a:cubicBezTo>
                  <a:pt x="227888" y="93336"/>
                  <a:pt x="221523" y="99701"/>
                  <a:pt x="213645" y="99701"/>
                </a:cubicBezTo>
                <a:lnTo>
                  <a:pt x="142430" y="99701"/>
                </a:lnTo>
                <a:close/>
                <a:moveTo>
                  <a:pt x="142430" y="42729"/>
                </a:moveTo>
                <a:cubicBezTo>
                  <a:pt x="134552" y="42729"/>
                  <a:pt x="128187" y="36364"/>
                  <a:pt x="128187" y="28486"/>
                </a:cubicBezTo>
                <a:cubicBezTo>
                  <a:pt x="128187" y="20608"/>
                  <a:pt x="134552" y="14243"/>
                  <a:pt x="142430" y="14243"/>
                </a:cubicBezTo>
                <a:lnTo>
                  <a:pt x="242131" y="14243"/>
                </a:lnTo>
                <a:cubicBezTo>
                  <a:pt x="250009" y="14243"/>
                  <a:pt x="256374" y="20608"/>
                  <a:pt x="256374" y="28486"/>
                </a:cubicBezTo>
                <a:cubicBezTo>
                  <a:pt x="256374" y="36364"/>
                  <a:pt x="250009" y="42729"/>
                  <a:pt x="242131" y="42729"/>
                </a:cubicBezTo>
                <a:lnTo>
                  <a:pt x="142430" y="4272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64075" y="1528748"/>
            <a:ext cx="6209944" cy="30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Definición de Heap Sort</a:t>
            </a:r>
            <a:endParaRPr b="0" i="0" sz="160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579215" y="1946542"/>
            <a:ext cx="6456822" cy="740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Heap Sort</a:t>
            </a: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es un algoritmo de ordenamiento basado en comparación que utiliza una estructura de datos llamada </a:t>
            </a: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Binary Heap</a:t>
            </a: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(Montículo Binario) para ordenar elementos de manera eficiente.</a:t>
            </a:r>
            <a:endParaRPr b="0" i="0" sz="1600" u="none" cap="none" strike="noStrike"/>
          </a:p>
        </p:txBody>
      </p:sp>
      <p:sp>
        <p:nvSpPr>
          <p:cNvPr id="82" name="Google Shape;82;p3"/>
          <p:cNvSpPr/>
          <p:nvPr/>
        </p:nvSpPr>
        <p:spPr>
          <a:xfrm>
            <a:off x="583963" y="2805869"/>
            <a:ext cx="6371364" cy="693159"/>
          </a:xfrm>
          <a:custGeom>
            <a:rect b="b" l="l" r="r" t="t"/>
            <a:pathLst>
              <a:path extrusionOk="0" h="693159" w="6371364">
                <a:moveTo>
                  <a:pt x="75963" y="0"/>
                </a:moveTo>
                <a:lnTo>
                  <a:pt x="6295401" y="0"/>
                </a:lnTo>
                <a:cubicBezTo>
                  <a:pt x="6337355" y="0"/>
                  <a:pt x="6371364" y="34010"/>
                  <a:pt x="6371364" y="75963"/>
                </a:cubicBezTo>
                <a:lnTo>
                  <a:pt x="6371364" y="617196"/>
                </a:lnTo>
                <a:cubicBezTo>
                  <a:pt x="6371364" y="659149"/>
                  <a:pt x="6337355" y="693159"/>
                  <a:pt x="6295401" y="693159"/>
                </a:cubicBezTo>
                <a:lnTo>
                  <a:pt x="75963" y="693159"/>
                </a:lnTo>
                <a:cubicBezTo>
                  <a:pt x="34038" y="693159"/>
                  <a:pt x="0" y="659121"/>
                  <a:pt x="0" y="617196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21645" y="2972037"/>
            <a:ext cx="151925" cy="151925"/>
          </a:xfrm>
          <a:custGeom>
            <a:rect b="b" l="l" r="r" t="t"/>
            <a:pathLst>
              <a:path extrusionOk="0" h="151925" w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66467" y="47477"/>
                </a:moveTo>
                <a:cubicBezTo>
                  <a:pt x="66467" y="42236"/>
                  <a:pt x="70722" y="37981"/>
                  <a:pt x="75963" y="37981"/>
                </a:cubicBezTo>
                <a:cubicBezTo>
                  <a:pt x="81203" y="37981"/>
                  <a:pt x="85458" y="42236"/>
                  <a:pt x="85458" y="47477"/>
                </a:cubicBezTo>
                <a:cubicBezTo>
                  <a:pt x="85458" y="52717"/>
                  <a:pt x="81203" y="56972"/>
                  <a:pt x="75963" y="56972"/>
                </a:cubicBezTo>
                <a:cubicBezTo>
                  <a:pt x="70722" y="56972"/>
                  <a:pt x="66467" y="52717"/>
                  <a:pt x="66467" y="47477"/>
                </a:cubicBezTo>
                <a:close/>
                <a:moveTo>
                  <a:pt x="64093" y="66467"/>
                </a:moveTo>
                <a:lnTo>
                  <a:pt x="78336" y="66467"/>
                </a:lnTo>
                <a:cubicBezTo>
                  <a:pt x="82283" y="66467"/>
                  <a:pt x="85458" y="69642"/>
                  <a:pt x="85458" y="73589"/>
                </a:cubicBezTo>
                <a:lnTo>
                  <a:pt x="85458" y="99701"/>
                </a:lnTo>
                <a:lnTo>
                  <a:pt x="87832" y="99701"/>
                </a:lnTo>
                <a:cubicBezTo>
                  <a:pt x="91778" y="99701"/>
                  <a:pt x="94953" y="102876"/>
                  <a:pt x="94953" y="106822"/>
                </a:cubicBezTo>
                <a:cubicBezTo>
                  <a:pt x="94953" y="110769"/>
                  <a:pt x="91778" y="113944"/>
                  <a:pt x="87832" y="113944"/>
                </a:cubicBezTo>
                <a:lnTo>
                  <a:pt x="64093" y="113944"/>
                </a:lnTo>
                <a:cubicBezTo>
                  <a:pt x="60147" y="113944"/>
                  <a:pt x="56972" y="110769"/>
                  <a:pt x="56972" y="106822"/>
                </a:cubicBezTo>
                <a:cubicBezTo>
                  <a:pt x="56972" y="102876"/>
                  <a:pt x="60147" y="99701"/>
                  <a:pt x="64093" y="99701"/>
                </a:cubicBezTo>
                <a:lnTo>
                  <a:pt x="71215" y="99701"/>
                </a:lnTo>
                <a:lnTo>
                  <a:pt x="71215" y="80710"/>
                </a:lnTo>
                <a:lnTo>
                  <a:pt x="64093" y="80710"/>
                </a:lnTo>
                <a:cubicBezTo>
                  <a:pt x="60147" y="80710"/>
                  <a:pt x="56972" y="77535"/>
                  <a:pt x="56972" y="73589"/>
                </a:cubicBezTo>
                <a:cubicBezTo>
                  <a:pt x="56972" y="69642"/>
                  <a:pt x="60147" y="66467"/>
                  <a:pt x="64093" y="6646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49355" y="2924561"/>
            <a:ext cx="5963243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Es una mejora del Selection Sort: en lugar de buscar linealmente el máximo, lo encuentra en O(log n) usando el heap.</a:t>
            </a:r>
            <a:endParaRPr b="0" i="0" sz="160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384561" y="3859850"/>
            <a:ext cx="6770168" cy="2991028"/>
          </a:xfrm>
          <a:custGeom>
            <a:rect b="b" l="l" r="r" t="t"/>
            <a:pathLst>
              <a:path extrusionOk="0" h="2991028" w="6770168">
                <a:moveTo>
                  <a:pt x="113958" y="0"/>
                </a:moveTo>
                <a:lnTo>
                  <a:pt x="6656210" y="0"/>
                </a:lnTo>
                <a:cubicBezTo>
                  <a:pt x="6719147" y="0"/>
                  <a:pt x="6770168" y="51021"/>
                  <a:pt x="6770168" y="113958"/>
                </a:cubicBezTo>
                <a:lnTo>
                  <a:pt x="6770168" y="2877070"/>
                </a:lnTo>
                <a:cubicBezTo>
                  <a:pt x="6770168" y="2940007"/>
                  <a:pt x="6719147" y="2991028"/>
                  <a:pt x="6656210" y="2991028"/>
                </a:cubicBezTo>
                <a:lnTo>
                  <a:pt x="113958" y="2991028"/>
                </a:lnTo>
                <a:cubicBezTo>
                  <a:pt x="51021" y="2991028"/>
                  <a:pt x="0" y="2940007"/>
                  <a:pt x="0" y="2877070"/>
                </a:cubicBezTo>
                <a:lnTo>
                  <a:pt x="0" y="113958"/>
                </a:lnTo>
                <a:cubicBezTo>
                  <a:pt x="0" y="51021"/>
                  <a:pt x="51021" y="0"/>
                  <a:pt x="11395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21944" y="4092486"/>
            <a:ext cx="199402" cy="227888"/>
          </a:xfrm>
          <a:custGeom>
            <a:rect b="b" l="l" r="r" t="t"/>
            <a:pathLst>
              <a:path extrusionOk="0" h="227888" w="199402">
                <a:moveTo>
                  <a:pt x="99701" y="-14243"/>
                </a:moveTo>
                <a:cubicBezTo>
                  <a:pt x="102817" y="-14243"/>
                  <a:pt x="105799" y="-12863"/>
                  <a:pt x="107846" y="-10460"/>
                </a:cubicBezTo>
                <a:lnTo>
                  <a:pt x="168379" y="60755"/>
                </a:lnTo>
                <a:cubicBezTo>
                  <a:pt x="171094" y="63915"/>
                  <a:pt x="171673" y="68366"/>
                  <a:pt x="169937" y="72150"/>
                </a:cubicBezTo>
                <a:cubicBezTo>
                  <a:pt x="168201" y="75933"/>
                  <a:pt x="164418" y="78336"/>
                  <a:pt x="160234" y="78336"/>
                </a:cubicBezTo>
                <a:lnTo>
                  <a:pt x="149151" y="78336"/>
                </a:lnTo>
                <a:lnTo>
                  <a:pt x="182622" y="117727"/>
                </a:lnTo>
                <a:cubicBezTo>
                  <a:pt x="185337" y="120887"/>
                  <a:pt x="185916" y="125338"/>
                  <a:pt x="184180" y="129122"/>
                </a:cubicBezTo>
                <a:cubicBezTo>
                  <a:pt x="182444" y="132905"/>
                  <a:pt x="178661" y="135308"/>
                  <a:pt x="174477" y="135308"/>
                </a:cubicBezTo>
                <a:lnTo>
                  <a:pt x="157341" y="135308"/>
                </a:lnTo>
                <a:lnTo>
                  <a:pt x="196865" y="181821"/>
                </a:lnTo>
                <a:cubicBezTo>
                  <a:pt x="199580" y="184981"/>
                  <a:pt x="200159" y="189432"/>
                  <a:pt x="198423" y="193215"/>
                </a:cubicBezTo>
                <a:cubicBezTo>
                  <a:pt x="196687" y="196998"/>
                  <a:pt x="192904" y="199402"/>
                  <a:pt x="188720" y="199402"/>
                </a:cubicBezTo>
                <a:lnTo>
                  <a:pt x="113944" y="199402"/>
                </a:lnTo>
                <a:lnTo>
                  <a:pt x="113944" y="227888"/>
                </a:lnTo>
                <a:cubicBezTo>
                  <a:pt x="113944" y="235766"/>
                  <a:pt x="107579" y="242131"/>
                  <a:pt x="99701" y="242131"/>
                </a:cubicBezTo>
                <a:cubicBezTo>
                  <a:pt x="91823" y="242131"/>
                  <a:pt x="85458" y="235766"/>
                  <a:pt x="85458" y="227888"/>
                </a:cubicBezTo>
                <a:lnTo>
                  <a:pt x="85458" y="199402"/>
                </a:lnTo>
                <a:lnTo>
                  <a:pt x="10682" y="199402"/>
                </a:lnTo>
                <a:cubicBezTo>
                  <a:pt x="6498" y="199402"/>
                  <a:pt x="2715" y="196998"/>
                  <a:pt x="979" y="193215"/>
                </a:cubicBezTo>
                <a:cubicBezTo>
                  <a:pt x="-757" y="189432"/>
                  <a:pt x="-178" y="184981"/>
                  <a:pt x="2537" y="181821"/>
                </a:cubicBezTo>
                <a:lnTo>
                  <a:pt x="42061" y="135308"/>
                </a:lnTo>
                <a:lnTo>
                  <a:pt x="24925" y="135308"/>
                </a:lnTo>
                <a:cubicBezTo>
                  <a:pt x="20741" y="135308"/>
                  <a:pt x="16958" y="132905"/>
                  <a:pt x="15222" y="129122"/>
                </a:cubicBezTo>
                <a:cubicBezTo>
                  <a:pt x="13486" y="125338"/>
                  <a:pt x="14065" y="120887"/>
                  <a:pt x="16780" y="117727"/>
                </a:cubicBezTo>
                <a:lnTo>
                  <a:pt x="50251" y="78336"/>
                </a:lnTo>
                <a:lnTo>
                  <a:pt x="39168" y="78336"/>
                </a:lnTo>
                <a:cubicBezTo>
                  <a:pt x="34984" y="78336"/>
                  <a:pt x="31201" y="75933"/>
                  <a:pt x="29465" y="72150"/>
                </a:cubicBezTo>
                <a:cubicBezTo>
                  <a:pt x="27729" y="68366"/>
                  <a:pt x="28308" y="63915"/>
                  <a:pt x="31023" y="60755"/>
                </a:cubicBezTo>
                <a:lnTo>
                  <a:pt x="91556" y="-10460"/>
                </a:lnTo>
                <a:cubicBezTo>
                  <a:pt x="93603" y="-12863"/>
                  <a:pt x="96585" y="-14243"/>
                  <a:pt x="99701" y="-1424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64075" y="4054505"/>
            <a:ext cx="6209944" cy="30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¿Qué es un Heap?</a:t>
            </a:r>
            <a:endParaRPr b="0" i="0" sz="160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579215" y="4472299"/>
            <a:ext cx="6456822" cy="493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Heap</a:t>
            </a: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es un árbol binario completo donde cada nodo padre tiene una relación específica con sus hijos:</a:t>
            </a:r>
            <a:endParaRPr b="0" i="0" sz="16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583963" y="5084748"/>
            <a:ext cx="3123963" cy="1566729"/>
          </a:xfrm>
          <a:custGeom>
            <a:rect b="b" l="l" r="r" t="t"/>
            <a:pathLst>
              <a:path extrusionOk="0" h="1566729" w="3123963">
                <a:moveTo>
                  <a:pt x="75955" y="0"/>
                </a:moveTo>
                <a:lnTo>
                  <a:pt x="3048008" y="0"/>
                </a:lnTo>
                <a:cubicBezTo>
                  <a:pt x="3089956" y="0"/>
                  <a:pt x="3123963" y="34006"/>
                  <a:pt x="3123963" y="75955"/>
                </a:cubicBezTo>
                <a:lnTo>
                  <a:pt x="3123963" y="1490774"/>
                </a:lnTo>
                <a:cubicBezTo>
                  <a:pt x="3123963" y="1532723"/>
                  <a:pt x="3089956" y="1566729"/>
                  <a:pt x="3048008" y="1566729"/>
                </a:cubicBezTo>
                <a:lnTo>
                  <a:pt x="75955" y="1566729"/>
                </a:lnTo>
                <a:cubicBezTo>
                  <a:pt x="34006" y="1566729"/>
                  <a:pt x="0" y="1532723"/>
                  <a:pt x="0" y="1490774"/>
                </a:cubicBezTo>
                <a:lnTo>
                  <a:pt x="0" y="75955"/>
                </a:lnTo>
                <a:cubicBezTo>
                  <a:pt x="0" y="34034"/>
                  <a:pt x="34034" y="0"/>
                  <a:pt x="75955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02654" y="5203439"/>
            <a:ext cx="303850" cy="303850"/>
          </a:xfrm>
          <a:custGeom>
            <a:rect b="b" l="l" r="r" t="t"/>
            <a:pathLst>
              <a:path extrusionOk="0" h="303850" w="303850">
                <a:moveTo>
                  <a:pt x="151925" y="0"/>
                </a:moveTo>
                <a:lnTo>
                  <a:pt x="151925" y="0"/>
                </a:lnTo>
                <a:cubicBezTo>
                  <a:pt x="235775" y="0"/>
                  <a:pt x="303850" y="68075"/>
                  <a:pt x="303850" y="151925"/>
                </a:cubicBezTo>
                <a:lnTo>
                  <a:pt x="303850" y="151925"/>
                </a:lnTo>
                <a:cubicBezTo>
                  <a:pt x="303850" y="235775"/>
                  <a:pt x="235775" y="303850"/>
                  <a:pt x="151925" y="303850"/>
                </a:cubicBezTo>
                <a:lnTo>
                  <a:pt x="151925" y="303850"/>
                </a:lnTo>
                <a:cubicBezTo>
                  <a:pt x="68075" y="303850"/>
                  <a:pt x="0" y="235775"/>
                  <a:pt x="0" y="15192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97607" y="5279402"/>
            <a:ext cx="113944" cy="151925"/>
          </a:xfrm>
          <a:custGeom>
            <a:rect b="b" l="l" r="r" t="t"/>
            <a:pathLst>
              <a:path extrusionOk="0" h="151925" w="113944">
                <a:moveTo>
                  <a:pt x="63678" y="5163"/>
                </a:moveTo>
                <a:cubicBezTo>
                  <a:pt x="59969" y="1454"/>
                  <a:pt x="53945" y="1454"/>
                  <a:pt x="50236" y="5163"/>
                </a:cubicBezTo>
                <a:lnTo>
                  <a:pt x="2760" y="52640"/>
                </a:lnTo>
                <a:cubicBezTo>
                  <a:pt x="-950" y="56349"/>
                  <a:pt x="-950" y="62372"/>
                  <a:pt x="2760" y="66082"/>
                </a:cubicBezTo>
                <a:cubicBezTo>
                  <a:pt x="6469" y="69791"/>
                  <a:pt x="12492" y="69791"/>
                  <a:pt x="16201" y="66082"/>
                </a:cubicBezTo>
                <a:lnTo>
                  <a:pt x="47477" y="34806"/>
                </a:lnTo>
                <a:lnTo>
                  <a:pt x="47477" y="144804"/>
                </a:lnTo>
                <a:cubicBezTo>
                  <a:pt x="47477" y="150056"/>
                  <a:pt x="51720" y="154299"/>
                  <a:pt x="56972" y="154299"/>
                </a:cubicBezTo>
                <a:cubicBezTo>
                  <a:pt x="62224" y="154299"/>
                  <a:pt x="66467" y="150056"/>
                  <a:pt x="66467" y="144804"/>
                </a:cubicBezTo>
                <a:lnTo>
                  <a:pt x="66467" y="34806"/>
                </a:lnTo>
                <a:lnTo>
                  <a:pt x="97743" y="66082"/>
                </a:lnTo>
                <a:cubicBezTo>
                  <a:pt x="101452" y="69791"/>
                  <a:pt x="107475" y="69791"/>
                  <a:pt x="111184" y="66082"/>
                </a:cubicBezTo>
                <a:cubicBezTo>
                  <a:pt x="114893" y="62372"/>
                  <a:pt x="114893" y="56349"/>
                  <a:pt x="111184" y="52640"/>
                </a:cubicBezTo>
                <a:lnTo>
                  <a:pt x="63708" y="5163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082467" y="5222430"/>
            <a:ext cx="864075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Max Heap</a:t>
            </a:r>
            <a:endParaRPr b="0" i="0" sz="160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702654" y="5592748"/>
            <a:ext cx="1003389" cy="208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Padre ≥ Hijos</a:t>
            </a:r>
            <a:endParaRPr b="0" i="0" sz="1600" u="none" cap="none" strike="noStrike"/>
          </a:p>
        </p:txBody>
      </p:sp>
      <p:sp>
        <p:nvSpPr>
          <p:cNvPr id="94" name="Google Shape;94;p3"/>
          <p:cNvSpPr/>
          <p:nvPr/>
        </p:nvSpPr>
        <p:spPr>
          <a:xfrm>
            <a:off x="702654" y="5849121"/>
            <a:ext cx="2962542" cy="68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El elemento más grande está en la raíz. Usado para ordenar en forma ascendente.</a:t>
            </a:r>
            <a:endParaRPr b="0" i="0" sz="160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3831958" y="5084748"/>
            <a:ext cx="3123963" cy="1566729"/>
          </a:xfrm>
          <a:custGeom>
            <a:rect b="b" l="l" r="r" t="t"/>
            <a:pathLst>
              <a:path extrusionOk="0" h="1566729" w="3123963">
                <a:moveTo>
                  <a:pt x="75955" y="0"/>
                </a:moveTo>
                <a:lnTo>
                  <a:pt x="3048008" y="0"/>
                </a:lnTo>
                <a:cubicBezTo>
                  <a:pt x="3089956" y="0"/>
                  <a:pt x="3123963" y="34006"/>
                  <a:pt x="3123963" y="75955"/>
                </a:cubicBezTo>
                <a:lnTo>
                  <a:pt x="3123963" y="1490774"/>
                </a:lnTo>
                <a:cubicBezTo>
                  <a:pt x="3123963" y="1532723"/>
                  <a:pt x="3089956" y="1566729"/>
                  <a:pt x="3048008" y="1566729"/>
                </a:cubicBezTo>
                <a:lnTo>
                  <a:pt x="75955" y="1566729"/>
                </a:lnTo>
                <a:cubicBezTo>
                  <a:pt x="34006" y="1566729"/>
                  <a:pt x="0" y="1532723"/>
                  <a:pt x="0" y="1490774"/>
                </a:cubicBezTo>
                <a:lnTo>
                  <a:pt x="0" y="75955"/>
                </a:lnTo>
                <a:cubicBezTo>
                  <a:pt x="0" y="34034"/>
                  <a:pt x="34034" y="0"/>
                  <a:pt x="75955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950650" y="5203439"/>
            <a:ext cx="303850" cy="303850"/>
          </a:xfrm>
          <a:custGeom>
            <a:rect b="b" l="l" r="r" t="t"/>
            <a:pathLst>
              <a:path extrusionOk="0" h="303850" w="303850">
                <a:moveTo>
                  <a:pt x="151925" y="0"/>
                </a:moveTo>
                <a:lnTo>
                  <a:pt x="151925" y="0"/>
                </a:lnTo>
                <a:cubicBezTo>
                  <a:pt x="235775" y="0"/>
                  <a:pt x="303850" y="68075"/>
                  <a:pt x="303850" y="151925"/>
                </a:cubicBezTo>
                <a:lnTo>
                  <a:pt x="303850" y="151925"/>
                </a:lnTo>
                <a:cubicBezTo>
                  <a:pt x="303850" y="235775"/>
                  <a:pt x="235775" y="303850"/>
                  <a:pt x="151925" y="303850"/>
                </a:cubicBezTo>
                <a:lnTo>
                  <a:pt x="151925" y="303850"/>
                </a:lnTo>
                <a:cubicBezTo>
                  <a:pt x="68075" y="303850"/>
                  <a:pt x="0" y="235775"/>
                  <a:pt x="0" y="15192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045603" y="5279402"/>
            <a:ext cx="113944" cy="151925"/>
          </a:xfrm>
          <a:custGeom>
            <a:rect b="b" l="l" r="r" t="t"/>
            <a:pathLst>
              <a:path extrusionOk="0" h="151925" w="113944">
                <a:moveTo>
                  <a:pt x="50266" y="149136"/>
                </a:moveTo>
                <a:cubicBezTo>
                  <a:pt x="53975" y="152845"/>
                  <a:pt x="59999" y="152845"/>
                  <a:pt x="63708" y="149136"/>
                </a:cubicBezTo>
                <a:lnTo>
                  <a:pt x="111184" y="101659"/>
                </a:lnTo>
                <a:cubicBezTo>
                  <a:pt x="114893" y="97950"/>
                  <a:pt x="114893" y="91927"/>
                  <a:pt x="111184" y="88218"/>
                </a:cubicBezTo>
                <a:cubicBezTo>
                  <a:pt x="107475" y="84508"/>
                  <a:pt x="101452" y="84508"/>
                  <a:pt x="97743" y="88218"/>
                </a:cubicBezTo>
                <a:lnTo>
                  <a:pt x="66467" y="119493"/>
                </a:lnTo>
                <a:lnTo>
                  <a:pt x="66467" y="9495"/>
                </a:lnTo>
                <a:cubicBezTo>
                  <a:pt x="66467" y="4243"/>
                  <a:pt x="62224" y="0"/>
                  <a:pt x="56972" y="0"/>
                </a:cubicBezTo>
                <a:cubicBezTo>
                  <a:pt x="51720" y="0"/>
                  <a:pt x="47477" y="4243"/>
                  <a:pt x="47477" y="9495"/>
                </a:cubicBezTo>
                <a:lnTo>
                  <a:pt x="47477" y="119493"/>
                </a:lnTo>
                <a:lnTo>
                  <a:pt x="16201" y="88218"/>
                </a:lnTo>
                <a:cubicBezTo>
                  <a:pt x="12492" y="84508"/>
                  <a:pt x="6469" y="84508"/>
                  <a:pt x="2760" y="88218"/>
                </a:cubicBezTo>
                <a:cubicBezTo>
                  <a:pt x="-950" y="91927"/>
                  <a:pt x="-950" y="97950"/>
                  <a:pt x="2760" y="101659"/>
                </a:cubicBezTo>
                <a:lnTo>
                  <a:pt x="50236" y="149136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330463" y="5222430"/>
            <a:ext cx="835589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Min Heap</a:t>
            </a:r>
            <a:endParaRPr b="0" i="0" sz="1600" u="none" cap="none" strike="noStrike"/>
          </a:p>
        </p:txBody>
      </p:sp>
      <p:sp>
        <p:nvSpPr>
          <p:cNvPr id="99" name="Google Shape;99;p3"/>
          <p:cNvSpPr/>
          <p:nvPr/>
        </p:nvSpPr>
        <p:spPr>
          <a:xfrm>
            <a:off x="3950650" y="5592748"/>
            <a:ext cx="1003389" cy="208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Padre ≤ Hijos</a:t>
            </a:r>
            <a:endParaRPr b="0" i="0" sz="16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3950650" y="5849121"/>
            <a:ext cx="2962542" cy="68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El elemento más pequeño está en la raíz. Usado para ordenar en forma descendente.</a:t>
            </a:r>
            <a:endParaRPr b="0" i="0" sz="1600" u="none" cap="none" strike="noStrike"/>
          </a:p>
        </p:txBody>
      </p:sp>
      <p:sp>
        <p:nvSpPr>
          <p:cNvPr id="101" name="Google Shape;101;p3"/>
          <p:cNvSpPr/>
          <p:nvPr/>
        </p:nvSpPr>
        <p:spPr>
          <a:xfrm>
            <a:off x="7355318" y="1334093"/>
            <a:ext cx="4443813" cy="2858093"/>
          </a:xfrm>
          <a:custGeom>
            <a:rect b="b" l="l" r="r" t="t"/>
            <a:pathLst>
              <a:path extrusionOk="0" h="2858093" w="4443813">
                <a:moveTo>
                  <a:pt x="113952" y="0"/>
                </a:moveTo>
                <a:lnTo>
                  <a:pt x="4329861" y="0"/>
                </a:lnTo>
                <a:cubicBezTo>
                  <a:pt x="4392795" y="0"/>
                  <a:pt x="4443813" y="51018"/>
                  <a:pt x="4443813" y="113952"/>
                </a:cubicBezTo>
                <a:lnTo>
                  <a:pt x="4443813" y="2744141"/>
                </a:lnTo>
                <a:cubicBezTo>
                  <a:pt x="4443813" y="2807075"/>
                  <a:pt x="4392795" y="2858093"/>
                  <a:pt x="4329861" y="2858093"/>
                </a:cubicBezTo>
                <a:lnTo>
                  <a:pt x="113952" y="2858093"/>
                </a:lnTo>
                <a:cubicBezTo>
                  <a:pt x="51018" y="2858093"/>
                  <a:pt x="0" y="2807075"/>
                  <a:pt x="0" y="2744141"/>
                </a:cubicBezTo>
                <a:lnTo>
                  <a:pt x="0" y="113952"/>
                </a:lnTo>
                <a:cubicBezTo>
                  <a:pt x="0" y="51060"/>
                  <a:pt x="51060" y="0"/>
                  <a:pt x="11395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502495" y="1528748"/>
            <a:ext cx="4149458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Visualización: Max Heap</a:t>
            </a:r>
            <a:endParaRPr b="0" i="0" sz="160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9351265" y="1908561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9313284" y="1908561"/>
            <a:ext cx="531738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60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8895489" y="2440299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8857508" y="2440299"/>
            <a:ext cx="531738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60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9807041" y="2440299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769060" y="2440299"/>
            <a:ext cx="531738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60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8439714" y="2972037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401732" y="2972037"/>
            <a:ext cx="531738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60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9047415" y="2972037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9009433" y="2972037"/>
            <a:ext cx="531738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60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9655116" y="2972037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9617134" y="2972037"/>
            <a:ext cx="531738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600" u="none" cap="none" strike="noStrike"/>
          </a:p>
        </p:txBody>
      </p:sp>
      <p:sp>
        <p:nvSpPr>
          <p:cNvPr id="115" name="Google Shape;115;p3"/>
          <p:cNvSpPr/>
          <p:nvPr/>
        </p:nvSpPr>
        <p:spPr>
          <a:xfrm>
            <a:off x="10262817" y="2972037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0224835" y="2972037"/>
            <a:ext cx="531738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600" u="none" cap="none" strike="noStrike"/>
          </a:p>
        </p:txBody>
      </p:sp>
      <p:sp>
        <p:nvSpPr>
          <p:cNvPr id="117" name="Google Shape;117;p3"/>
          <p:cNvSpPr/>
          <p:nvPr/>
        </p:nvSpPr>
        <p:spPr>
          <a:xfrm>
            <a:off x="8194319" y="3541757"/>
            <a:ext cx="2772636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 Max Heap Válido</a:t>
            </a:r>
            <a:endParaRPr b="0" i="0" sz="1600" u="none" cap="none" strike="noStrike"/>
          </a:p>
        </p:txBody>
      </p:sp>
      <p:sp>
        <p:nvSpPr>
          <p:cNvPr id="118" name="Google Shape;118;p3"/>
          <p:cNvSpPr/>
          <p:nvPr/>
        </p:nvSpPr>
        <p:spPr>
          <a:xfrm>
            <a:off x="8194319" y="3769645"/>
            <a:ext cx="2772636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100 ≥ 40, 50 | 40 ≥ 10, 15 | 50 ≥ 50, 40</a:t>
            </a:r>
            <a:endParaRPr b="0" i="0" sz="1600" u="none" cap="none" strike="noStrike"/>
          </a:p>
        </p:txBody>
      </p:sp>
      <p:sp>
        <p:nvSpPr>
          <p:cNvPr id="119" name="Google Shape;119;p3"/>
          <p:cNvSpPr/>
          <p:nvPr/>
        </p:nvSpPr>
        <p:spPr>
          <a:xfrm>
            <a:off x="7355318" y="4353607"/>
            <a:ext cx="4443813" cy="2497271"/>
          </a:xfrm>
          <a:custGeom>
            <a:rect b="b" l="l" r="r" t="t"/>
            <a:pathLst>
              <a:path extrusionOk="0" h="2497271" w="4443813">
                <a:moveTo>
                  <a:pt x="113950" y="0"/>
                </a:moveTo>
                <a:lnTo>
                  <a:pt x="4329863" y="0"/>
                </a:lnTo>
                <a:cubicBezTo>
                  <a:pt x="4392796" y="0"/>
                  <a:pt x="4443813" y="51017"/>
                  <a:pt x="4443813" y="113950"/>
                </a:cubicBezTo>
                <a:lnTo>
                  <a:pt x="4443813" y="2383321"/>
                </a:lnTo>
                <a:cubicBezTo>
                  <a:pt x="4443813" y="2446254"/>
                  <a:pt x="4392796" y="2497271"/>
                  <a:pt x="4329863" y="2497271"/>
                </a:cubicBezTo>
                <a:lnTo>
                  <a:pt x="113950" y="2497271"/>
                </a:lnTo>
                <a:cubicBezTo>
                  <a:pt x="51017" y="2497271"/>
                  <a:pt x="0" y="2446254"/>
                  <a:pt x="0" y="2383321"/>
                </a:cubicBezTo>
                <a:lnTo>
                  <a:pt x="0" y="113950"/>
                </a:lnTo>
                <a:cubicBezTo>
                  <a:pt x="0" y="51059"/>
                  <a:pt x="51059" y="0"/>
                  <a:pt x="11395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573710" y="4586243"/>
            <a:ext cx="189907" cy="189907"/>
          </a:xfrm>
          <a:custGeom>
            <a:rect b="b" l="l" r="r" t="t"/>
            <a:pathLst>
              <a:path extrusionOk="0" h="189907" w="189907">
                <a:moveTo>
                  <a:pt x="53522" y="0"/>
                </a:moveTo>
                <a:lnTo>
                  <a:pt x="136607" y="0"/>
                </a:lnTo>
                <a:cubicBezTo>
                  <a:pt x="146436" y="0"/>
                  <a:pt x="154447" y="8086"/>
                  <a:pt x="154077" y="17878"/>
                </a:cubicBezTo>
                <a:cubicBezTo>
                  <a:pt x="154002" y="19844"/>
                  <a:pt x="153928" y="21810"/>
                  <a:pt x="153817" y="23738"/>
                </a:cubicBezTo>
                <a:lnTo>
                  <a:pt x="172214" y="23738"/>
                </a:lnTo>
                <a:cubicBezTo>
                  <a:pt x="181895" y="23738"/>
                  <a:pt x="190426" y="31750"/>
                  <a:pt x="189684" y="42210"/>
                </a:cubicBezTo>
                <a:cubicBezTo>
                  <a:pt x="186902" y="80673"/>
                  <a:pt x="167244" y="101815"/>
                  <a:pt x="145916" y="112868"/>
                </a:cubicBezTo>
                <a:cubicBezTo>
                  <a:pt x="140056" y="115910"/>
                  <a:pt x="134084" y="118172"/>
                  <a:pt x="128409" y="119841"/>
                </a:cubicBezTo>
                <a:cubicBezTo>
                  <a:pt x="120917" y="130449"/>
                  <a:pt x="113128" y="136050"/>
                  <a:pt x="106934" y="139055"/>
                </a:cubicBezTo>
                <a:lnTo>
                  <a:pt x="106934" y="166168"/>
                </a:lnTo>
                <a:lnTo>
                  <a:pt x="130672" y="166168"/>
                </a:lnTo>
                <a:cubicBezTo>
                  <a:pt x="137237" y="166168"/>
                  <a:pt x="142541" y="171472"/>
                  <a:pt x="142541" y="178037"/>
                </a:cubicBezTo>
                <a:cubicBezTo>
                  <a:pt x="142541" y="184603"/>
                  <a:pt x="137237" y="189907"/>
                  <a:pt x="130672" y="189907"/>
                </a:cubicBezTo>
                <a:lnTo>
                  <a:pt x="59457" y="189907"/>
                </a:lnTo>
                <a:cubicBezTo>
                  <a:pt x="52892" y="189907"/>
                  <a:pt x="47588" y="184603"/>
                  <a:pt x="47588" y="178037"/>
                </a:cubicBezTo>
                <a:cubicBezTo>
                  <a:pt x="47588" y="171472"/>
                  <a:pt x="52892" y="166168"/>
                  <a:pt x="59457" y="166168"/>
                </a:cubicBezTo>
                <a:lnTo>
                  <a:pt x="83195" y="166168"/>
                </a:lnTo>
                <a:lnTo>
                  <a:pt x="83195" y="139055"/>
                </a:lnTo>
                <a:cubicBezTo>
                  <a:pt x="77261" y="136199"/>
                  <a:pt x="69880" y="130895"/>
                  <a:pt x="62684" y="121140"/>
                </a:cubicBezTo>
                <a:cubicBezTo>
                  <a:pt x="55859" y="119359"/>
                  <a:pt x="48441" y="116652"/>
                  <a:pt x="41208" y="112572"/>
                </a:cubicBezTo>
                <a:cubicBezTo>
                  <a:pt x="21142" y="101333"/>
                  <a:pt x="3041" y="80154"/>
                  <a:pt x="445" y="42136"/>
                </a:cubicBezTo>
                <a:cubicBezTo>
                  <a:pt x="-260" y="31713"/>
                  <a:pt x="8234" y="23701"/>
                  <a:pt x="17915" y="23701"/>
                </a:cubicBezTo>
                <a:lnTo>
                  <a:pt x="36312" y="23701"/>
                </a:lnTo>
                <a:cubicBezTo>
                  <a:pt x="36201" y="21772"/>
                  <a:pt x="36127" y="19844"/>
                  <a:pt x="36053" y="17841"/>
                </a:cubicBezTo>
                <a:cubicBezTo>
                  <a:pt x="35682" y="8012"/>
                  <a:pt x="43693" y="-37"/>
                  <a:pt x="53522" y="-37"/>
                </a:cubicBezTo>
                <a:close/>
                <a:moveTo>
                  <a:pt x="37647" y="41542"/>
                </a:moveTo>
                <a:lnTo>
                  <a:pt x="18212" y="41542"/>
                </a:lnTo>
                <a:cubicBezTo>
                  <a:pt x="20511" y="72958"/>
                  <a:pt x="34940" y="88685"/>
                  <a:pt x="49813" y="97030"/>
                </a:cubicBezTo>
                <a:cubicBezTo>
                  <a:pt x="44472" y="83195"/>
                  <a:pt x="40058" y="65132"/>
                  <a:pt x="37647" y="41542"/>
                </a:cubicBezTo>
                <a:close/>
                <a:moveTo>
                  <a:pt x="140946" y="95250"/>
                </a:moveTo>
                <a:cubicBezTo>
                  <a:pt x="155968" y="86422"/>
                  <a:pt x="169544" y="70733"/>
                  <a:pt x="171843" y="41542"/>
                </a:cubicBezTo>
                <a:lnTo>
                  <a:pt x="152445" y="41542"/>
                </a:lnTo>
                <a:cubicBezTo>
                  <a:pt x="150145" y="64131"/>
                  <a:pt x="145991" y="81675"/>
                  <a:pt x="140946" y="9525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787355" y="4548262"/>
            <a:ext cx="3912075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Analogía: Torneo Deportivo</a:t>
            </a:r>
            <a:endParaRPr b="0" i="0" sz="1600" u="none" cap="none" strike="noStrike"/>
          </a:p>
        </p:txBody>
      </p:sp>
      <p:sp>
        <p:nvSpPr>
          <p:cNvPr id="122" name="Google Shape;122;p3"/>
          <p:cNvSpPr/>
          <p:nvPr/>
        </p:nvSpPr>
        <p:spPr>
          <a:xfrm>
            <a:off x="7549972" y="4928075"/>
            <a:ext cx="4130467" cy="98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Imagina un torneo de eliminación directa donde los mejores equipos avanzan. El </a:t>
            </a: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campeón</a:t>
            </a: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(máximo valor) siempre está en la cima (raíz). Para encontrar al siguiente mejor, eliminamos al campeón y reorganizamos el torneo.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349341" y="349341"/>
            <a:ext cx="69868" cy="419209"/>
          </a:xfrm>
          <a:custGeom>
            <a:rect b="b" l="l" r="r" t="t"/>
            <a:pathLst>
              <a:path extrusionOk="0" h="419209" w="69868">
                <a:moveTo>
                  <a:pt x="34934" y="0"/>
                </a:moveTo>
                <a:lnTo>
                  <a:pt x="34934" y="0"/>
                </a:lnTo>
                <a:cubicBezTo>
                  <a:pt x="54215" y="0"/>
                  <a:pt x="69868" y="15653"/>
                  <a:pt x="69868" y="34934"/>
                </a:cubicBezTo>
                <a:lnTo>
                  <a:pt x="69868" y="384275"/>
                </a:lnTo>
                <a:cubicBezTo>
                  <a:pt x="69868" y="403569"/>
                  <a:pt x="54228" y="419209"/>
                  <a:pt x="34934" y="419209"/>
                </a:cubicBezTo>
                <a:lnTo>
                  <a:pt x="34934" y="419209"/>
                </a:lnTo>
                <a:cubicBezTo>
                  <a:pt x="15641" y="419209"/>
                  <a:pt x="0" y="403569"/>
                  <a:pt x="0" y="384275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24011" y="349341"/>
            <a:ext cx="5729192" cy="41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Funcionamiento Paso a Paso</a:t>
            </a:r>
            <a:endParaRPr b="0" i="0" sz="1600" u="none" cap="none" strike="noStrike"/>
          </a:p>
        </p:txBody>
      </p:sp>
      <p:sp>
        <p:nvSpPr>
          <p:cNvPr id="130" name="Google Shape;130;p4"/>
          <p:cNvSpPr/>
          <p:nvPr/>
        </p:nvSpPr>
        <p:spPr>
          <a:xfrm>
            <a:off x="524011" y="838418"/>
            <a:ext cx="11405983" cy="244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5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Las dos fases del algoritmo</a:t>
            </a:r>
            <a:endParaRPr b="0" i="0" sz="16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353708" y="1227060"/>
            <a:ext cx="5650590" cy="5624390"/>
          </a:xfrm>
          <a:custGeom>
            <a:rect b="b" l="l" r="r" t="t"/>
            <a:pathLst>
              <a:path extrusionOk="0" h="5624390" w="5650590">
                <a:moveTo>
                  <a:pt x="104782" y="0"/>
                </a:moveTo>
                <a:lnTo>
                  <a:pt x="5545808" y="0"/>
                </a:lnTo>
                <a:cubicBezTo>
                  <a:pt x="5603678" y="0"/>
                  <a:pt x="5650590" y="46913"/>
                  <a:pt x="5650590" y="104782"/>
                </a:cubicBezTo>
                <a:lnTo>
                  <a:pt x="5650590" y="5519607"/>
                </a:lnTo>
                <a:cubicBezTo>
                  <a:pt x="5650590" y="5577477"/>
                  <a:pt x="5603678" y="5624390"/>
                  <a:pt x="5545808" y="5624390"/>
                </a:cubicBezTo>
                <a:lnTo>
                  <a:pt x="104782" y="5624390"/>
                </a:lnTo>
                <a:cubicBezTo>
                  <a:pt x="46913" y="5624390"/>
                  <a:pt x="0" y="5577477"/>
                  <a:pt x="0" y="5519607"/>
                </a:cubicBezTo>
                <a:lnTo>
                  <a:pt x="0" y="104782"/>
                </a:lnTo>
                <a:cubicBezTo>
                  <a:pt x="0" y="46951"/>
                  <a:pt x="46951" y="0"/>
                  <a:pt x="10478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32745" y="1406097"/>
            <a:ext cx="419209" cy="419209"/>
          </a:xfrm>
          <a:custGeom>
            <a:rect b="b" l="l" r="r" t="t"/>
            <a:pathLst>
              <a:path extrusionOk="0" h="419209" w="419209">
                <a:moveTo>
                  <a:pt x="209605" y="0"/>
                </a:moveTo>
                <a:lnTo>
                  <a:pt x="209605" y="0"/>
                </a:lnTo>
                <a:cubicBezTo>
                  <a:pt x="325289" y="0"/>
                  <a:pt x="419209" y="93921"/>
                  <a:pt x="419209" y="209605"/>
                </a:cubicBezTo>
                <a:lnTo>
                  <a:pt x="419209" y="209605"/>
                </a:lnTo>
                <a:cubicBezTo>
                  <a:pt x="419209" y="325289"/>
                  <a:pt x="325289" y="419209"/>
                  <a:pt x="209605" y="419209"/>
                </a:cubicBezTo>
                <a:lnTo>
                  <a:pt x="209605" y="419209"/>
                </a:lnTo>
                <a:cubicBezTo>
                  <a:pt x="93921" y="419209"/>
                  <a:pt x="0" y="325289"/>
                  <a:pt x="0" y="209605"/>
                </a:cubicBezTo>
                <a:lnTo>
                  <a:pt x="0" y="209605"/>
                </a:lnTo>
                <a:cubicBezTo>
                  <a:pt x="0" y="93921"/>
                  <a:pt x="93921" y="0"/>
                  <a:pt x="209605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80344" y="1406097"/>
            <a:ext cx="524011" cy="41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134" name="Google Shape;134;p4"/>
          <p:cNvSpPr/>
          <p:nvPr/>
        </p:nvSpPr>
        <p:spPr>
          <a:xfrm>
            <a:off x="1056756" y="1458499"/>
            <a:ext cx="3441009" cy="314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3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Construcción del Max Heap</a:t>
            </a:r>
            <a:endParaRPr b="0" i="0" sz="1600" u="none" cap="none" strike="noStrike"/>
          </a:p>
        </p:txBody>
      </p:sp>
      <p:sp>
        <p:nvSpPr>
          <p:cNvPr id="135" name="Google Shape;135;p4"/>
          <p:cNvSpPr/>
          <p:nvPr/>
        </p:nvSpPr>
        <p:spPr>
          <a:xfrm>
            <a:off x="550212" y="1965043"/>
            <a:ext cx="5275049" cy="1851507"/>
          </a:xfrm>
          <a:custGeom>
            <a:rect b="b" l="l" r="r" t="t"/>
            <a:pathLst>
              <a:path extrusionOk="0" h="1851507" w="5275049">
                <a:moveTo>
                  <a:pt x="34934" y="0"/>
                </a:moveTo>
                <a:lnTo>
                  <a:pt x="5205173" y="0"/>
                </a:lnTo>
                <a:cubicBezTo>
                  <a:pt x="5243764" y="0"/>
                  <a:pt x="5275049" y="31284"/>
                  <a:pt x="5275049" y="69876"/>
                </a:cubicBezTo>
                <a:lnTo>
                  <a:pt x="5275049" y="1781631"/>
                </a:lnTo>
                <a:cubicBezTo>
                  <a:pt x="5275049" y="1820223"/>
                  <a:pt x="5243764" y="1851507"/>
                  <a:pt x="5205173" y="1851507"/>
                </a:cubicBezTo>
                <a:lnTo>
                  <a:pt x="34934" y="1851507"/>
                </a:lnTo>
                <a:cubicBezTo>
                  <a:pt x="15641" y="1851507"/>
                  <a:pt x="0" y="1835867"/>
                  <a:pt x="0" y="1816573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50212" y="1965043"/>
            <a:ext cx="34934" cy="1851507"/>
          </a:xfrm>
          <a:custGeom>
            <a:rect b="b" l="l" r="r" t="t"/>
            <a:pathLst>
              <a:path extrusionOk="0" h="1851507" w="34934">
                <a:moveTo>
                  <a:pt x="34934" y="0"/>
                </a:moveTo>
                <a:lnTo>
                  <a:pt x="34934" y="0"/>
                </a:lnTo>
                <a:lnTo>
                  <a:pt x="34934" y="1851507"/>
                </a:lnTo>
                <a:lnTo>
                  <a:pt x="34934" y="1851507"/>
                </a:lnTo>
                <a:cubicBezTo>
                  <a:pt x="15641" y="1851507"/>
                  <a:pt x="0" y="1835867"/>
                  <a:pt x="0" y="1816573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07415" y="2104779"/>
            <a:ext cx="637547" cy="244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8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Paso 1.1</a:t>
            </a:r>
            <a:endParaRPr b="0" i="0" sz="1600" u="none" cap="none" strike="noStrike"/>
          </a:p>
        </p:txBody>
      </p:sp>
      <p:sp>
        <p:nvSpPr>
          <p:cNvPr id="138" name="Google Shape;138;p4"/>
          <p:cNvSpPr/>
          <p:nvPr/>
        </p:nvSpPr>
        <p:spPr>
          <a:xfrm>
            <a:off x="707415" y="2419186"/>
            <a:ext cx="5047977" cy="462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Interpretar el arreglo como un </a:t>
            </a:r>
            <a:r>
              <a:rPr b="1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árbol binario completo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 Para un elemento en índice </a:t>
            </a:r>
            <a:r>
              <a:rPr b="0" i="0" lang="en-US" sz="1100" u="none" cap="none" strike="noStrike">
                <a:solidFill>
                  <a:srgbClr val="6366F1"/>
                </a:solidFill>
                <a:highlight>
                  <a:srgbClr val="333333"/>
                </a:highlight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600" u="none" cap="none" strike="noStrike"/>
          </a:p>
        </p:txBody>
      </p:sp>
      <p:sp>
        <p:nvSpPr>
          <p:cNvPr id="139" name="Google Shape;139;p4"/>
          <p:cNvSpPr/>
          <p:nvPr/>
        </p:nvSpPr>
        <p:spPr>
          <a:xfrm>
            <a:off x="707415" y="2951931"/>
            <a:ext cx="5047977" cy="218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Hijo izquierdo: </a:t>
            </a:r>
            <a:r>
              <a:rPr b="0" i="0" lang="en-US" sz="1100" u="none" cap="none" strike="noStrike">
                <a:solidFill>
                  <a:srgbClr val="22C55E"/>
                </a:solidFill>
                <a:highlight>
                  <a:srgbClr val="333333"/>
                </a:highlight>
                <a:latin typeface="Arial"/>
                <a:ea typeface="Arial"/>
                <a:cs typeface="Arial"/>
                <a:sym typeface="Arial"/>
              </a:rPr>
              <a:t>2i + 1</a:t>
            </a:r>
            <a:endParaRPr b="0" i="0" sz="1600" u="none" cap="none" strike="noStrike"/>
          </a:p>
        </p:txBody>
      </p:sp>
      <p:sp>
        <p:nvSpPr>
          <p:cNvPr id="140" name="Google Shape;140;p4"/>
          <p:cNvSpPr/>
          <p:nvPr/>
        </p:nvSpPr>
        <p:spPr>
          <a:xfrm>
            <a:off x="707415" y="3205203"/>
            <a:ext cx="5047977" cy="218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Hijo derecho: </a:t>
            </a:r>
            <a:r>
              <a:rPr b="0" i="0" lang="en-US" sz="1100" u="none" cap="none" strike="noStrike">
                <a:solidFill>
                  <a:srgbClr val="22C55E"/>
                </a:solidFill>
                <a:highlight>
                  <a:srgbClr val="333333"/>
                </a:highlight>
                <a:latin typeface="Arial"/>
                <a:ea typeface="Arial"/>
                <a:cs typeface="Arial"/>
                <a:sym typeface="Arial"/>
              </a:rPr>
              <a:t>2i + 2</a:t>
            </a:r>
            <a:endParaRPr b="0" i="0" sz="1600" u="none" cap="none" strike="noStrike"/>
          </a:p>
        </p:txBody>
      </p:sp>
      <p:sp>
        <p:nvSpPr>
          <p:cNvPr id="141" name="Google Shape;141;p4"/>
          <p:cNvSpPr/>
          <p:nvPr/>
        </p:nvSpPr>
        <p:spPr>
          <a:xfrm>
            <a:off x="707415" y="3458476"/>
            <a:ext cx="5047977" cy="218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Padre: </a:t>
            </a:r>
            <a:r>
              <a:rPr b="0" i="0" lang="en-US" sz="1100" u="none" cap="none" strike="noStrike">
                <a:solidFill>
                  <a:srgbClr val="22C55E"/>
                </a:solidFill>
                <a:highlight>
                  <a:srgbClr val="333333"/>
                </a:highlight>
                <a:latin typeface="Arial"/>
                <a:ea typeface="Arial"/>
                <a:cs typeface="Arial"/>
                <a:sym typeface="Arial"/>
              </a:rPr>
              <a:t>⌊(i-1)/2⌋</a:t>
            </a:r>
            <a:endParaRPr b="0" i="0" sz="1600" u="none" cap="none" strike="noStrike"/>
          </a:p>
        </p:txBody>
      </p:sp>
      <p:sp>
        <p:nvSpPr>
          <p:cNvPr id="142" name="Google Shape;142;p4"/>
          <p:cNvSpPr/>
          <p:nvPr/>
        </p:nvSpPr>
        <p:spPr>
          <a:xfrm>
            <a:off x="550212" y="3921352"/>
            <a:ext cx="5275049" cy="1056756"/>
          </a:xfrm>
          <a:custGeom>
            <a:rect b="b" l="l" r="r" t="t"/>
            <a:pathLst>
              <a:path extrusionOk="0" h="1056756" w="5275049">
                <a:moveTo>
                  <a:pt x="34934" y="0"/>
                </a:moveTo>
                <a:lnTo>
                  <a:pt x="5205176" y="0"/>
                </a:lnTo>
                <a:cubicBezTo>
                  <a:pt x="5243766" y="0"/>
                  <a:pt x="5275049" y="31283"/>
                  <a:pt x="5275049" y="69873"/>
                </a:cubicBezTo>
                <a:lnTo>
                  <a:pt x="5275049" y="986884"/>
                </a:lnTo>
                <a:cubicBezTo>
                  <a:pt x="5275049" y="1025473"/>
                  <a:pt x="5243766" y="1056756"/>
                  <a:pt x="5205176" y="1056756"/>
                </a:cubicBezTo>
                <a:lnTo>
                  <a:pt x="34934" y="1056756"/>
                </a:lnTo>
                <a:cubicBezTo>
                  <a:pt x="15641" y="1056756"/>
                  <a:pt x="0" y="1041116"/>
                  <a:pt x="0" y="1021822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50212" y="3921352"/>
            <a:ext cx="34934" cy="1056756"/>
          </a:xfrm>
          <a:custGeom>
            <a:rect b="b" l="l" r="r" t="t"/>
            <a:pathLst>
              <a:path extrusionOk="0" h="1056756" w="34934">
                <a:moveTo>
                  <a:pt x="34934" y="0"/>
                </a:moveTo>
                <a:lnTo>
                  <a:pt x="34934" y="0"/>
                </a:lnTo>
                <a:lnTo>
                  <a:pt x="34934" y="1056756"/>
                </a:lnTo>
                <a:lnTo>
                  <a:pt x="34934" y="1056756"/>
                </a:lnTo>
                <a:cubicBezTo>
                  <a:pt x="15641" y="1056756"/>
                  <a:pt x="0" y="1041116"/>
                  <a:pt x="0" y="1021822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07415" y="4061089"/>
            <a:ext cx="663748" cy="244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8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Paso 1.2</a:t>
            </a:r>
            <a:endParaRPr b="0" i="0" sz="1600" u="none" cap="none" strike="noStrike"/>
          </a:p>
        </p:txBody>
      </p:sp>
      <p:sp>
        <p:nvSpPr>
          <p:cNvPr id="145" name="Google Shape;145;p4"/>
          <p:cNvSpPr/>
          <p:nvPr/>
        </p:nvSpPr>
        <p:spPr>
          <a:xfrm>
            <a:off x="707415" y="4375496"/>
            <a:ext cx="5047977" cy="462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Aplicar </a:t>
            </a:r>
            <a:r>
              <a:rPr b="1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heapify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desde el último nodo no-hoja (índice </a:t>
            </a:r>
            <a:r>
              <a:rPr b="0" i="0" lang="en-US" sz="1100" u="none" cap="none" strike="noStrike">
                <a:solidFill>
                  <a:srgbClr val="22C55E"/>
                </a:solidFill>
                <a:highlight>
                  <a:srgbClr val="333333"/>
                </a:highlight>
                <a:latin typeface="Arial"/>
                <a:ea typeface="Arial"/>
                <a:cs typeface="Arial"/>
                <a:sym typeface="Arial"/>
              </a:rPr>
              <a:t>n/2 - 1 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) hacia atrás hasta la raíz.</a:t>
            </a:r>
            <a:endParaRPr b="0" i="0" sz="1600" u="none" cap="none" strike="noStrike"/>
          </a:p>
        </p:txBody>
      </p:sp>
      <p:sp>
        <p:nvSpPr>
          <p:cNvPr id="146" name="Google Shape;146;p4"/>
          <p:cNvSpPr/>
          <p:nvPr/>
        </p:nvSpPr>
        <p:spPr>
          <a:xfrm>
            <a:off x="550212" y="5082911"/>
            <a:ext cx="5275049" cy="1048023"/>
          </a:xfrm>
          <a:custGeom>
            <a:rect b="b" l="l" r="r" t="t"/>
            <a:pathLst>
              <a:path extrusionOk="0" h="1048023" w="5275049">
                <a:moveTo>
                  <a:pt x="34934" y="0"/>
                </a:moveTo>
                <a:lnTo>
                  <a:pt x="5205177" y="0"/>
                </a:lnTo>
                <a:cubicBezTo>
                  <a:pt x="5243766" y="0"/>
                  <a:pt x="5275049" y="31283"/>
                  <a:pt x="5275049" y="69872"/>
                </a:cubicBezTo>
                <a:lnTo>
                  <a:pt x="5275049" y="978151"/>
                </a:lnTo>
                <a:cubicBezTo>
                  <a:pt x="5275049" y="1016740"/>
                  <a:pt x="5243766" y="1048023"/>
                  <a:pt x="5205177" y="1048023"/>
                </a:cubicBez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550212" y="5082911"/>
            <a:ext cx="34934" cy="1048023"/>
          </a:xfrm>
          <a:custGeom>
            <a:rect b="b" l="l" r="r" t="t"/>
            <a:pathLst>
              <a:path extrusionOk="0" h="1048023" w="34934">
                <a:moveTo>
                  <a:pt x="34934" y="0"/>
                </a:moveTo>
                <a:lnTo>
                  <a:pt x="34934" y="0"/>
                </a:lnTo>
                <a:lnTo>
                  <a:pt x="34934" y="1048023"/>
                </a:ln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707415" y="5222648"/>
            <a:ext cx="663748" cy="244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8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Paso 1.3</a:t>
            </a:r>
            <a:endParaRPr b="0" i="0" sz="1600" u="none" cap="none" strike="noStrike"/>
          </a:p>
        </p:txBody>
      </p:sp>
      <p:sp>
        <p:nvSpPr>
          <p:cNvPr id="149" name="Google Shape;149;p4"/>
          <p:cNvSpPr/>
          <p:nvPr/>
        </p:nvSpPr>
        <p:spPr>
          <a:xfrm>
            <a:off x="707415" y="5537054"/>
            <a:ext cx="5047977" cy="454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Comparar cada nodo con sus hijos. Si algún hijo es mayor, </a:t>
            </a:r>
            <a:r>
              <a:rPr b="1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intercambiar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con el mayor y continuar heapificando hacia abajo.</a:t>
            </a:r>
            <a:endParaRPr b="0" i="0" sz="1600" u="none" cap="none" strike="noStrike"/>
          </a:p>
        </p:txBody>
      </p:sp>
      <p:sp>
        <p:nvSpPr>
          <p:cNvPr id="150" name="Google Shape;150;p4"/>
          <p:cNvSpPr/>
          <p:nvPr/>
        </p:nvSpPr>
        <p:spPr>
          <a:xfrm>
            <a:off x="537112" y="6240103"/>
            <a:ext cx="5283782" cy="427943"/>
          </a:xfrm>
          <a:custGeom>
            <a:rect b="b" l="l" r="r" t="t"/>
            <a:pathLst>
              <a:path extrusionOk="0" h="427943" w="5283782">
                <a:moveTo>
                  <a:pt x="69870" y="0"/>
                </a:moveTo>
                <a:lnTo>
                  <a:pt x="5213912" y="0"/>
                </a:lnTo>
                <a:cubicBezTo>
                  <a:pt x="5252500" y="0"/>
                  <a:pt x="5283782" y="31282"/>
                  <a:pt x="5283782" y="69870"/>
                </a:cubicBezTo>
                <a:lnTo>
                  <a:pt x="5283782" y="358072"/>
                </a:lnTo>
                <a:cubicBezTo>
                  <a:pt x="5283782" y="396661"/>
                  <a:pt x="5252500" y="427943"/>
                  <a:pt x="5213912" y="427943"/>
                </a:cubicBezTo>
                <a:lnTo>
                  <a:pt x="69870" y="427943"/>
                </a:lnTo>
                <a:cubicBezTo>
                  <a:pt x="31282" y="427943"/>
                  <a:pt x="0" y="396661"/>
                  <a:pt x="0" y="358072"/>
                </a:cubicBezTo>
                <a:lnTo>
                  <a:pt x="0" y="69870"/>
                </a:lnTo>
                <a:cubicBezTo>
                  <a:pt x="0" y="31282"/>
                  <a:pt x="31282" y="0"/>
                  <a:pt x="69870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1204953" y="6392940"/>
            <a:ext cx="139736" cy="139736"/>
          </a:xfrm>
          <a:custGeom>
            <a:rect b="b" l="l" r="r" t="t"/>
            <a:pathLst>
              <a:path extrusionOk="0" h="139736" w="139736">
                <a:moveTo>
                  <a:pt x="69868" y="139736"/>
                </a:moveTo>
                <a:cubicBezTo>
                  <a:pt x="108430" y="139736"/>
                  <a:pt x="139736" y="108430"/>
                  <a:pt x="139736" y="69868"/>
                </a:cubicBezTo>
                <a:cubicBezTo>
                  <a:pt x="139736" y="31307"/>
                  <a:pt x="108430" y="0"/>
                  <a:pt x="69868" y="0"/>
                </a:cubicBezTo>
                <a:cubicBezTo>
                  <a:pt x="31307" y="0"/>
                  <a:pt x="0" y="31307"/>
                  <a:pt x="0" y="69868"/>
                </a:cubicBezTo>
                <a:cubicBezTo>
                  <a:pt x="0" y="108430"/>
                  <a:pt x="31307" y="139736"/>
                  <a:pt x="69868" y="139736"/>
                </a:cubicBezTo>
                <a:close/>
                <a:moveTo>
                  <a:pt x="92903" y="58051"/>
                </a:moveTo>
                <a:lnTo>
                  <a:pt x="71069" y="92985"/>
                </a:lnTo>
                <a:cubicBezTo>
                  <a:pt x="69923" y="94813"/>
                  <a:pt x="67958" y="95960"/>
                  <a:pt x="65802" y="96069"/>
                </a:cubicBezTo>
                <a:cubicBezTo>
                  <a:pt x="63646" y="96178"/>
                  <a:pt x="61571" y="95195"/>
                  <a:pt x="60289" y="93449"/>
                </a:cubicBezTo>
                <a:lnTo>
                  <a:pt x="47188" y="75982"/>
                </a:lnTo>
                <a:cubicBezTo>
                  <a:pt x="45005" y="73089"/>
                  <a:pt x="45605" y="68995"/>
                  <a:pt x="48498" y="66811"/>
                </a:cubicBezTo>
                <a:cubicBezTo>
                  <a:pt x="51391" y="64628"/>
                  <a:pt x="55485" y="65229"/>
                  <a:pt x="57669" y="68121"/>
                </a:cubicBezTo>
                <a:lnTo>
                  <a:pt x="65037" y="77947"/>
                </a:lnTo>
                <a:lnTo>
                  <a:pt x="81795" y="51118"/>
                </a:lnTo>
                <a:cubicBezTo>
                  <a:pt x="83705" y="48062"/>
                  <a:pt x="87745" y="47106"/>
                  <a:pt x="90829" y="49044"/>
                </a:cubicBezTo>
                <a:cubicBezTo>
                  <a:pt x="93913" y="50982"/>
                  <a:pt x="94841" y="54994"/>
                  <a:pt x="92903" y="58078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834064" y="6349272"/>
            <a:ext cx="4912595" cy="209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Resultado: El elemento máximo queda en la raíz (índice 0)</a:t>
            </a:r>
            <a:endParaRPr b="0" i="0" sz="1600" u="none" cap="none" strike="noStrike"/>
          </a:p>
        </p:txBody>
      </p:sp>
      <p:sp>
        <p:nvSpPr>
          <p:cNvPr id="153" name="Google Shape;153;p4"/>
          <p:cNvSpPr/>
          <p:nvPr/>
        </p:nvSpPr>
        <p:spPr>
          <a:xfrm>
            <a:off x="6185655" y="1227060"/>
            <a:ext cx="5650590" cy="5624390"/>
          </a:xfrm>
          <a:custGeom>
            <a:rect b="b" l="l" r="r" t="t"/>
            <a:pathLst>
              <a:path extrusionOk="0" h="5624390" w="5650590">
                <a:moveTo>
                  <a:pt x="104782" y="0"/>
                </a:moveTo>
                <a:lnTo>
                  <a:pt x="5545808" y="0"/>
                </a:lnTo>
                <a:cubicBezTo>
                  <a:pt x="5603678" y="0"/>
                  <a:pt x="5650590" y="46913"/>
                  <a:pt x="5650590" y="104782"/>
                </a:cubicBezTo>
                <a:lnTo>
                  <a:pt x="5650590" y="5519607"/>
                </a:lnTo>
                <a:cubicBezTo>
                  <a:pt x="5650590" y="5577477"/>
                  <a:pt x="5603678" y="5624390"/>
                  <a:pt x="5545808" y="5624390"/>
                </a:cubicBezTo>
                <a:lnTo>
                  <a:pt x="104782" y="5624390"/>
                </a:lnTo>
                <a:cubicBezTo>
                  <a:pt x="46913" y="5624390"/>
                  <a:pt x="0" y="5577477"/>
                  <a:pt x="0" y="5519607"/>
                </a:cubicBezTo>
                <a:lnTo>
                  <a:pt x="0" y="104782"/>
                </a:lnTo>
                <a:cubicBezTo>
                  <a:pt x="0" y="46951"/>
                  <a:pt x="46951" y="0"/>
                  <a:pt x="10478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364692" y="1406097"/>
            <a:ext cx="419209" cy="419209"/>
          </a:xfrm>
          <a:custGeom>
            <a:rect b="b" l="l" r="r" t="t"/>
            <a:pathLst>
              <a:path extrusionOk="0" h="419209" w="419209">
                <a:moveTo>
                  <a:pt x="209605" y="0"/>
                </a:moveTo>
                <a:lnTo>
                  <a:pt x="209605" y="0"/>
                </a:lnTo>
                <a:cubicBezTo>
                  <a:pt x="325289" y="0"/>
                  <a:pt x="419209" y="93921"/>
                  <a:pt x="419209" y="209605"/>
                </a:cubicBezTo>
                <a:lnTo>
                  <a:pt x="419209" y="209605"/>
                </a:lnTo>
                <a:cubicBezTo>
                  <a:pt x="419209" y="325289"/>
                  <a:pt x="325289" y="419209"/>
                  <a:pt x="209605" y="419209"/>
                </a:cubicBezTo>
                <a:lnTo>
                  <a:pt x="209605" y="419209"/>
                </a:lnTo>
                <a:cubicBezTo>
                  <a:pt x="93921" y="419209"/>
                  <a:pt x="0" y="325289"/>
                  <a:pt x="0" y="209605"/>
                </a:cubicBezTo>
                <a:lnTo>
                  <a:pt x="0" y="209605"/>
                </a:lnTo>
                <a:cubicBezTo>
                  <a:pt x="0" y="93921"/>
                  <a:pt x="93921" y="0"/>
                  <a:pt x="20960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6312291" y="1406097"/>
            <a:ext cx="524011" cy="41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156" name="Google Shape;156;p4"/>
          <p:cNvSpPr/>
          <p:nvPr/>
        </p:nvSpPr>
        <p:spPr>
          <a:xfrm>
            <a:off x="6888704" y="1458499"/>
            <a:ext cx="1860241" cy="314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3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Ordenamiento</a:t>
            </a:r>
            <a:endParaRPr b="0" i="0" sz="1600" u="none" cap="none" strike="noStrike"/>
          </a:p>
        </p:txBody>
      </p:sp>
      <p:sp>
        <p:nvSpPr>
          <p:cNvPr id="157" name="Google Shape;157;p4"/>
          <p:cNvSpPr/>
          <p:nvPr/>
        </p:nvSpPr>
        <p:spPr>
          <a:xfrm>
            <a:off x="6382159" y="1965043"/>
            <a:ext cx="5275049" cy="1048023"/>
          </a:xfrm>
          <a:custGeom>
            <a:rect b="b" l="l" r="r" t="t"/>
            <a:pathLst>
              <a:path extrusionOk="0" h="1048023" w="5275049">
                <a:moveTo>
                  <a:pt x="34934" y="0"/>
                </a:moveTo>
                <a:lnTo>
                  <a:pt x="5205177" y="0"/>
                </a:lnTo>
                <a:cubicBezTo>
                  <a:pt x="5243766" y="0"/>
                  <a:pt x="5275049" y="31283"/>
                  <a:pt x="5275049" y="69872"/>
                </a:cubicBezTo>
                <a:lnTo>
                  <a:pt x="5275049" y="978151"/>
                </a:lnTo>
                <a:cubicBezTo>
                  <a:pt x="5275049" y="1016740"/>
                  <a:pt x="5243766" y="1048023"/>
                  <a:pt x="5205177" y="1048023"/>
                </a:cubicBez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382159" y="1965043"/>
            <a:ext cx="34934" cy="1048023"/>
          </a:xfrm>
          <a:custGeom>
            <a:rect b="b" l="l" r="r" t="t"/>
            <a:pathLst>
              <a:path extrusionOk="0" h="1048023" w="34934">
                <a:moveTo>
                  <a:pt x="34934" y="0"/>
                </a:moveTo>
                <a:lnTo>
                  <a:pt x="34934" y="0"/>
                </a:lnTo>
                <a:lnTo>
                  <a:pt x="34934" y="1048023"/>
                </a:ln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539363" y="2104779"/>
            <a:ext cx="663748" cy="244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8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Paso 2.1</a:t>
            </a:r>
            <a:endParaRPr b="0" i="0" sz="1600" u="none" cap="none" strike="noStrike"/>
          </a:p>
        </p:txBody>
      </p:sp>
      <p:sp>
        <p:nvSpPr>
          <p:cNvPr id="160" name="Google Shape;160;p4"/>
          <p:cNvSpPr/>
          <p:nvPr/>
        </p:nvSpPr>
        <p:spPr>
          <a:xfrm>
            <a:off x="6539363" y="2419186"/>
            <a:ext cx="5047977" cy="454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Extraer el máximo: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Intercambiar la raíz (máximo) con el último elemento del heap y reducir el tamaño del heap en 1.</a:t>
            </a:r>
            <a:endParaRPr b="0" i="0" sz="1600" u="none" cap="none" strike="noStrike"/>
          </a:p>
        </p:txBody>
      </p:sp>
      <p:sp>
        <p:nvSpPr>
          <p:cNvPr id="161" name="Google Shape;161;p4"/>
          <p:cNvSpPr/>
          <p:nvPr/>
        </p:nvSpPr>
        <p:spPr>
          <a:xfrm>
            <a:off x="6382159" y="3117868"/>
            <a:ext cx="5275049" cy="1048023"/>
          </a:xfrm>
          <a:custGeom>
            <a:rect b="b" l="l" r="r" t="t"/>
            <a:pathLst>
              <a:path extrusionOk="0" h="1048023" w="5275049">
                <a:moveTo>
                  <a:pt x="34934" y="0"/>
                </a:moveTo>
                <a:lnTo>
                  <a:pt x="5205177" y="0"/>
                </a:lnTo>
                <a:cubicBezTo>
                  <a:pt x="5243766" y="0"/>
                  <a:pt x="5275049" y="31283"/>
                  <a:pt x="5275049" y="69872"/>
                </a:cubicBezTo>
                <a:lnTo>
                  <a:pt x="5275049" y="978151"/>
                </a:lnTo>
                <a:cubicBezTo>
                  <a:pt x="5275049" y="1016740"/>
                  <a:pt x="5243766" y="1048023"/>
                  <a:pt x="5205177" y="1048023"/>
                </a:cubicBez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382159" y="3117868"/>
            <a:ext cx="34934" cy="1048023"/>
          </a:xfrm>
          <a:custGeom>
            <a:rect b="b" l="l" r="r" t="t"/>
            <a:pathLst>
              <a:path extrusionOk="0" h="1048023" w="34934">
                <a:moveTo>
                  <a:pt x="34934" y="0"/>
                </a:moveTo>
                <a:lnTo>
                  <a:pt x="34934" y="0"/>
                </a:lnTo>
                <a:lnTo>
                  <a:pt x="34934" y="1048023"/>
                </a:ln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6539363" y="3257605"/>
            <a:ext cx="689948" cy="244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8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Paso 2.2</a:t>
            </a:r>
            <a:endParaRPr b="0" i="0" sz="1600" u="none" cap="none" strike="noStrike"/>
          </a:p>
        </p:txBody>
      </p:sp>
      <p:sp>
        <p:nvSpPr>
          <p:cNvPr id="164" name="Google Shape;164;p4"/>
          <p:cNvSpPr/>
          <p:nvPr/>
        </p:nvSpPr>
        <p:spPr>
          <a:xfrm>
            <a:off x="6539363" y="3572011"/>
            <a:ext cx="5047977" cy="454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Restaurar el heap: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Aplicar heapify en la raíz para mantener la propiedad del Max Heap en el heap reducido.</a:t>
            </a:r>
            <a:endParaRPr b="0" i="0" sz="1600" u="none" cap="none" strike="noStrike"/>
          </a:p>
        </p:txBody>
      </p:sp>
      <p:sp>
        <p:nvSpPr>
          <p:cNvPr id="165" name="Google Shape;165;p4"/>
          <p:cNvSpPr/>
          <p:nvPr/>
        </p:nvSpPr>
        <p:spPr>
          <a:xfrm>
            <a:off x="6382159" y="4270693"/>
            <a:ext cx="5275049" cy="1048023"/>
          </a:xfrm>
          <a:custGeom>
            <a:rect b="b" l="l" r="r" t="t"/>
            <a:pathLst>
              <a:path extrusionOk="0" h="1048023" w="5275049">
                <a:moveTo>
                  <a:pt x="34934" y="0"/>
                </a:moveTo>
                <a:lnTo>
                  <a:pt x="5205177" y="0"/>
                </a:lnTo>
                <a:cubicBezTo>
                  <a:pt x="5243766" y="0"/>
                  <a:pt x="5275049" y="31283"/>
                  <a:pt x="5275049" y="69872"/>
                </a:cubicBezTo>
                <a:lnTo>
                  <a:pt x="5275049" y="978151"/>
                </a:lnTo>
                <a:cubicBezTo>
                  <a:pt x="5275049" y="1016740"/>
                  <a:pt x="5243766" y="1048023"/>
                  <a:pt x="5205177" y="1048023"/>
                </a:cubicBez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382159" y="4270693"/>
            <a:ext cx="34934" cy="1048023"/>
          </a:xfrm>
          <a:custGeom>
            <a:rect b="b" l="l" r="r" t="t"/>
            <a:pathLst>
              <a:path extrusionOk="0" h="1048023" w="34934">
                <a:moveTo>
                  <a:pt x="34934" y="0"/>
                </a:moveTo>
                <a:lnTo>
                  <a:pt x="34934" y="0"/>
                </a:lnTo>
                <a:lnTo>
                  <a:pt x="34934" y="1048023"/>
                </a:lnTo>
                <a:lnTo>
                  <a:pt x="34934" y="1048023"/>
                </a:lnTo>
                <a:cubicBezTo>
                  <a:pt x="15641" y="1048023"/>
                  <a:pt x="0" y="1032382"/>
                  <a:pt x="0" y="10130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6539363" y="4410430"/>
            <a:ext cx="689948" cy="244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8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Paso 2.3</a:t>
            </a:r>
            <a:endParaRPr b="0" i="0" sz="1600" u="none" cap="none" strike="noStrike"/>
          </a:p>
        </p:txBody>
      </p:sp>
      <p:sp>
        <p:nvSpPr>
          <p:cNvPr id="168" name="Google Shape;168;p4"/>
          <p:cNvSpPr/>
          <p:nvPr/>
        </p:nvSpPr>
        <p:spPr>
          <a:xfrm>
            <a:off x="6539363" y="4724837"/>
            <a:ext cx="5047977" cy="454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Repetir:</a:t>
            </a:r>
            <a:r>
              <a:rPr b="0" i="0" lang="en-US" sz="11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Continuar extrayendo el máximo y restaurando el heap hasta que el heap tenga tamaño 1.</a:t>
            </a:r>
            <a:endParaRPr b="0" i="0" sz="1600" u="none" cap="none" strike="noStrike"/>
          </a:p>
        </p:txBody>
      </p:sp>
      <p:sp>
        <p:nvSpPr>
          <p:cNvPr id="169" name="Google Shape;169;p4"/>
          <p:cNvSpPr/>
          <p:nvPr/>
        </p:nvSpPr>
        <p:spPr>
          <a:xfrm>
            <a:off x="6369059" y="5427885"/>
            <a:ext cx="5283782" cy="427943"/>
          </a:xfrm>
          <a:custGeom>
            <a:rect b="b" l="l" r="r" t="t"/>
            <a:pathLst>
              <a:path extrusionOk="0" h="427943" w="5283782">
                <a:moveTo>
                  <a:pt x="69870" y="0"/>
                </a:moveTo>
                <a:lnTo>
                  <a:pt x="5213912" y="0"/>
                </a:lnTo>
                <a:cubicBezTo>
                  <a:pt x="5252500" y="0"/>
                  <a:pt x="5283782" y="31282"/>
                  <a:pt x="5283782" y="69870"/>
                </a:cubicBezTo>
                <a:lnTo>
                  <a:pt x="5283782" y="358072"/>
                </a:lnTo>
                <a:cubicBezTo>
                  <a:pt x="5283782" y="396661"/>
                  <a:pt x="5252500" y="427943"/>
                  <a:pt x="5213912" y="427943"/>
                </a:cubicBezTo>
                <a:lnTo>
                  <a:pt x="69870" y="427943"/>
                </a:lnTo>
                <a:cubicBezTo>
                  <a:pt x="31282" y="427943"/>
                  <a:pt x="0" y="396661"/>
                  <a:pt x="0" y="358072"/>
                </a:cubicBezTo>
                <a:lnTo>
                  <a:pt x="0" y="69870"/>
                </a:lnTo>
                <a:cubicBezTo>
                  <a:pt x="0" y="31282"/>
                  <a:pt x="31282" y="0"/>
                  <a:pt x="698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7361815" y="5580722"/>
            <a:ext cx="139736" cy="139736"/>
          </a:xfrm>
          <a:custGeom>
            <a:rect b="b" l="l" r="r" t="t"/>
            <a:pathLst>
              <a:path extrusionOk="0" h="139736" w="139736">
                <a:moveTo>
                  <a:pt x="69868" y="139736"/>
                </a:moveTo>
                <a:cubicBezTo>
                  <a:pt x="108430" y="139736"/>
                  <a:pt x="139736" y="108430"/>
                  <a:pt x="139736" y="69868"/>
                </a:cubicBezTo>
                <a:cubicBezTo>
                  <a:pt x="139736" y="31307"/>
                  <a:pt x="108430" y="0"/>
                  <a:pt x="69868" y="0"/>
                </a:cubicBezTo>
                <a:cubicBezTo>
                  <a:pt x="31307" y="0"/>
                  <a:pt x="0" y="31307"/>
                  <a:pt x="0" y="69868"/>
                </a:cubicBezTo>
                <a:cubicBezTo>
                  <a:pt x="0" y="108430"/>
                  <a:pt x="31307" y="139736"/>
                  <a:pt x="69868" y="139736"/>
                </a:cubicBezTo>
                <a:close/>
                <a:moveTo>
                  <a:pt x="92903" y="58051"/>
                </a:moveTo>
                <a:lnTo>
                  <a:pt x="71069" y="92985"/>
                </a:lnTo>
                <a:cubicBezTo>
                  <a:pt x="69923" y="94813"/>
                  <a:pt x="67958" y="95960"/>
                  <a:pt x="65802" y="96069"/>
                </a:cubicBezTo>
                <a:cubicBezTo>
                  <a:pt x="63646" y="96178"/>
                  <a:pt x="61571" y="95195"/>
                  <a:pt x="60289" y="93449"/>
                </a:cubicBezTo>
                <a:lnTo>
                  <a:pt x="47188" y="75982"/>
                </a:lnTo>
                <a:cubicBezTo>
                  <a:pt x="45005" y="73089"/>
                  <a:pt x="45605" y="68995"/>
                  <a:pt x="48498" y="66811"/>
                </a:cubicBezTo>
                <a:cubicBezTo>
                  <a:pt x="51391" y="64628"/>
                  <a:pt x="55485" y="65229"/>
                  <a:pt x="57669" y="68121"/>
                </a:cubicBezTo>
                <a:lnTo>
                  <a:pt x="65037" y="77947"/>
                </a:lnTo>
                <a:lnTo>
                  <a:pt x="81795" y="51118"/>
                </a:lnTo>
                <a:cubicBezTo>
                  <a:pt x="83705" y="48062"/>
                  <a:pt x="87745" y="47106"/>
                  <a:pt x="90829" y="49044"/>
                </a:cubicBezTo>
                <a:cubicBezTo>
                  <a:pt x="93913" y="50982"/>
                  <a:pt x="94841" y="54994"/>
                  <a:pt x="92903" y="5807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666011" y="5537054"/>
            <a:ext cx="4912595" cy="209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Resultado: Arreglo ordenado de menor a mayor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317500" y="317500"/>
            <a:ext cx="63500" cy="381000"/>
          </a:xfrm>
          <a:custGeom>
            <a:rect b="b" l="l" r="r" t="t"/>
            <a:pathLst>
              <a:path extrusionOk="0" h="381000" w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476250" y="3175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Pseudocódigo</a:t>
            </a:r>
            <a:endParaRPr b="0" i="0" sz="1600" u="none" cap="none" strike="noStrike"/>
          </a:p>
        </p:txBody>
      </p:sp>
      <p:sp>
        <p:nvSpPr>
          <p:cNvPr id="179" name="Google Shape;179;p5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Implementación algorítmica clara y estructurada</a:t>
            </a:r>
            <a:endParaRPr b="0" i="0" sz="1600" u="none" cap="none" strike="noStrike"/>
          </a:p>
        </p:txBody>
      </p:sp>
      <p:sp>
        <p:nvSpPr>
          <p:cNvPr id="180" name="Google Shape;180;p5"/>
          <p:cNvSpPr/>
          <p:nvPr/>
        </p:nvSpPr>
        <p:spPr>
          <a:xfrm>
            <a:off x="321469" y="1115219"/>
            <a:ext cx="5691188" cy="5437188"/>
          </a:xfrm>
          <a:custGeom>
            <a:rect b="b" l="l" r="r" t="t"/>
            <a:pathLst>
              <a:path extrusionOk="0" h="5437188" w="5691188">
                <a:moveTo>
                  <a:pt x="95260" y="0"/>
                </a:moveTo>
                <a:lnTo>
                  <a:pt x="5595928" y="0"/>
                </a:lnTo>
                <a:cubicBezTo>
                  <a:pt x="5648538" y="0"/>
                  <a:pt x="5691188" y="42649"/>
                  <a:pt x="5691188" y="95260"/>
                </a:cubicBezTo>
                <a:lnTo>
                  <a:pt x="5691188" y="5341928"/>
                </a:lnTo>
                <a:cubicBezTo>
                  <a:pt x="5691188" y="5394538"/>
                  <a:pt x="5648538" y="5437188"/>
                  <a:pt x="5595928" y="5437188"/>
                </a:cubicBezTo>
                <a:lnTo>
                  <a:pt x="95260" y="5437188"/>
                </a:lnTo>
                <a:cubicBezTo>
                  <a:pt x="42649" y="5437188"/>
                  <a:pt x="0" y="5394538"/>
                  <a:pt x="0" y="5341928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96094" y="1309688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22313" y="1277938"/>
            <a:ext cx="52228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Función heapify</a:t>
            </a:r>
            <a:endParaRPr b="0" i="0" sz="1600" u="none" cap="none" strike="noStrike"/>
          </a:p>
        </p:txBody>
      </p:sp>
      <p:sp>
        <p:nvSpPr>
          <p:cNvPr id="183" name="Google Shape;183;p5"/>
          <p:cNvSpPr/>
          <p:nvPr/>
        </p:nvSpPr>
        <p:spPr>
          <a:xfrm>
            <a:off x="488156" y="1631156"/>
            <a:ext cx="5357813" cy="4262438"/>
          </a:xfrm>
          <a:custGeom>
            <a:rect b="b" l="l" r="r" t="t"/>
            <a:pathLst>
              <a:path extrusionOk="0" h="4262438" w="5357813">
                <a:moveTo>
                  <a:pt x="63510" y="0"/>
                </a:moveTo>
                <a:lnTo>
                  <a:pt x="5294302" y="0"/>
                </a:lnTo>
                <a:cubicBezTo>
                  <a:pt x="5329378" y="0"/>
                  <a:pt x="5357813" y="28435"/>
                  <a:pt x="5357813" y="63510"/>
                </a:cubicBezTo>
                <a:lnTo>
                  <a:pt x="5357813" y="4198927"/>
                </a:lnTo>
                <a:cubicBezTo>
                  <a:pt x="5357813" y="4234003"/>
                  <a:pt x="5329378" y="4262438"/>
                  <a:pt x="5294302" y="4262438"/>
                </a:cubicBezTo>
                <a:lnTo>
                  <a:pt x="63510" y="4262438"/>
                </a:lnTo>
                <a:cubicBezTo>
                  <a:pt x="28435" y="4262438"/>
                  <a:pt x="0" y="4234003"/>
                  <a:pt x="0" y="4198927"/>
                </a:cubicBezTo>
                <a:lnTo>
                  <a:pt x="0" y="63510"/>
                </a:lnTo>
                <a:cubicBezTo>
                  <a:pt x="0" y="28458"/>
                  <a:pt x="28458" y="0"/>
                  <a:pt x="63510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19125" y="1762125"/>
            <a:ext cx="5159375" cy="4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función heapify(arr, n, i):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Inicializar largest como raíz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largest = i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Calcular índices de hijos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izquierda = 2*i + 1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derecha = 2*i + 2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Si hijo izquierdo es mayor que raíz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si izquierda &lt; n Y arr[izquierda] &gt; arr[largest]: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largest = izquierda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Si hijo derecho es mayor que largest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si derecha &lt; n Y arr[derecha] &gt; arr[largest]: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largest = derecha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Si largest no es la raíz original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si largest ≠ i: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intercambiar(arr[i], arr[largest])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// Recursivamente heapificar el subárbol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heapify(arr, n, largest)</a:t>
            </a:r>
            <a:endParaRPr b="0" i="0" sz="1600" u="none" cap="none" strike="noStrike"/>
          </a:p>
        </p:txBody>
      </p:sp>
      <p:sp>
        <p:nvSpPr>
          <p:cNvPr id="185" name="Google Shape;185;p5"/>
          <p:cNvSpPr/>
          <p:nvPr/>
        </p:nvSpPr>
        <p:spPr>
          <a:xfrm>
            <a:off x="488156" y="5996781"/>
            <a:ext cx="5357813" cy="388938"/>
          </a:xfrm>
          <a:custGeom>
            <a:rect b="b" l="l" r="r" t="t"/>
            <a:pathLst>
              <a:path extrusionOk="0" h="388938" w="5357813">
                <a:moveTo>
                  <a:pt x="63502" y="0"/>
                </a:moveTo>
                <a:lnTo>
                  <a:pt x="5294311" y="0"/>
                </a:lnTo>
                <a:cubicBezTo>
                  <a:pt x="5329382" y="0"/>
                  <a:pt x="5357813" y="28431"/>
                  <a:pt x="5357813" y="63502"/>
                </a:cubicBezTo>
                <a:lnTo>
                  <a:pt x="5357813" y="325436"/>
                </a:lnTo>
                <a:cubicBezTo>
                  <a:pt x="5357813" y="360507"/>
                  <a:pt x="5329382" y="388938"/>
                  <a:pt x="5294311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87375" y="6096000"/>
            <a:ext cx="522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Complejidad:</a:t>
            </a:r>
            <a:r>
              <a:rPr b="0" i="0" lang="en-US" sz="1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 O(log n) - Recorre la altura del árbol</a:t>
            </a:r>
            <a:endParaRPr b="0" i="0" sz="1600" u="none" cap="none" strike="noStrike"/>
          </a:p>
        </p:txBody>
      </p:sp>
      <p:sp>
        <p:nvSpPr>
          <p:cNvPr id="187" name="Google Shape;187;p5"/>
          <p:cNvSpPr/>
          <p:nvPr/>
        </p:nvSpPr>
        <p:spPr>
          <a:xfrm>
            <a:off x="6179344" y="1115219"/>
            <a:ext cx="5691188" cy="5437188"/>
          </a:xfrm>
          <a:custGeom>
            <a:rect b="b" l="l" r="r" t="t"/>
            <a:pathLst>
              <a:path extrusionOk="0" h="5437188" w="5691188">
                <a:moveTo>
                  <a:pt x="95260" y="0"/>
                </a:moveTo>
                <a:lnTo>
                  <a:pt x="5595928" y="0"/>
                </a:lnTo>
                <a:cubicBezTo>
                  <a:pt x="5648538" y="0"/>
                  <a:pt x="5691188" y="42649"/>
                  <a:pt x="5691188" y="95260"/>
                </a:cubicBezTo>
                <a:lnTo>
                  <a:pt x="5691188" y="5341928"/>
                </a:lnTo>
                <a:cubicBezTo>
                  <a:pt x="5691188" y="5394538"/>
                  <a:pt x="5648538" y="5437188"/>
                  <a:pt x="5595928" y="5437188"/>
                </a:cubicBezTo>
                <a:lnTo>
                  <a:pt x="95260" y="5437188"/>
                </a:lnTo>
                <a:cubicBezTo>
                  <a:pt x="42649" y="5437188"/>
                  <a:pt x="0" y="5394538"/>
                  <a:pt x="0" y="5341928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353969" y="1309688"/>
            <a:ext cx="214313" cy="190500"/>
          </a:xfrm>
          <a:custGeom>
            <a:rect b="b" l="l" r="r" t="t"/>
            <a:pathLst>
              <a:path extrusionOk="0" h="190500" w="214313">
                <a:moveTo>
                  <a:pt x="91753" y="139378"/>
                </a:moveTo>
                <a:lnTo>
                  <a:pt x="56034" y="175096"/>
                </a:lnTo>
                <a:cubicBezTo>
                  <a:pt x="51383" y="179747"/>
                  <a:pt x="43830" y="179747"/>
                  <a:pt x="39179" y="175096"/>
                </a:cubicBezTo>
                <a:lnTo>
                  <a:pt x="3460" y="139378"/>
                </a:lnTo>
                <a:cubicBezTo>
                  <a:pt x="-1191" y="134727"/>
                  <a:pt x="-1191" y="127174"/>
                  <a:pt x="3460" y="122523"/>
                </a:cubicBezTo>
                <a:cubicBezTo>
                  <a:pt x="8111" y="117872"/>
                  <a:pt x="15664" y="117872"/>
                  <a:pt x="20315" y="122523"/>
                </a:cubicBezTo>
                <a:lnTo>
                  <a:pt x="35719" y="137926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ubicBezTo>
                  <a:pt x="54211" y="11906"/>
                  <a:pt x="59531" y="17227"/>
                  <a:pt x="59531" y="23812"/>
                </a:cubicBezTo>
                <a:lnTo>
                  <a:pt x="59531" y="137926"/>
                </a:lnTo>
                <a:lnTo>
                  <a:pt x="74935" y="122523"/>
                </a:lnTo>
                <a:cubicBezTo>
                  <a:pt x="79586" y="117872"/>
                  <a:pt x="87139" y="117872"/>
                  <a:pt x="91790" y="122523"/>
                </a:cubicBezTo>
                <a:cubicBezTo>
                  <a:pt x="96441" y="127174"/>
                  <a:pt x="96441" y="134727"/>
                  <a:pt x="91790" y="139378"/>
                </a:cubicBezTo>
                <a:close/>
                <a:moveTo>
                  <a:pt x="119063" y="178594"/>
                </a:move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0969" y="154781"/>
                </a:lnTo>
                <a:cubicBezTo>
                  <a:pt x="137554" y="154781"/>
                  <a:pt x="142875" y="160102"/>
                  <a:pt x="142875" y="166688"/>
                </a:cubicBezTo>
                <a:cubicBezTo>
                  <a:pt x="142875" y="173273"/>
                  <a:pt x="137554" y="178594"/>
                  <a:pt x="130969" y="178594"/>
                </a:cubicBezTo>
                <a:lnTo>
                  <a:pt x="119063" y="178594"/>
                </a:lnTo>
                <a:close/>
                <a:moveTo>
                  <a:pt x="119063" y="130969"/>
                </a:moveTo>
                <a:cubicBezTo>
                  <a:pt x="112477" y="130969"/>
                  <a:pt x="107156" y="125648"/>
                  <a:pt x="107156" y="119063"/>
                </a:cubicBezTo>
                <a:cubicBezTo>
                  <a:pt x="107156" y="112477"/>
                  <a:pt x="112477" y="107156"/>
                  <a:pt x="119063" y="107156"/>
                </a:cubicBez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119063" y="130969"/>
                </a:lnTo>
                <a:close/>
                <a:moveTo>
                  <a:pt x="119063" y="83344"/>
                </a:moveTo>
                <a:cubicBezTo>
                  <a:pt x="112477" y="83344"/>
                  <a:pt x="107156" y="78023"/>
                  <a:pt x="107156" y="71438"/>
                </a:cubicBezTo>
                <a:cubicBezTo>
                  <a:pt x="107156" y="64852"/>
                  <a:pt x="112477" y="59531"/>
                  <a:pt x="119063" y="59531"/>
                </a:cubicBezTo>
                <a:lnTo>
                  <a:pt x="178594" y="59531"/>
                </a:lnTo>
                <a:cubicBezTo>
                  <a:pt x="185179" y="59531"/>
                  <a:pt x="190500" y="64852"/>
                  <a:pt x="190500" y="71438"/>
                </a:cubicBezTo>
                <a:cubicBezTo>
                  <a:pt x="190500" y="78023"/>
                  <a:pt x="185179" y="83344"/>
                  <a:pt x="178594" y="83344"/>
                </a:cubicBezTo>
                <a:lnTo>
                  <a:pt x="119063" y="83344"/>
                </a:lnTo>
                <a:close/>
                <a:moveTo>
                  <a:pt x="119063" y="35719"/>
                </a:move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19063" y="3571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6580188" y="1277938"/>
            <a:ext cx="52228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Función heapSort</a:t>
            </a:r>
            <a:endParaRPr b="0" i="0" sz="1600" u="none" cap="none" strike="noStrike"/>
          </a:p>
        </p:txBody>
      </p:sp>
      <p:sp>
        <p:nvSpPr>
          <p:cNvPr id="190" name="Google Shape;190;p5"/>
          <p:cNvSpPr/>
          <p:nvPr/>
        </p:nvSpPr>
        <p:spPr>
          <a:xfrm>
            <a:off x="6346031" y="1631156"/>
            <a:ext cx="5357813" cy="3500438"/>
          </a:xfrm>
          <a:custGeom>
            <a:rect b="b" l="l" r="r" t="t"/>
            <a:pathLst>
              <a:path extrusionOk="0" h="3500438" w="5357813">
                <a:moveTo>
                  <a:pt x="63498" y="0"/>
                </a:moveTo>
                <a:lnTo>
                  <a:pt x="5294315" y="0"/>
                </a:lnTo>
                <a:cubicBezTo>
                  <a:pt x="5329384" y="0"/>
                  <a:pt x="5357813" y="28429"/>
                  <a:pt x="5357813" y="63498"/>
                </a:cubicBezTo>
                <a:lnTo>
                  <a:pt x="5357813" y="3436940"/>
                </a:lnTo>
                <a:cubicBezTo>
                  <a:pt x="5357813" y="3472009"/>
                  <a:pt x="5329384" y="3500438"/>
                  <a:pt x="5294315" y="3500438"/>
                </a:cubicBezTo>
                <a:lnTo>
                  <a:pt x="63498" y="3500438"/>
                </a:lnTo>
                <a:cubicBezTo>
                  <a:pt x="28429" y="3500438"/>
                  <a:pt x="0" y="3472009"/>
                  <a:pt x="0" y="3436940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477000" y="1762125"/>
            <a:ext cx="5159375" cy="3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función heapSort(arr):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n = longitud(arr)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FASE 1: Construir Max Heap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Empezar desde último nodo no-hoja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para i desde n/2 - 1 hasta 0 (decremento):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heapify(arr, n, i)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// FASE 2: Extraer elementos uno por uno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para i desde n-1 hasta 1 (decremento):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// Mover raíz actual al final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intercambiar(arr[0], arr[i])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// Llamar heapify en el heap reducido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heapify(arr, i, 0)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retornar arr</a:t>
            </a:r>
            <a:endParaRPr b="0" i="0" sz="1600" u="none" cap="none" strike="noStrike"/>
          </a:p>
        </p:txBody>
      </p:sp>
      <p:sp>
        <p:nvSpPr>
          <p:cNvPr id="192" name="Google Shape;192;p5"/>
          <p:cNvSpPr/>
          <p:nvPr/>
        </p:nvSpPr>
        <p:spPr>
          <a:xfrm>
            <a:off x="6346031" y="5234781"/>
            <a:ext cx="2627313" cy="611188"/>
          </a:xfrm>
          <a:custGeom>
            <a:rect b="b" l="l" r="r" t="t"/>
            <a:pathLst>
              <a:path extrusionOk="0" h="611188" w="2627313">
                <a:moveTo>
                  <a:pt x="63502" y="0"/>
                </a:moveTo>
                <a:lnTo>
                  <a:pt x="2563810" y="0"/>
                </a:lnTo>
                <a:cubicBezTo>
                  <a:pt x="2598882" y="0"/>
                  <a:pt x="2627313" y="28431"/>
                  <a:pt x="2627313" y="63502"/>
                </a:cubicBezTo>
                <a:lnTo>
                  <a:pt x="2627313" y="547685"/>
                </a:lnTo>
                <a:cubicBezTo>
                  <a:pt x="2627313" y="582757"/>
                  <a:pt x="2598882" y="611188"/>
                  <a:pt x="2563810" y="611188"/>
                </a:cubicBezTo>
                <a:lnTo>
                  <a:pt x="63502" y="611188"/>
                </a:lnTo>
                <a:cubicBezTo>
                  <a:pt x="28431" y="611188"/>
                  <a:pt x="0" y="582757"/>
                  <a:pt x="0" y="5476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445250" y="5334000"/>
            <a:ext cx="2492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Fase 1: O(n)</a:t>
            </a:r>
            <a:endParaRPr b="0" i="0" sz="1600" u="none" cap="none" strike="noStrike"/>
          </a:p>
        </p:txBody>
      </p:sp>
      <p:sp>
        <p:nvSpPr>
          <p:cNvPr id="194" name="Google Shape;194;p5"/>
          <p:cNvSpPr/>
          <p:nvPr/>
        </p:nvSpPr>
        <p:spPr>
          <a:xfrm>
            <a:off x="6445250" y="5556250"/>
            <a:ext cx="2492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Construcción del heap</a:t>
            </a:r>
            <a:endParaRPr b="0" i="0" sz="1600" u="none" cap="none" strike="noStrike"/>
          </a:p>
        </p:txBody>
      </p:sp>
      <p:sp>
        <p:nvSpPr>
          <p:cNvPr id="195" name="Google Shape;195;p5"/>
          <p:cNvSpPr/>
          <p:nvPr/>
        </p:nvSpPr>
        <p:spPr>
          <a:xfrm>
            <a:off x="9076531" y="5234781"/>
            <a:ext cx="2627313" cy="611188"/>
          </a:xfrm>
          <a:custGeom>
            <a:rect b="b" l="l" r="r" t="t"/>
            <a:pathLst>
              <a:path extrusionOk="0" h="611188" w="2627313">
                <a:moveTo>
                  <a:pt x="63502" y="0"/>
                </a:moveTo>
                <a:lnTo>
                  <a:pt x="2563810" y="0"/>
                </a:lnTo>
                <a:cubicBezTo>
                  <a:pt x="2598882" y="0"/>
                  <a:pt x="2627313" y="28431"/>
                  <a:pt x="2627313" y="63502"/>
                </a:cubicBezTo>
                <a:lnTo>
                  <a:pt x="2627313" y="547685"/>
                </a:lnTo>
                <a:cubicBezTo>
                  <a:pt x="2627313" y="582757"/>
                  <a:pt x="2598882" y="611188"/>
                  <a:pt x="2563810" y="611188"/>
                </a:cubicBezTo>
                <a:lnTo>
                  <a:pt x="63502" y="611188"/>
                </a:lnTo>
                <a:cubicBezTo>
                  <a:pt x="28431" y="611188"/>
                  <a:pt x="0" y="582757"/>
                  <a:pt x="0" y="5476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9175750" y="5334000"/>
            <a:ext cx="2492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Fase 2: O(n log n)</a:t>
            </a:r>
            <a:endParaRPr b="0" i="0" sz="1600" u="none" cap="none" strike="noStrike"/>
          </a:p>
        </p:txBody>
      </p:sp>
      <p:sp>
        <p:nvSpPr>
          <p:cNvPr id="197" name="Google Shape;197;p5"/>
          <p:cNvSpPr/>
          <p:nvPr/>
        </p:nvSpPr>
        <p:spPr>
          <a:xfrm>
            <a:off x="9175750" y="5556250"/>
            <a:ext cx="2492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Extracción y ordenamiento</a:t>
            </a:r>
            <a:endParaRPr b="0" i="0" sz="1600" u="none" cap="none" strike="noStrike"/>
          </a:p>
        </p:txBody>
      </p:sp>
      <p:sp>
        <p:nvSpPr>
          <p:cNvPr id="198" name="Google Shape;198;p5"/>
          <p:cNvSpPr/>
          <p:nvPr/>
        </p:nvSpPr>
        <p:spPr>
          <a:xfrm>
            <a:off x="321475" y="6385724"/>
            <a:ext cx="11549063" cy="431800"/>
          </a:xfrm>
          <a:custGeom>
            <a:rect b="b" l="l" r="r" t="t"/>
            <a:pathLst>
              <a:path extrusionOk="0" h="674688" w="11549063">
                <a:moveTo>
                  <a:pt x="63502" y="0"/>
                </a:moveTo>
                <a:lnTo>
                  <a:pt x="11485561" y="0"/>
                </a:lnTo>
                <a:cubicBezTo>
                  <a:pt x="11520632" y="0"/>
                  <a:pt x="11549063" y="28431"/>
                  <a:pt x="11549063" y="63502"/>
                </a:cubicBezTo>
                <a:lnTo>
                  <a:pt x="11549063" y="611186"/>
                </a:lnTo>
                <a:cubicBezTo>
                  <a:pt x="11549062" y="646257"/>
                  <a:pt x="11520632" y="674688"/>
                  <a:pt x="1148556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500063" y="6929438"/>
            <a:ext cx="142875" cy="190500"/>
          </a:xfrm>
          <a:custGeom>
            <a:rect b="b" l="l" r="r" t="t"/>
            <a:pathLst>
              <a:path extrusionOk="0" h="190500" w="142875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785813" y="6818313"/>
            <a:ext cx="26828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Complejidad Total: O(n log n)</a:t>
            </a:r>
            <a:endParaRPr b="0" i="0" sz="1600" u="none" cap="none" strike="noStrike"/>
          </a:p>
        </p:txBody>
      </p:sp>
      <p:sp>
        <p:nvSpPr>
          <p:cNvPr id="201" name="Google Shape;201;p5"/>
          <p:cNvSpPr/>
          <p:nvPr/>
        </p:nvSpPr>
        <p:spPr>
          <a:xfrm>
            <a:off x="785813" y="7040563"/>
            <a:ext cx="267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O(n) construcción + O(n log n) ordenamiento</a:t>
            </a:r>
            <a:endParaRPr b="0" i="0" sz="1600" u="none" cap="none" strike="noStrike"/>
          </a:p>
        </p:txBody>
      </p:sp>
      <p:sp>
        <p:nvSpPr>
          <p:cNvPr id="202" name="Google Shape;202;p5"/>
          <p:cNvSpPr/>
          <p:nvPr/>
        </p:nvSpPr>
        <p:spPr>
          <a:xfrm>
            <a:off x="10345911" y="6929438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Espacio: </a:t>
            </a: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r>
              <a:rPr b="0" i="0" lang="en-US" sz="1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 (in-place)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>
            <a:off x="317500" y="317500"/>
            <a:ext cx="63500" cy="381000"/>
          </a:xfrm>
          <a:custGeom>
            <a:rect b="b" l="l" r="r" t="t"/>
            <a:pathLst>
              <a:path extrusionOk="0" h="381000" w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76250" y="317500"/>
            <a:ext cx="4857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Implementación en Python</a:t>
            </a:r>
            <a:endParaRPr b="0" i="0" sz="1600" u="none" cap="none" strike="noStrike"/>
          </a:p>
        </p:txBody>
      </p:sp>
      <p:sp>
        <p:nvSpPr>
          <p:cNvPr id="210" name="Google Shape;210;p6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Código completo y ejecutable</a:t>
            </a:r>
            <a:endParaRPr b="0" i="0" sz="1600" u="none" cap="none" strike="noStrike"/>
          </a:p>
        </p:txBody>
      </p:sp>
      <p:sp>
        <p:nvSpPr>
          <p:cNvPr id="211" name="Google Shape;211;p6"/>
          <p:cNvSpPr/>
          <p:nvPr/>
        </p:nvSpPr>
        <p:spPr>
          <a:xfrm>
            <a:off x="321469" y="1115219"/>
            <a:ext cx="11632406" cy="5622487"/>
          </a:xfrm>
          <a:custGeom>
            <a:rect b="b" l="l" r="r" t="t"/>
            <a:pathLst>
              <a:path extrusionOk="0" h="5622487" w="11632406">
                <a:moveTo>
                  <a:pt x="161341" y="0"/>
                </a:moveTo>
                <a:lnTo>
                  <a:pt x="11471065" y="0"/>
                </a:lnTo>
                <a:cubicBezTo>
                  <a:pt x="11560171" y="0"/>
                  <a:pt x="11632406" y="26798"/>
                  <a:pt x="11632406" y="59855"/>
                </a:cubicBezTo>
                <a:lnTo>
                  <a:pt x="11632406" y="5562633"/>
                </a:lnTo>
                <a:cubicBezTo>
                  <a:pt x="11632406" y="5595689"/>
                  <a:pt x="11560171" y="5622487"/>
                  <a:pt x="11471065" y="5622487"/>
                </a:cubicBezTo>
                <a:lnTo>
                  <a:pt x="161341" y="5622487"/>
                </a:lnTo>
                <a:cubicBezTo>
                  <a:pt x="72235" y="5622487"/>
                  <a:pt x="0" y="5595689"/>
                  <a:pt x="0" y="5562633"/>
                </a:cubicBezTo>
                <a:lnTo>
                  <a:pt x="0" y="59855"/>
                </a:lnTo>
                <a:cubicBezTo>
                  <a:pt x="0" y="26820"/>
                  <a:pt x="72295" y="0"/>
                  <a:pt x="161341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519906" y="1309688"/>
            <a:ext cx="166688" cy="190500"/>
          </a:xfrm>
          <a:custGeom>
            <a:rect b="b" l="l" r="r" t="t"/>
            <a:pathLst>
              <a:path extrusionOk="0" h="190500" w="166688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722313" y="1277938"/>
            <a:ext cx="63976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Código Python</a:t>
            </a:r>
            <a:endParaRPr b="0" i="0" sz="1600" u="none" cap="none" strike="noStrike"/>
          </a:p>
        </p:txBody>
      </p:sp>
      <p:sp>
        <p:nvSpPr>
          <p:cNvPr id="214" name="Google Shape;214;p6"/>
          <p:cNvSpPr/>
          <p:nvPr/>
        </p:nvSpPr>
        <p:spPr>
          <a:xfrm>
            <a:off x="488156" y="1631156"/>
            <a:ext cx="5607844" cy="4876364"/>
          </a:xfrm>
          <a:custGeom>
            <a:rect b="b" l="l" r="r" t="t"/>
            <a:pathLst>
              <a:path extrusionOk="0" h="4876364" w="5607844">
                <a:moveTo>
                  <a:pt x="54508" y="0"/>
                </a:moveTo>
                <a:lnTo>
                  <a:pt x="5553336" y="0"/>
                </a:lnTo>
                <a:cubicBezTo>
                  <a:pt x="5583440" y="0"/>
                  <a:pt x="5607844" y="16777"/>
                  <a:pt x="5607844" y="37472"/>
                </a:cubicBezTo>
                <a:lnTo>
                  <a:pt x="5607844" y="4838891"/>
                </a:lnTo>
                <a:cubicBezTo>
                  <a:pt x="5607844" y="4859587"/>
                  <a:pt x="5583440" y="4876364"/>
                  <a:pt x="5553336" y="4876364"/>
                </a:cubicBezTo>
                <a:lnTo>
                  <a:pt x="54508" y="4876364"/>
                </a:lnTo>
                <a:cubicBezTo>
                  <a:pt x="24404" y="4876364"/>
                  <a:pt x="0" y="4859587"/>
                  <a:pt x="0" y="4838891"/>
                </a:cubicBezTo>
                <a:lnTo>
                  <a:pt x="0" y="37472"/>
                </a:lnTo>
                <a:cubicBezTo>
                  <a:pt x="0" y="16777"/>
                  <a:pt x="24404" y="0"/>
                  <a:pt x="54508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619125" y="1762125"/>
            <a:ext cx="5364571" cy="485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Función para mantener la propiedad del Max Heap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heapify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(arr, n, i):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largest = i           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Inicializar largest como raíz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izq =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* i +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Hijo izquierdo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der =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* i +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Hijo derecho# Verificar si hijo izquierdo existe y es mayor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izq &lt; n 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arr[izq] &gt; arr[largest]: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largest = izq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Verificar si hijo derecho existe y es mayor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der &lt; n 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arr[der] &gt; arr[largest]: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largest = der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Si largest cambió, intercambiar y continuar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largest != i: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arr[i], arr[largest] = arr[largest], arr[i]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heapify(arr, n, largest)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Función principal de Heap Sort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heapSort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(arr):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n = </a:t>
            </a: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(arr)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/>
          </a:p>
        </p:txBody>
      </p:sp>
      <p:sp>
        <p:nvSpPr>
          <p:cNvPr id="216" name="Google Shape;216;p6"/>
          <p:cNvSpPr/>
          <p:nvPr/>
        </p:nvSpPr>
        <p:spPr>
          <a:xfrm>
            <a:off x="6215063" y="1631156"/>
            <a:ext cx="5607844" cy="4876364"/>
          </a:xfrm>
          <a:custGeom>
            <a:rect b="b" l="l" r="r" t="t"/>
            <a:pathLst>
              <a:path extrusionOk="0" h="4876364" w="5607844">
                <a:moveTo>
                  <a:pt x="54508" y="0"/>
                </a:moveTo>
                <a:lnTo>
                  <a:pt x="5553336" y="0"/>
                </a:lnTo>
                <a:cubicBezTo>
                  <a:pt x="5583440" y="0"/>
                  <a:pt x="5607844" y="16777"/>
                  <a:pt x="5607844" y="37472"/>
                </a:cubicBezTo>
                <a:lnTo>
                  <a:pt x="5607844" y="4838891"/>
                </a:lnTo>
                <a:cubicBezTo>
                  <a:pt x="5607844" y="4859587"/>
                  <a:pt x="5583440" y="4876364"/>
                  <a:pt x="5553336" y="4876364"/>
                </a:cubicBezTo>
                <a:lnTo>
                  <a:pt x="54508" y="4876364"/>
                </a:lnTo>
                <a:cubicBezTo>
                  <a:pt x="24404" y="4876364"/>
                  <a:pt x="0" y="4859587"/>
                  <a:pt x="0" y="4838891"/>
                </a:cubicBezTo>
                <a:lnTo>
                  <a:pt x="0" y="37472"/>
                </a:lnTo>
                <a:cubicBezTo>
                  <a:pt x="0" y="16777"/>
                  <a:pt x="24404" y="0"/>
                  <a:pt x="54508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328659" y="1969814"/>
            <a:ext cx="5863341" cy="3311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FASE 1: Construir Max Heap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i 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(n //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-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-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-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heapify(arr, n, i)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FASE 2: Extraer elementos uno por uno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i 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(n -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-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arr[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], arr[i] = arr[i], arr[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]  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Mover raíz al final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    heapify(arr, i,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)           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Heapificar raíz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arr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Ejemplo de uso</a:t>
            </a:r>
            <a:r>
              <a:rPr b="0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__name__ ==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"__main__"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# Datos de entrada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datos = [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"Entrada:"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datos)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    ordenado = heapSort(datos)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"Salida: "</a:t>
            </a:r>
            <a:r>
              <a:rPr b="0" i="0" lang="en-US" sz="14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 ordenado)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317500" y="317500"/>
            <a:ext cx="63500" cy="381000"/>
          </a:xfrm>
          <a:custGeom>
            <a:rect b="b" l="l" r="r" t="t"/>
            <a:pathLst>
              <a:path extrusionOk="0" h="381000" w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76250" y="317500"/>
            <a:ext cx="4857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Implementación en Python</a:t>
            </a:r>
            <a:endParaRPr b="0" i="0" sz="1600" u="none" cap="none" strike="noStrike"/>
          </a:p>
        </p:txBody>
      </p:sp>
      <p:sp>
        <p:nvSpPr>
          <p:cNvPr id="225" name="Google Shape;225;p7"/>
          <p:cNvSpPr/>
          <p:nvPr/>
        </p:nvSpPr>
        <p:spPr>
          <a:xfrm>
            <a:off x="476250" y="762000"/>
            <a:ext cx="114776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Código completo y ejecutable</a:t>
            </a:r>
            <a:endParaRPr b="0" i="0" sz="1600" u="none" cap="none" strike="noStrike"/>
          </a:p>
        </p:txBody>
      </p:sp>
      <p:sp>
        <p:nvSpPr>
          <p:cNvPr id="226" name="Google Shape;226;p7"/>
          <p:cNvSpPr/>
          <p:nvPr/>
        </p:nvSpPr>
        <p:spPr>
          <a:xfrm>
            <a:off x="519906" y="1309688"/>
            <a:ext cx="166688" cy="190500"/>
          </a:xfrm>
          <a:custGeom>
            <a:rect b="b" l="l" r="r" t="t"/>
            <a:pathLst>
              <a:path extrusionOk="0" h="190500" w="166688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519906" y="1115219"/>
            <a:ext cx="11347400" cy="3040063"/>
          </a:xfrm>
          <a:custGeom>
            <a:rect b="b" l="l" r="r" t="t"/>
            <a:pathLst>
              <a:path extrusionOk="0" h="3040063" w="11347400">
                <a:moveTo>
                  <a:pt x="239300" y="0"/>
                </a:moveTo>
                <a:lnTo>
                  <a:pt x="11108100" y="0"/>
                </a:lnTo>
                <a:cubicBezTo>
                  <a:pt x="11240262" y="0"/>
                  <a:pt x="11347400" y="42643"/>
                  <a:pt x="11347400" y="95245"/>
                </a:cubicBezTo>
                <a:lnTo>
                  <a:pt x="11347400" y="2944817"/>
                </a:lnTo>
                <a:cubicBezTo>
                  <a:pt x="11347400" y="2997420"/>
                  <a:pt x="11240262" y="3040063"/>
                  <a:pt x="11108100" y="3040063"/>
                </a:cubicBezTo>
                <a:lnTo>
                  <a:pt x="239300" y="3040063"/>
                </a:lnTo>
                <a:cubicBezTo>
                  <a:pt x="107138" y="3040063"/>
                  <a:pt x="0" y="2997420"/>
                  <a:pt x="0" y="2944817"/>
                </a:cubicBezTo>
                <a:lnTo>
                  <a:pt x="0" y="95245"/>
                </a:lnTo>
                <a:cubicBezTo>
                  <a:pt x="0" y="42678"/>
                  <a:pt x="107227" y="0"/>
                  <a:pt x="23930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1578569" y="1277938"/>
            <a:ext cx="4229041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Ejecución</a:t>
            </a:r>
            <a:endParaRPr b="0" i="0" sz="1600" u="none" cap="none" strike="noStrike"/>
          </a:p>
        </p:txBody>
      </p:sp>
      <p:sp>
        <p:nvSpPr>
          <p:cNvPr id="229" name="Google Shape;229;p7"/>
          <p:cNvSpPr/>
          <p:nvPr/>
        </p:nvSpPr>
        <p:spPr>
          <a:xfrm>
            <a:off x="4004469" y="1649228"/>
            <a:ext cx="4987422" cy="1142125"/>
          </a:xfrm>
          <a:custGeom>
            <a:rect b="b" l="l" r="r" t="t"/>
            <a:pathLst>
              <a:path extrusionOk="0" h="1142125" w="4987422">
                <a:moveTo>
                  <a:pt x="75714" y="0"/>
                </a:moveTo>
                <a:lnTo>
                  <a:pt x="4911709" y="0"/>
                </a:lnTo>
                <a:cubicBezTo>
                  <a:pt x="4953524" y="0"/>
                  <a:pt x="4987422" y="34378"/>
                  <a:pt x="4987422" y="76785"/>
                </a:cubicBezTo>
                <a:lnTo>
                  <a:pt x="4987422" y="1065340"/>
                </a:lnTo>
                <a:cubicBezTo>
                  <a:pt x="4987422" y="1107747"/>
                  <a:pt x="4953524" y="1142125"/>
                  <a:pt x="4911709" y="1142125"/>
                </a:cubicBezTo>
                <a:lnTo>
                  <a:pt x="75714" y="1142125"/>
                </a:lnTo>
                <a:cubicBezTo>
                  <a:pt x="33898" y="1142125"/>
                  <a:pt x="0" y="1107747"/>
                  <a:pt x="0" y="1065340"/>
                </a:cubicBezTo>
                <a:lnTo>
                  <a:pt x="0" y="76785"/>
                </a:lnTo>
                <a:cubicBezTo>
                  <a:pt x="0" y="34406"/>
                  <a:pt x="33926" y="0"/>
                  <a:pt x="75714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201294" y="1723317"/>
            <a:ext cx="3984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Entrada:</a:t>
            </a:r>
            <a:endParaRPr b="0" i="0" sz="1600" u="none" cap="none" strike="noStrike"/>
          </a:p>
        </p:txBody>
      </p:sp>
      <p:sp>
        <p:nvSpPr>
          <p:cNvPr id="231" name="Google Shape;231;p7"/>
          <p:cNvSpPr/>
          <p:nvPr/>
        </p:nvSpPr>
        <p:spPr>
          <a:xfrm>
            <a:off x="4541586" y="2047875"/>
            <a:ext cx="3913188" cy="420688"/>
          </a:xfrm>
          <a:custGeom>
            <a:rect b="b" l="l" r="r" t="t"/>
            <a:pathLst>
              <a:path extrusionOk="0" h="420688" w="3913188">
                <a:moveTo>
                  <a:pt x="31749" y="0"/>
                </a:moveTo>
                <a:lnTo>
                  <a:pt x="3881438" y="0"/>
                </a:lnTo>
                <a:cubicBezTo>
                  <a:pt x="3898973" y="0"/>
                  <a:pt x="3913188" y="14215"/>
                  <a:pt x="3913188" y="31749"/>
                </a:cubicBezTo>
                <a:lnTo>
                  <a:pt x="3913188" y="388938"/>
                </a:lnTo>
                <a:cubicBezTo>
                  <a:pt x="3913188" y="406473"/>
                  <a:pt x="3898973" y="420688"/>
                  <a:pt x="3881438" y="420688"/>
                </a:cubicBezTo>
                <a:lnTo>
                  <a:pt x="31749" y="420688"/>
                </a:lnTo>
                <a:cubicBezTo>
                  <a:pt x="14215" y="420688"/>
                  <a:pt x="0" y="406473"/>
                  <a:pt x="0" y="388938"/>
                </a:cubicBezTo>
                <a:lnTo>
                  <a:pt x="0" y="31749"/>
                </a:lnTo>
                <a:cubicBezTo>
                  <a:pt x="0" y="14215"/>
                  <a:pt x="14215" y="0"/>
                  <a:pt x="31749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1578569" y="2047875"/>
            <a:ext cx="10010925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[12, 11, 13, 5, 6, 7]</a:t>
            </a:r>
            <a:endParaRPr b="0" i="0" sz="1600" u="none" cap="none" strike="noStrike"/>
          </a:p>
        </p:txBody>
      </p:sp>
      <p:sp>
        <p:nvSpPr>
          <p:cNvPr id="233" name="Google Shape;233;p7"/>
          <p:cNvSpPr/>
          <p:nvPr/>
        </p:nvSpPr>
        <p:spPr>
          <a:xfrm>
            <a:off x="9523388" y="2706688"/>
            <a:ext cx="178594" cy="238125"/>
          </a:xfrm>
          <a:custGeom>
            <a:rect b="b" l="l" r="r" t="t"/>
            <a:pathLst>
              <a:path extrusionOk="0" h="238125" w="178594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4004469" y="3044031"/>
            <a:ext cx="4987422" cy="944563"/>
          </a:xfrm>
          <a:custGeom>
            <a:rect b="b" l="l" r="r" t="t"/>
            <a:pathLst>
              <a:path extrusionOk="0" h="944563" w="4987422">
                <a:moveTo>
                  <a:pt x="75714" y="0"/>
                </a:moveTo>
                <a:lnTo>
                  <a:pt x="4911709" y="0"/>
                </a:lnTo>
                <a:cubicBezTo>
                  <a:pt x="4953524" y="0"/>
                  <a:pt x="4987422" y="28431"/>
                  <a:pt x="4987422" y="63503"/>
                </a:cubicBezTo>
                <a:lnTo>
                  <a:pt x="4987422" y="881060"/>
                </a:lnTo>
                <a:cubicBezTo>
                  <a:pt x="4987422" y="916131"/>
                  <a:pt x="4953524" y="944563"/>
                  <a:pt x="4911709" y="944562"/>
                </a:cubicBezTo>
                <a:lnTo>
                  <a:pt x="75714" y="944563"/>
                </a:lnTo>
                <a:cubicBezTo>
                  <a:pt x="33898" y="944562"/>
                  <a:pt x="0" y="916131"/>
                  <a:pt x="0" y="881060"/>
                </a:cubicBezTo>
                <a:lnTo>
                  <a:pt x="0" y="63503"/>
                </a:lnTo>
                <a:cubicBezTo>
                  <a:pt x="0" y="28455"/>
                  <a:pt x="33926" y="0"/>
                  <a:pt x="75714" y="0"/>
                </a:cubicBezTo>
                <a:close/>
              </a:path>
            </a:pathLst>
          </a:custGeom>
          <a:solidFill>
            <a:srgbClr val="191919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201294" y="3175000"/>
            <a:ext cx="74318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Salida:</a:t>
            </a:r>
            <a:endParaRPr b="0" i="0" sz="1600" u="none" cap="none" strike="noStrike"/>
          </a:p>
        </p:txBody>
      </p:sp>
      <p:sp>
        <p:nvSpPr>
          <p:cNvPr id="236" name="Google Shape;236;p7"/>
          <p:cNvSpPr/>
          <p:nvPr/>
        </p:nvSpPr>
        <p:spPr>
          <a:xfrm>
            <a:off x="4201294" y="3432969"/>
            <a:ext cx="4573061" cy="420688"/>
          </a:xfrm>
          <a:custGeom>
            <a:rect b="b" l="l" r="r" t="t"/>
            <a:pathLst>
              <a:path extrusionOk="0" h="420688" w="4573061">
                <a:moveTo>
                  <a:pt x="37103" y="0"/>
                </a:moveTo>
                <a:lnTo>
                  <a:pt x="4535958" y="0"/>
                </a:lnTo>
                <a:cubicBezTo>
                  <a:pt x="4556450" y="0"/>
                  <a:pt x="4573061" y="14215"/>
                  <a:pt x="4573061" y="31749"/>
                </a:cubicBezTo>
                <a:lnTo>
                  <a:pt x="4573061" y="388938"/>
                </a:lnTo>
                <a:cubicBezTo>
                  <a:pt x="4573061" y="406473"/>
                  <a:pt x="4556450" y="420688"/>
                  <a:pt x="4535958" y="420688"/>
                </a:cubicBezTo>
                <a:lnTo>
                  <a:pt x="37103" y="420688"/>
                </a:lnTo>
                <a:cubicBezTo>
                  <a:pt x="16612" y="420688"/>
                  <a:pt x="0" y="406473"/>
                  <a:pt x="0" y="388938"/>
                </a:cubicBezTo>
                <a:lnTo>
                  <a:pt x="0" y="31749"/>
                </a:lnTo>
                <a:cubicBezTo>
                  <a:pt x="0" y="14215"/>
                  <a:pt x="16612" y="0"/>
                  <a:pt x="37103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279090" y="3429000"/>
            <a:ext cx="4495266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[5, 6, 7, 11, 12, 13]</a:t>
            </a:r>
            <a:endParaRPr b="0" i="0" sz="1600" u="none" cap="none" strike="noStrike"/>
          </a:p>
        </p:txBody>
      </p:sp>
      <p:sp>
        <p:nvSpPr>
          <p:cNvPr id="238" name="Google Shape;238;p7"/>
          <p:cNvSpPr/>
          <p:nvPr/>
        </p:nvSpPr>
        <p:spPr>
          <a:xfrm>
            <a:off x="476250" y="4290219"/>
            <a:ext cx="11391057" cy="2320491"/>
          </a:xfrm>
          <a:custGeom>
            <a:rect b="b" l="l" r="r" t="t"/>
            <a:pathLst>
              <a:path extrusionOk="0" h="2320491" w="11391057">
                <a:moveTo>
                  <a:pt x="240237" y="0"/>
                </a:moveTo>
                <a:lnTo>
                  <a:pt x="11150819" y="0"/>
                </a:lnTo>
                <a:cubicBezTo>
                  <a:pt x="11283499" y="0"/>
                  <a:pt x="11391057" y="17149"/>
                  <a:pt x="11391057" y="38303"/>
                </a:cubicBezTo>
                <a:lnTo>
                  <a:pt x="11391057" y="2282187"/>
                </a:lnTo>
                <a:cubicBezTo>
                  <a:pt x="11391057" y="2303342"/>
                  <a:pt x="11283499" y="2320491"/>
                  <a:pt x="11150819" y="2320491"/>
                </a:cubicBezTo>
                <a:lnTo>
                  <a:pt x="240237" y="2320491"/>
                </a:lnTo>
                <a:cubicBezTo>
                  <a:pt x="107558" y="2320491"/>
                  <a:pt x="0" y="2303342"/>
                  <a:pt x="0" y="2282187"/>
                </a:cubicBezTo>
                <a:lnTo>
                  <a:pt x="0" y="38303"/>
                </a:lnTo>
                <a:cubicBezTo>
                  <a:pt x="0" y="17163"/>
                  <a:pt x="107647" y="0"/>
                  <a:pt x="24023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841244" y="5310188"/>
            <a:ext cx="737325" cy="433886"/>
          </a:xfrm>
          <a:custGeom>
            <a:rect b="b" l="l" r="r" t="t"/>
            <a:pathLst>
              <a:path extrusionOk="0" h="433886" w="737325">
                <a:moveTo>
                  <a:pt x="368662" y="433886"/>
                </a:moveTo>
                <a:cubicBezTo>
                  <a:pt x="572133" y="433886"/>
                  <a:pt x="737325" y="336677"/>
                  <a:pt x="737325" y="216943"/>
                </a:cubicBezTo>
                <a:cubicBezTo>
                  <a:pt x="737325" y="97209"/>
                  <a:pt x="572133" y="0"/>
                  <a:pt x="368662" y="0"/>
                </a:cubicBezTo>
                <a:cubicBezTo>
                  <a:pt x="165192" y="0"/>
                  <a:pt x="0" y="97209"/>
                  <a:pt x="0" y="216943"/>
                </a:cubicBezTo>
                <a:cubicBezTo>
                  <a:pt x="0" y="336677"/>
                  <a:pt x="165192" y="433886"/>
                  <a:pt x="368662" y="433886"/>
                </a:cubicBezTo>
                <a:close/>
                <a:moveTo>
                  <a:pt x="322580" y="135589"/>
                </a:moveTo>
                <a:cubicBezTo>
                  <a:pt x="322580" y="120623"/>
                  <a:pt x="343229" y="108471"/>
                  <a:pt x="368662" y="108471"/>
                </a:cubicBezTo>
                <a:cubicBezTo>
                  <a:pt x="394096" y="108471"/>
                  <a:pt x="414745" y="120623"/>
                  <a:pt x="414745" y="135589"/>
                </a:cubicBezTo>
                <a:cubicBezTo>
                  <a:pt x="414745" y="150556"/>
                  <a:pt x="394096" y="162707"/>
                  <a:pt x="368662" y="162707"/>
                </a:cubicBezTo>
                <a:cubicBezTo>
                  <a:pt x="343229" y="162707"/>
                  <a:pt x="322580" y="150556"/>
                  <a:pt x="322580" y="135589"/>
                </a:cubicBezTo>
                <a:close/>
                <a:moveTo>
                  <a:pt x="311059" y="189825"/>
                </a:moveTo>
                <a:lnTo>
                  <a:pt x="380183" y="189825"/>
                </a:lnTo>
                <a:cubicBezTo>
                  <a:pt x="399336" y="189825"/>
                  <a:pt x="414745" y="198893"/>
                  <a:pt x="414745" y="210163"/>
                </a:cubicBezTo>
                <a:lnTo>
                  <a:pt x="414745" y="284738"/>
                </a:lnTo>
                <a:lnTo>
                  <a:pt x="426266" y="284738"/>
                </a:lnTo>
                <a:cubicBezTo>
                  <a:pt x="445419" y="284738"/>
                  <a:pt x="460828" y="293805"/>
                  <a:pt x="460828" y="305076"/>
                </a:cubicBezTo>
                <a:cubicBezTo>
                  <a:pt x="460828" y="316347"/>
                  <a:pt x="445419" y="325414"/>
                  <a:pt x="426266" y="325414"/>
                </a:cubicBezTo>
                <a:lnTo>
                  <a:pt x="311059" y="325414"/>
                </a:lnTo>
                <a:cubicBezTo>
                  <a:pt x="291906" y="325414"/>
                  <a:pt x="276497" y="316347"/>
                  <a:pt x="276497" y="305076"/>
                </a:cubicBezTo>
                <a:cubicBezTo>
                  <a:pt x="276497" y="293805"/>
                  <a:pt x="291906" y="284738"/>
                  <a:pt x="311059" y="284738"/>
                </a:cubicBezTo>
                <a:lnTo>
                  <a:pt x="345621" y="284738"/>
                </a:lnTo>
                <a:lnTo>
                  <a:pt x="345621" y="230502"/>
                </a:lnTo>
                <a:lnTo>
                  <a:pt x="311059" y="230502"/>
                </a:lnTo>
                <a:cubicBezTo>
                  <a:pt x="291906" y="230502"/>
                  <a:pt x="276497" y="221434"/>
                  <a:pt x="276497" y="210163"/>
                </a:cubicBezTo>
                <a:cubicBezTo>
                  <a:pt x="276497" y="198893"/>
                  <a:pt x="291906" y="189825"/>
                  <a:pt x="311059" y="18982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1672270" y="4452938"/>
            <a:ext cx="3112350" cy="2084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600" u="none" cap="none" strike="noStrike"/>
          </a:p>
        </p:txBody>
      </p:sp>
      <p:sp>
        <p:nvSpPr>
          <p:cNvPr id="241" name="Google Shape;241;p7"/>
          <p:cNvSpPr/>
          <p:nvPr/>
        </p:nvSpPr>
        <p:spPr>
          <a:xfrm>
            <a:off x="7537400" y="4802188"/>
            <a:ext cx="111125" cy="127000"/>
          </a:xfrm>
          <a:custGeom>
            <a:rect b="b" l="l" r="r" t="t"/>
            <a:pathLst>
              <a:path extrusionOk="0" h="127000" w="111125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735838" y="4770438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Código limpio y comentado</a:t>
            </a:r>
            <a:endParaRPr b="0" i="0" sz="1600" u="none" cap="none" strike="noStrike"/>
          </a:p>
        </p:txBody>
      </p:sp>
      <p:sp>
        <p:nvSpPr>
          <p:cNvPr id="243" name="Google Shape;243;p7"/>
          <p:cNvSpPr/>
          <p:nvPr/>
        </p:nvSpPr>
        <p:spPr>
          <a:xfrm>
            <a:off x="7537400" y="5056188"/>
            <a:ext cx="111125" cy="127000"/>
          </a:xfrm>
          <a:custGeom>
            <a:rect b="b" l="l" r="r" t="t"/>
            <a:pathLst>
              <a:path extrusionOk="0" h="127000" w="111125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7735838" y="5024438"/>
            <a:ext cx="2119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Funciones separadas y reutilizables</a:t>
            </a:r>
            <a:endParaRPr b="0" i="0" sz="1600" u="none" cap="none" strike="noStrike"/>
          </a:p>
        </p:txBody>
      </p:sp>
      <p:sp>
        <p:nvSpPr>
          <p:cNvPr id="245" name="Google Shape;245;p7"/>
          <p:cNvSpPr/>
          <p:nvPr/>
        </p:nvSpPr>
        <p:spPr>
          <a:xfrm>
            <a:off x="7537400" y="5310188"/>
            <a:ext cx="111125" cy="127000"/>
          </a:xfrm>
          <a:custGeom>
            <a:rect b="b" l="l" r="r" t="t"/>
            <a:pathLst>
              <a:path extrusionOk="0" h="127000" w="111125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7735838" y="5278438"/>
            <a:ext cx="141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Ordenamiento in-place</a:t>
            </a:r>
            <a:endParaRPr b="0" i="0" sz="1600" u="none" cap="none" strike="noStrike"/>
          </a:p>
        </p:txBody>
      </p:sp>
      <p:sp>
        <p:nvSpPr>
          <p:cNvPr id="247" name="Google Shape;247;p7"/>
          <p:cNvSpPr/>
          <p:nvPr/>
        </p:nvSpPr>
        <p:spPr>
          <a:xfrm>
            <a:off x="7537400" y="5564188"/>
            <a:ext cx="111125" cy="127000"/>
          </a:xfrm>
          <a:custGeom>
            <a:rect b="b" l="l" r="r" t="t"/>
            <a:pathLst>
              <a:path extrusionOk="0" h="127000" w="111125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7735838" y="5532438"/>
            <a:ext cx="1404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Complejidad O(n log n)</a:t>
            </a:r>
            <a:endParaRPr b="0" i="0" sz="1600" u="none" cap="none" strike="noStrike"/>
          </a:p>
        </p:txBody>
      </p:sp>
      <p:sp>
        <p:nvSpPr>
          <p:cNvPr id="249" name="Google Shape;249;p7"/>
          <p:cNvSpPr/>
          <p:nvPr/>
        </p:nvSpPr>
        <p:spPr>
          <a:xfrm>
            <a:off x="951439" y="1309688"/>
            <a:ext cx="403682" cy="339541"/>
          </a:xfrm>
          <a:custGeom>
            <a:rect b="b" l="l" r="r" t="t"/>
            <a:pathLst>
              <a:path extrusionOk="0" h="339541" w="403682">
                <a:moveTo>
                  <a:pt x="0" y="169770"/>
                </a:moveTo>
                <a:cubicBezTo>
                  <a:pt x="0" y="76072"/>
                  <a:pt x="90442" y="0"/>
                  <a:pt x="201841" y="0"/>
                </a:cubicBezTo>
                <a:cubicBezTo>
                  <a:pt x="313240" y="0"/>
                  <a:pt x="403682" y="76072"/>
                  <a:pt x="403682" y="169770"/>
                </a:cubicBezTo>
                <a:cubicBezTo>
                  <a:pt x="403682" y="263469"/>
                  <a:pt x="313240" y="339541"/>
                  <a:pt x="201841" y="339541"/>
                </a:cubicBezTo>
                <a:cubicBezTo>
                  <a:pt x="90442" y="339541"/>
                  <a:pt x="0" y="263469"/>
                  <a:pt x="0" y="169770"/>
                </a:cubicBezTo>
                <a:close/>
                <a:moveTo>
                  <a:pt x="148464" y="97552"/>
                </a:moveTo>
                <a:cubicBezTo>
                  <a:pt x="142471" y="100337"/>
                  <a:pt x="138766" y="105709"/>
                  <a:pt x="138766" y="111412"/>
                </a:cubicBezTo>
                <a:lnTo>
                  <a:pt x="138766" y="228129"/>
                </a:lnTo>
                <a:cubicBezTo>
                  <a:pt x="138766" y="233898"/>
                  <a:pt x="142471" y="239204"/>
                  <a:pt x="148464" y="241989"/>
                </a:cubicBezTo>
                <a:cubicBezTo>
                  <a:pt x="154456" y="244774"/>
                  <a:pt x="161709" y="244708"/>
                  <a:pt x="167623" y="241657"/>
                </a:cubicBezTo>
                <a:lnTo>
                  <a:pt x="281158" y="183299"/>
                </a:lnTo>
                <a:cubicBezTo>
                  <a:pt x="286756" y="180381"/>
                  <a:pt x="290225" y="175275"/>
                  <a:pt x="290225" y="169704"/>
                </a:cubicBezTo>
                <a:cubicBezTo>
                  <a:pt x="290225" y="164133"/>
                  <a:pt x="286756" y="159027"/>
                  <a:pt x="281158" y="156109"/>
                </a:cubicBezTo>
                <a:lnTo>
                  <a:pt x="167623" y="97751"/>
                </a:lnTo>
                <a:cubicBezTo>
                  <a:pt x="161788" y="94766"/>
                  <a:pt x="154456" y="94634"/>
                  <a:pt x="148464" y="97419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381000" y="381000"/>
            <a:ext cx="76200" cy="457200"/>
          </a:xfrm>
          <a:custGeom>
            <a:rect b="b" l="l" r="r" t="t"/>
            <a:pathLst>
              <a:path extrusionOk="0" h="457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71500" y="381000"/>
            <a:ext cx="693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Ejemplo: Construcción del Heap</a:t>
            </a:r>
            <a:endParaRPr b="0" i="0" sz="1600" u="none" cap="none" strike="noStrike"/>
          </a:p>
        </p:txBody>
      </p:sp>
      <p:sp>
        <p:nvSpPr>
          <p:cNvPr id="257" name="Google Shape;257;p8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Arreglo inicial: [4, 10, 3, 5, 1]</a:t>
            </a:r>
            <a:endParaRPr b="0" i="0" sz="1600" u="none" cap="none" strike="noStrike"/>
          </a:p>
        </p:txBody>
      </p:sp>
      <p:sp>
        <p:nvSpPr>
          <p:cNvPr id="258" name="Google Shape;258;p8"/>
          <p:cNvSpPr/>
          <p:nvPr/>
        </p:nvSpPr>
        <p:spPr>
          <a:xfrm>
            <a:off x="385763" y="1338263"/>
            <a:ext cx="3695700" cy="4238625"/>
          </a:xfrm>
          <a:custGeom>
            <a:rect b="b" l="l" r="r" t="t"/>
            <a:pathLst>
              <a:path extrusionOk="0" h="423862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124317"/>
                </a:lnTo>
                <a:cubicBezTo>
                  <a:pt x="3695700" y="4187448"/>
                  <a:pt x="3644523" y="4238625"/>
                  <a:pt x="3581392" y="4238625"/>
                </a:cubicBezTo>
                <a:lnTo>
                  <a:pt x="114308" y="4238625"/>
                </a:lnTo>
                <a:cubicBezTo>
                  <a:pt x="51177" y="4238625"/>
                  <a:pt x="0" y="4187448"/>
                  <a:pt x="0" y="41243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1322040" y="1500188"/>
            <a:ext cx="1828800" cy="390525"/>
          </a:xfrm>
          <a:custGeom>
            <a:rect b="b" l="l" r="r" t="t"/>
            <a:pathLst>
              <a:path extrusionOk="0" h="390525" w="1828800">
                <a:moveTo>
                  <a:pt x="195263" y="0"/>
                </a:moveTo>
                <a:lnTo>
                  <a:pt x="1633538" y="0"/>
                </a:lnTo>
                <a:cubicBezTo>
                  <a:pt x="1741306" y="0"/>
                  <a:pt x="1828800" y="87494"/>
                  <a:pt x="1828800" y="195263"/>
                </a:cubicBezTo>
                <a:lnTo>
                  <a:pt x="1828800" y="195263"/>
                </a:lnTo>
                <a:cubicBezTo>
                  <a:pt x="1828800" y="303031"/>
                  <a:pt x="1741306" y="390525"/>
                  <a:pt x="16335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1441103" y="1590675"/>
            <a:ext cx="15879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Paso 0: Arreglo Inicial</a:t>
            </a:r>
            <a:endParaRPr b="0" i="0" sz="1600" u="none" cap="none" strike="noStrike"/>
          </a:p>
        </p:txBody>
      </p:sp>
      <p:sp>
        <p:nvSpPr>
          <p:cNvPr id="261" name="Google Shape;261;p8"/>
          <p:cNvSpPr/>
          <p:nvPr/>
        </p:nvSpPr>
        <p:spPr>
          <a:xfrm>
            <a:off x="2006501" y="24098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1968401" y="24098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263" name="Google Shape;263;p8"/>
          <p:cNvSpPr/>
          <p:nvPr/>
        </p:nvSpPr>
        <p:spPr>
          <a:xfrm>
            <a:off x="1625501" y="29813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1587401" y="29813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600" u="none" cap="none" strike="noStrike"/>
          </a:p>
        </p:txBody>
      </p:sp>
      <p:sp>
        <p:nvSpPr>
          <p:cNvPr id="265" name="Google Shape;265;p8"/>
          <p:cNvSpPr/>
          <p:nvPr/>
        </p:nvSpPr>
        <p:spPr>
          <a:xfrm>
            <a:off x="2387501" y="29813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2349401" y="29813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267" name="Google Shape;267;p8"/>
          <p:cNvSpPr/>
          <p:nvPr/>
        </p:nvSpPr>
        <p:spPr>
          <a:xfrm>
            <a:off x="1168301" y="35528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1130201" y="35528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/>
          </a:p>
        </p:txBody>
      </p:sp>
      <p:sp>
        <p:nvSpPr>
          <p:cNvPr id="269" name="Google Shape;269;p8"/>
          <p:cNvSpPr/>
          <p:nvPr/>
        </p:nvSpPr>
        <p:spPr>
          <a:xfrm>
            <a:off x="1777901" y="35528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1739801" y="35528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271" name="Google Shape;271;p8"/>
          <p:cNvSpPr/>
          <p:nvPr/>
        </p:nvSpPr>
        <p:spPr>
          <a:xfrm>
            <a:off x="1361926" y="4167188"/>
            <a:ext cx="1743075" cy="504825"/>
          </a:xfrm>
          <a:custGeom>
            <a:rect b="b" l="l" r="r" t="t"/>
            <a:pathLst>
              <a:path extrusionOk="0" h="504825" w="1743075">
                <a:moveTo>
                  <a:pt x="38099" y="0"/>
                </a:moveTo>
                <a:lnTo>
                  <a:pt x="1704976" y="0"/>
                </a:lnTo>
                <a:cubicBezTo>
                  <a:pt x="1726017" y="0"/>
                  <a:pt x="1743075" y="17058"/>
                  <a:pt x="1743075" y="38099"/>
                </a:cubicBezTo>
                <a:lnTo>
                  <a:pt x="1743075" y="466726"/>
                </a:lnTo>
                <a:cubicBezTo>
                  <a:pt x="1743075" y="487767"/>
                  <a:pt x="1726017" y="504825"/>
                  <a:pt x="1704976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1314301" y="4162425"/>
            <a:ext cx="18192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[4, 10, 3, 5, 1]</a:t>
            </a:r>
            <a:endParaRPr b="0" i="0" sz="1600" u="none" cap="none" strike="noStrike"/>
          </a:p>
        </p:txBody>
      </p:sp>
      <p:sp>
        <p:nvSpPr>
          <p:cNvPr id="273" name="Google Shape;273;p8"/>
          <p:cNvSpPr/>
          <p:nvPr/>
        </p:nvSpPr>
        <p:spPr>
          <a:xfrm>
            <a:off x="504825" y="51911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Árbol binario completo sin propiedad de heap</a:t>
            </a:r>
            <a:endParaRPr b="0" i="0" sz="1600" u="none" cap="none" strike="noStrike"/>
          </a:p>
        </p:txBody>
      </p:sp>
      <p:sp>
        <p:nvSpPr>
          <p:cNvPr id="274" name="Google Shape;274;p8"/>
          <p:cNvSpPr/>
          <p:nvPr/>
        </p:nvSpPr>
        <p:spPr>
          <a:xfrm>
            <a:off x="4246513" y="1338263"/>
            <a:ext cx="3695700" cy="4238625"/>
          </a:xfrm>
          <a:custGeom>
            <a:rect b="b" l="l" r="r" t="t"/>
            <a:pathLst>
              <a:path extrusionOk="0" h="423862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124317"/>
                </a:lnTo>
                <a:cubicBezTo>
                  <a:pt x="3695700" y="4187448"/>
                  <a:pt x="3644523" y="4238625"/>
                  <a:pt x="3581392" y="4238625"/>
                </a:cubicBezTo>
                <a:lnTo>
                  <a:pt x="114308" y="4238625"/>
                </a:lnTo>
                <a:cubicBezTo>
                  <a:pt x="51177" y="4238625"/>
                  <a:pt x="0" y="4187448"/>
                  <a:pt x="0" y="41243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5346799" y="1500188"/>
            <a:ext cx="1495425" cy="390525"/>
          </a:xfrm>
          <a:custGeom>
            <a:rect b="b" l="l" r="r" t="t"/>
            <a:pathLst>
              <a:path extrusionOk="0" h="390525" w="1495425">
                <a:moveTo>
                  <a:pt x="195263" y="0"/>
                </a:moveTo>
                <a:lnTo>
                  <a:pt x="1300163" y="0"/>
                </a:lnTo>
                <a:cubicBezTo>
                  <a:pt x="1407931" y="0"/>
                  <a:pt x="1495425" y="87494"/>
                  <a:pt x="1495425" y="195263"/>
                </a:cubicBezTo>
                <a:lnTo>
                  <a:pt x="1495425" y="195263"/>
                </a:lnTo>
                <a:cubicBezTo>
                  <a:pt x="1495425" y="303031"/>
                  <a:pt x="1407931" y="390525"/>
                  <a:pt x="13001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465862" y="1590675"/>
            <a:ext cx="126012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Paso 1: heapify(1)</a:t>
            </a:r>
            <a:endParaRPr b="0" i="0" sz="1600" u="none" cap="none" strike="noStrike"/>
          </a:p>
        </p:txBody>
      </p:sp>
      <p:sp>
        <p:nvSpPr>
          <p:cNvPr id="277" name="Google Shape;277;p8"/>
          <p:cNvSpPr/>
          <p:nvPr/>
        </p:nvSpPr>
        <p:spPr>
          <a:xfrm>
            <a:off x="5867251" y="21431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829151" y="21431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279" name="Google Shape;279;p8"/>
          <p:cNvSpPr/>
          <p:nvPr/>
        </p:nvSpPr>
        <p:spPr>
          <a:xfrm>
            <a:off x="5495776" y="272415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F4444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5448151" y="271462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600" u="none" cap="none" strike="noStrike"/>
          </a:p>
        </p:txBody>
      </p:sp>
      <p:sp>
        <p:nvSpPr>
          <p:cNvPr id="281" name="Google Shape;281;p8"/>
          <p:cNvSpPr/>
          <p:nvPr/>
        </p:nvSpPr>
        <p:spPr>
          <a:xfrm>
            <a:off x="6248251" y="27146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210151" y="27146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283" name="Google Shape;283;p8"/>
          <p:cNvSpPr/>
          <p:nvPr/>
        </p:nvSpPr>
        <p:spPr>
          <a:xfrm>
            <a:off x="5038576" y="329565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22C55E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990951" y="328612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/>
          </a:p>
        </p:txBody>
      </p:sp>
      <p:sp>
        <p:nvSpPr>
          <p:cNvPr id="285" name="Google Shape;285;p8"/>
          <p:cNvSpPr/>
          <p:nvPr/>
        </p:nvSpPr>
        <p:spPr>
          <a:xfrm>
            <a:off x="5638651" y="32861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5600551" y="328612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287" name="Google Shape;287;p8"/>
          <p:cNvSpPr/>
          <p:nvPr/>
        </p:nvSpPr>
        <p:spPr>
          <a:xfrm>
            <a:off x="5222677" y="3900488"/>
            <a:ext cx="1743075" cy="504825"/>
          </a:xfrm>
          <a:custGeom>
            <a:rect b="b" l="l" r="r" t="t"/>
            <a:pathLst>
              <a:path extrusionOk="0" h="504825" w="1743075">
                <a:moveTo>
                  <a:pt x="38099" y="0"/>
                </a:moveTo>
                <a:lnTo>
                  <a:pt x="1704976" y="0"/>
                </a:lnTo>
                <a:cubicBezTo>
                  <a:pt x="1726017" y="0"/>
                  <a:pt x="1743075" y="17058"/>
                  <a:pt x="1743075" y="38099"/>
                </a:cubicBezTo>
                <a:lnTo>
                  <a:pt x="1743075" y="466726"/>
                </a:lnTo>
                <a:cubicBezTo>
                  <a:pt x="1743075" y="487767"/>
                  <a:pt x="1726017" y="504825"/>
                  <a:pt x="1704976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5175052" y="3895725"/>
            <a:ext cx="18192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[4, 10, 3, 5, 1]</a:t>
            </a:r>
            <a:endParaRPr b="0" i="0" sz="1600" u="none" cap="none" strike="noStrike"/>
          </a:p>
        </p:txBody>
      </p:sp>
      <p:sp>
        <p:nvSpPr>
          <p:cNvPr id="289" name="Google Shape;289;p8"/>
          <p:cNvSpPr/>
          <p:nvPr/>
        </p:nvSpPr>
        <p:spPr>
          <a:xfrm>
            <a:off x="4403675" y="46577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Nodo 10: hijos 5, 1</a:t>
            </a:r>
            <a:endParaRPr b="0" i="0" sz="1600" u="none" cap="none" strike="noStrike"/>
          </a:p>
        </p:txBody>
      </p:sp>
      <p:sp>
        <p:nvSpPr>
          <p:cNvPr id="290" name="Google Shape;290;p8"/>
          <p:cNvSpPr/>
          <p:nvPr/>
        </p:nvSpPr>
        <p:spPr>
          <a:xfrm>
            <a:off x="4403675" y="49244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10 ≥ 5, 10 ≥ 1 ✓</a:t>
            </a:r>
            <a:endParaRPr b="0" i="0" sz="1600" u="none" cap="none" strike="noStrike"/>
          </a:p>
        </p:txBody>
      </p:sp>
      <p:sp>
        <p:nvSpPr>
          <p:cNvPr id="291" name="Google Shape;291;p8"/>
          <p:cNvSpPr/>
          <p:nvPr/>
        </p:nvSpPr>
        <p:spPr>
          <a:xfrm>
            <a:off x="4403675" y="51911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 No requiere cambios</a:t>
            </a:r>
            <a:endParaRPr b="0" i="0" sz="1600" u="none" cap="none" strike="noStrike"/>
          </a:p>
        </p:txBody>
      </p:sp>
      <p:sp>
        <p:nvSpPr>
          <p:cNvPr id="292" name="Google Shape;292;p8"/>
          <p:cNvSpPr/>
          <p:nvPr/>
        </p:nvSpPr>
        <p:spPr>
          <a:xfrm>
            <a:off x="8107263" y="1338263"/>
            <a:ext cx="3695700" cy="4238625"/>
          </a:xfrm>
          <a:custGeom>
            <a:rect b="b" l="l" r="r" t="t"/>
            <a:pathLst>
              <a:path extrusionOk="0" h="4238625" w="369570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124317"/>
                </a:lnTo>
                <a:cubicBezTo>
                  <a:pt x="3695700" y="4187448"/>
                  <a:pt x="3644523" y="4238625"/>
                  <a:pt x="3581392" y="4238625"/>
                </a:cubicBezTo>
                <a:lnTo>
                  <a:pt x="114308" y="4238625"/>
                </a:lnTo>
                <a:cubicBezTo>
                  <a:pt x="51177" y="4238625"/>
                  <a:pt x="0" y="4187448"/>
                  <a:pt x="0" y="41243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9176891" y="1500188"/>
            <a:ext cx="1562100" cy="390525"/>
          </a:xfrm>
          <a:custGeom>
            <a:rect b="b" l="l" r="r" t="t"/>
            <a:pathLst>
              <a:path extrusionOk="0" h="390525" w="1562100">
                <a:moveTo>
                  <a:pt x="195263" y="0"/>
                </a:moveTo>
                <a:lnTo>
                  <a:pt x="1366838" y="0"/>
                </a:lnTo>
                <a:cubicBezTo>
                  <a:pt x="1474606" y="0"/>
                  <a:pt x="1562100" y="87494"/>
                  <a:pt x="1562100" y="195263"/>
                </a:cubicBezTo>
                <a:lnTo>
                  <a:pt x="1562100" y="195263"/>
                </a:lnTo>
                <a:cubicBezTo>
                  <a:pt x="1562100" y="303031"/>
                  <a:pt x="1474606" y="390525"/>
                  <a:pt x="13668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9295954" y="1590675"/>
            <a:ext cx="1321594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Paso 2: heapify(0)</a:t>
            </a:r>
            <a:endParaRPr b="0" i="0" sz="1600" u="none" cap="none" strike="noStrike"/>
          </a:p>
        </p:txBody>
      </p:sp>
      <p:sp>
        <p:nvSpPr>
          <p:cNvPr id="295" name="Google Shape;295;p8"/>
          <p:cNvSpPr/>
          <p:nvPr/>
        </p:nvSpPr>
        <p:spPr>
          <a:xfrm>
            <a:off x="9737675" y="20193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F4444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9690050" y="20097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297" name="Google Shape;297;p8"/>
          <p:cNvSpPr/>
          <p:nvPr/>
        </p:nvSpPr>
        <p:spPr>
          <a:xfrm>
            <a:off x="9347150" y="2581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9309050" y="25812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600" u="none" cap="none" strike="noStrike"/>
          </a:p>
        </p:txBody>
      </p:sp>
      <p:sp>
        <p:nvSpPr>
          <p:cNvPr id="299" name="Google Shape;299;p8"/>
          <p:cNvSpPr/>
          <p:nvPr/>
        </p:nvSpPr>
        <p:spPr>
          <a:xfrm>
            <a:off x="10109150" y="2581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10071050" y="25812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301" name="Google Shape;301;p8"/>
          <p:cNvSpPr/>
          <p:nvPr/>
        </p:nvSpPr>
        <p:spPr>
          <a:xfrm>
            <a:off x="8889950" y="31527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8851850" y="31527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/>
          </a:p>
        </p:txBody>
      </p:sp>
      <p:sp>
        <p:nvSpPr>
          <p:cNvPr id="303" name="Google Shape;303;p8"/>
          <p:cNvSpPr/>
          <p:nvPr/>
        </p:nvSpPr>
        <p:spPr>
          <a:xfrm>
            <a:off x="9499550" y="31527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9461450" y="31527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305" name="Google Shape;305;p8"/>
          <p:cNvSpPr/>
          <p:nvPr/>
        </p:nvSpPr>
        <p:spPr>
          <a:xfrm>
            <a:off x="9083576" y="3767138"/>
            <a:ext cx="1743075" cy="504825"/>
          </a:xfrm>
          <a:custGeom>
            <a:rect b="b" l="l" r="r" t="t"/>
            <a:pathLst>
              <a:path extrusionOk="0" h="504825" w="1743075">
                <a:moveTo>
                  <a:pt x="38099" y="0"/>
                </a:moveTo>
                <a:lnTo>
                  <a:pt x="1704976" y="0"/>
                </a:lnTo>
                <a:cubicBezTo>
                  <a:pt x="1726017" y="0"/>
                  <a:pt x="1743075" y="17058"/>
                  <a:pt x="1743075" y="38099"/>
                </a:cubicBezTo>
                <a:lnTo>
                  <a:pt x="1743075" y="466726"/>
                </a:lnTo>
                <a:cubicBezTo>
                  <a:pt x="1743075" y="487767"/>
                  <a:pt x="1726017" y="504825"/>
                  <a:pt x="1704976" y="504825"/>
                </a:cubicBezTo>
                <a:lnTo>
                  <a:pt x="38099" y="504825"/>
                </a:lnTo>
                <a:cubicBezTo>
                  <a:pt x="17058" y="504825"/>
                  <a:pt x="0" y="487767"/>
                  <a:pt x="0" y="46672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9035951" y="3762375"/>
            <a:ext cx="18192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[10, 5, 3, 4, 1]</a:t>
            </a:r>
            <a:endParaRPr b="0" i="0" sz="1600" u="none" cap="none" strike="noStrike"/>
          </a:p>
        </p:txBody>
      </p:sp>
      <p:sp>
        <p:nvSpPr>
          <p:cNvPr id="307" name="Google Shape;307;p8"/>
          <p:cNvSpPr/>
          <p:nvPr/>
        </p:nvSpPr>
        <p:spPr>
          <a:xfrm>
            <a:off x="8264426" y="43910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Nodo 4: hijos 10, 3</a:t>
            </a:r>
            <a:endParaRPr b="0" i="0" sz="1600" u="none" cap="none" strike="noStrike"/>
          </a:p>
        </p:txBody>
      </p:sp>
      <p:sp>
        <p:nvSpPr>
          <p:cNvPr id="308" name="Google Shape;308;p8"/>
          <p:cNvSpPr/>
          <p:nvPr/>
        </p:nvSpPr>
        <p:spPr>
          <a:xfrm>
            <a:off x="8264426" y="46577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10 &gt; 4 → intercambiar</a:t>
            </a:r>
            <a:endParaRPr b="0" i="0" sz="1600" u="none" cap="none" strike="noStrike"/>
          </a:p>
        </p:txBody>
      </p:sp>
      <p:sp>
        <p:nvSpPr>
          <p:cNvPr id="309" name="Google Shape;309;p8"/>
          <p:cNvSpPr/>
          <p:nvPr/>
        </p:nvSpPr>
        <p:spPr>
          <a:xfrm>
            <a:off x="8264426" y="49244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Ahora 4 tiene hijos 5, 1</a:t>
            </a:r>
            <a:endParaRPr b="0" i="0" sz="1600" u="none" cap="none" strike="noStrike"/>
          </a:p>
        </p:txBody>
      </p:sp>
      <p:sp>
        <p:nvSpPr>
          <p:cNvPr id="310" name="Google Shape;310;p8"/>
          <p:cNvSpPr/>
          <p:nvPr/>
        </p:nvSpPr>
        <p:spPr>
          <a:xfrm>
            <a:off x="8264426" y="5191125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 4 ≥ 5? No → intercambiar</a:t>
            </a:r>
            <a:endParaRPr b="0" i="0" sz="1600" u="none" cap="none" strike="noStrike"/>
          </a:p>
        </p:txBody>
      </p:sp>
      <p:sp>
        <p:nvSpPr>
          <p:cNvPr id="311" name="Google Shape;311;p8"/>
          <p:cNvSpPr/>
          <p:nvPr/>
        </p:nvSpPr>
        <p:spPr>
          <a:xfrm>
            <a:off x="385763" y="5738813"/>
            <a:ext cx="11420475" cy="809625"/>
          </a:xfrm>
          <a:custGeom>
            <a:rect b="b" l="l" r="r" t="t"/>
            <a:pathLst>
              <a:path extrusionOk="0" h="809625" w="1142047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733423"/>
                </a:lnTo>
                <a:cubicBezTo>
                  <a:pt x="11420475" y="775508"/>
                  <a:pt x="11386358" y="809625"/>
                  <a:pt x="113442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71500" y="602932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942975" y="5895975"/>
            <a:ext cx="2924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Max Heap Construido</a:t>
            </a:r>
            <a:endParaRPr b="0" i="0" sz="1600" u="none" cap="none" strike="noStrike"/>
          </a:p>
        </p:txBody>
      </p:sp>
      <p:sp>
        <p:nvSpPr>
          <p:cNvPr id="314" name="Google Shape;314;p8"/>
          <p:cNvSpPr/>
          <p:nvPr/>
        </p:nvSpPr>
        <p:spPr>
          <a:xfrm>
            <a:off x="942975" y="6162675"/>
            <a:ext cx="2914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Arreglo: [10, 5, 3, 4, 1] | Raíz: 10 (máximo)</a:t>
            </a:r>
            <a:endParaRPr b="0" i="0" sz="1600" u="none" cap="none" strike="noStrike"/>
          </a:p>
        </p:txBody>
      </p:sp>
      <p:sp>
        <p:nvSpPr>
          <p:cNvPr id="315" name="Google Shape;315;p8"/>
          <p:cNvSpPr/>
          <p:nvPr/>
        </p:nvSpPr>
        <p:spPr>
          <a:xfrm>
            <a:off x="9575750" y="6029325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Operaciones: 2 intercambios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/>
          <p:nvPr/>
        </p:nvSpPr>
        <p:spPr>
          <a:xfrm>
            <a:off x="381000" y="381000"/>
            <a:ext cx="76200" cy="457200"/>
          </a:xfrm>
          <a:custGeom>
            <a:rect b="b" l="l" r="r" t="t"/>
            <a:pathLst>
              <a:path extrusionOk="0" h="457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571500" y="381000"/>
            <a:ext cx="765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Ejemplo: Proceso de Ordenamiento</a:t>
            </a:r>
            <a:endParaRPr b="0" i="0" sz="1600" u="none" cap="none" strike="noStrike"/>
          </a:p>
        </p:txBody>
      </p:sp>
      <p:sp>
        <p:nvSpPr>
          <p:cNvPr id="323" name="Google Shape;323;p9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Max Heap inicial: [10, 5, 3, 4, 1]</a:t>
            </a:r>
            <a:endParaRPr b="0" i="0" sz="1600" u="none" cap="none" strike="noStrike"/>
          </a:p>
        </p:txBody>
      </p:sp>
      <p:sp>
        <p:nvSpPr>
          <p:cNvPr id="324" name="Google Shape;324;p9"/>
          <p:cNvSpPr/>
          <p:nvPr/>
        </p:nvSpPr>
        <p:spPr>
          <a:xfrm>
            <a:off x="385763" y="1338263"/>
            <a:ext cx="2762250" cy="4162425"/>
          </a:xfrm>
          <a:custGeom>
            <a:rect b="b" l="l" r="r" t="t"/>
            <a:pathLst>
              <a:path extrusionOk="0" h="4162425" w="2762250">
                <a:moveTo>
                  <a:pt x="114302" y="0"/>
                </a:moveTo>
                <a:lnTo>
                  <a:pt x="2647948" y="0"/>
                </a:lnTo>
                <a:cubicBezTo>
                  <a:pt x="2711075" y="0"/>
                  <a:pt x="2762250" y="51175"/>
                  <a:pt x="2762250" y="114302"/>
                </a:cubicBezTo>
                <a:lnTo>
                  <a:pt x="2762250" y="4048123"/>
                </a:lnTo>
                <a:cubicBezTo>
                  <a:pt x="2762250" y="4111250"/>
                  <a:pt x="2711075" y="4162425"/>
                  <a:pt x="2647948" y="4162425"/>
                </a:cubicBezTo>
                <a:lnTo>
                  <a:pt x="114302" y="4162425"/>
                </a:lnTo>
                <a:cubicBezTo>
                  <a:pt x="51175" y="4162425"/>
                  <a:pt x="0" y="4111250"/>
                  <a:pt x="0" y="40481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1337221" y="1462088"/>
            <a:ext cx="857250" cy="314325"/>
          </a:xfrm>
          <a:custGeom>
            <a:rect b="b" l="l" r="r" t="t"/>
            <a:pathLst>
              <a:path extrusionOk="0" h="314325" w="857250">
                <a:moveTo>
                  <a:pt x="157163" y="0"/>
                </a:moveTo>
                <a:lnTo>
                  <a:pt x="700088" y="0"/>
                </a:lnTo>
                <a:cubicBezTo>
                  <a:pt x="786828" y="0"/>
                  <a:pt x="857250" y="70422"/>
                  <a:pt x="857250" y="157163"/>
                </a:cubicBezTo>
                <a:lnTo>
                  <a:pt x="857250" y="157163"/>
                </a:lnTo>
                <a:cubicBezTo>
                  <a:pt x="857250" y="243903"/>
                  <a:pt x="786828" y="314325"/>
                  <a:pt x="700088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1422946" y="1533525"/>
            <a:ext cx="687884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Iteración 1</a:t>
            </a:r>
            <a:endParaRPr b="0" i="0" sz="1600" u="none" cap="none" strike="noStrike"/>
          </a:p>
        </p:txBody>
      </p:sp>
      <p:sp>
        <p:nvSpPr>
          <p:cNvPr id="327" name="Google Shape;327;p9"/>
          <p:cNvSpPr/>
          <p:nvPr/>
        </p:nvSpPr>
        <p:spPr>
          <a:xfrm>
            <a:off x="1547813" y="22860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F4444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1500188" y="22764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600" u="none" cap="none" strike="noStrike"/>
          </a:p>
        </p:txBody>
      </p:sp>
      <p:sp>
        <p:nvSpPr>
          <p:cNvPr id="329" name="Google Shape;329;p9"/>
          <p:cNvSpPr/>
          <p:nvPr/>
        </p:nvSpPr>
        <p:spPr>
          <a:xfrm>
            <a:off x="1233488" y="28098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1195388" y="28098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/>
          </a:p>
        </p:txBody>
      </p:sp>
      <p:sp>
        <p:nvSpPr>
          <p:cNvPr id="331" name="Google Shape;331;p9"/>
          <p:cNvSpPr/>
          <p:nvPr/>
        </p:nvSpPr>
        <p:spPr>
          <a:xfrm>
            <a:off x="1843088" y="28098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1804988" y="28098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333" name="Google Shape;333;p9"/>
          <p:cNvSpPr/>
          <p:nvPr/>
        </p:nvSpPr>
        <p:spPr>
          <a:xfrm>
            <a:off x="1271588" y="3343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1233488" y="33432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335" name="Google Shape;335;p9"/>
          <p:cNvSpPr/>
          <p:nvPr/>
        </p:nvSpPr>
        <p:spPr>
          <a:xfrm>
            <a:off x="1814513" y="33528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22C55E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1766888" y="33432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337" name="Google Shape;337;p9"/>
          <p:cNvSpPr/>
          <p:nvPr/>
        </p:nvSpPr>
        <p:spPr>
          <a:xfrm>
            <a:off x="504825" y="42957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Intercambiar: 10 ↔ 1</a:t>
            </a:r>
            <a:endParaRPr b="0" i="0" sz="1600" u="none" cap="none" strike="noStrike"/>
          </a:p>
        </p:txBody>
      </p:sp>
      <p:sp>
        <p:nvSpPr>
          <p:cNvPr id="338" name="Google Shape;338;p9"/>
          <p:cNvSpPr/>
          <p:nvPr/>
        </p:nvSpPr>
        <p:spPr>
          <a:xfrm>
            <a:off x="504825" y="45243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Heapify raíz</a:t>
            </a:r>
            <a:endParaRPr b="0" i="0" sz="1600" u="none" cap="none" strike="noStrike"/>
          </a:p>
        </p:txBody>
      </p:sp>
      <p:sp>
        <p:nvSpPr>
          <p:cNvPr id="339" name="Google Shape;339;p9"/>
          <p:cNvSpPr/>
          <p:nvPr/>
        </p:nvSpPr>
        <p:spPr>
          <a:xfrm>
            <a:off x="504825" y="47529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 Resultado: [5, 4, 3, 1]</a:t>
            </a:r>
            <a:endParaRPr b="0" i="0" sz="1600" u="none" cap="none" strike="noStrike"/>
          </a:p>
        </p:txBody>
      </p:sp>
      <p:sp>
        <p:nvSpPr>
          <p:cNvPr id="340" name="Google Shape;340;p9"/>
          <p:cNvSpPr/>
          <p:nvPr/>
        </p:nvSpPr>
        <p:spPr>
          <a:xfrm>
            <a:off x="509587" y="5024438"/>
            <a:ext cx="2514600" cy="352425"/>
          </a:xfrm>
          <a:custGeom>
            <a:rect b="b" l="l" r="r" t="t"/>
            <a:pathLst>
              <a:path extrusionOk="0" h="352425" w="2514600">
                <a:moveTo>
                  <a:pt x="38101" y="0"/>
                </a:moveTo>
                <a:lnTo>
                  <a:pt x="2476499" y="0"/>
                </a:lnTo>
                <a:cubicBezTo>
                  <a:pt x="2497542" y="0"/>
                  <a:pt x="2514600" y="17058"/>
                  <a:pt x="2514600" y="38101"/>
                </a:cubicBezTo>
                <a:lnTo>
                  <a:pt x="2514600" y="314324"/>
                </a:lnTo>
                <a:cubicBezTo>
                  <a:pt x="2514600" y="335367"/>
                  <a:pt x="2497542" y="352425"/>
                  <a:pt x="2476499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471488" y="5019675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[1, 5, 3, 4, </a:t>
            </a:r>
            <a:r>
              <a:rPr b="0" i="0" lang="en-US" sz="10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600" u="none" cap="none" strike="noStrike"/>
          </a:p>
        </p:txBody>
      </p:sp>
      <p:sp>
        <p:nvSpPr>
          <p:cNvPr id="342" name="Google Shape;342;p9"/>
          <p:cNvSpPr/>
          <p:nvPr/>
        </p:nvSpPr>
        <p:spPr>
          <a:xfrm>
            <a:off x="3271838" y="1338263"/>
            <a:ext cx="2762250" cy="4162425"/>
          </a:xfrm>
          <a:custGeom>
            <a:rect b="b" l="l" r="r" t="t"/>
            <a:pathLst>
              <a:path extrusionOk="0" h="4162425" w="2762250">
                <a:moveTo>
                  <a:pt x="114302" y="0"/>
                </a:moveTo>
                <a:lnTo>
                  <a:pt x="2647948" y="0"/>
                </a:lnTo>
                <a:cubicBezTo>
                  <a:pt x="2711075" y="0"/>
                  <a:pt x="2762250" y="51175"/>
                  <a:pt x="2762250" y="114302"/>
                </a:cubicBezTo>
                <a:lnTo>
                  <a:pt x="2762250" y="4048123"/>
                </a:lnTo>
                <a:cubicBezTo>
                  <a:pt x="2762250" y="4111250"/>
                  <a:pt x="2711075" y="4162425"/>
                  <a:pt x="2647948" y="4162425"/>
                </a:cubicBezTo>
                <a:lnTo>
                  <a:pt x="114302" y="4162425"/>
                </a:lnTo>
                <a:cubicBezTo>
                  <a:pt x="51175" y="4162425"/>
                  <a:pt x="0" y="4111250"/>
                  <a:pt x="0" y="40481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211985" y="1462088"/>
            <a:ext cx="885825" cy="314325"/>
          </a:xfrm>
          <a:custGeom>
            <a:rect b="b" l="l" r="r" t="t"/>
            <a:pathLst>
              <a:path extrusionOk="0" h="314325" w="885825">
                <a:moveTo>
                  <a:pt x="157163" y="0"/>
                </a:moveTo>
                <a:lnTo>
                  <a:pt x="728663" y="0"/>
                </a:lnTo>
                <a:cubicBezTo>
                  <a:pt x="815403" y="0"/>
                  <a:pt x="885825" y="70422"/>
                  <a:pt x="885825" y="157163"/>
                </a:cubicBezTo>
                <a:lnTo>
                  <a:pt x="885825" y="157163"/>
                </a:lnTo>
                <a:cubicBezTo>
                  <a:pt x="885825" y="243903"/>
                  <a:pt x="815403" y="314325"/>
                  <a:pt x="7286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297710" y="1533525"/>
            <a:ext cx="71035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Iteración 2</a:t>
            </a:r>
            <a:endParaRPr b="0" i="0" sz="1600" u="none" cap="none" strike="noStrike"/>
          </a:p>
        </p:txBody>
      </p:sp>
      <p:sp>
        <p:nvSpPr>
          <p:cNvPr id="345" name="Google Shape;345;p9"/>
          <p:cNvSpPr/>
          <p:nvPr/>
        </p:nvSpPr>
        <p:spPr>
          <a:xfrm>
            <a:off x="4433888" y="22860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F4444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4386263" y="22764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/>
          </a:p>
        </p:txBody>
      </p:sp>
      <p:sp>
        <p:nvSpPr>
          <p:cNvPr id="347" name="Google Shape;347;p9"/>
          <p:cNvSpPr/>
          <p:nvPr/>
        </p:nvSpPr>
        <p:spPr>
          <a:xfrm>
            <a:off x="4119562" y="28098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4081463" y="28098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349" name="Google Shape;349;p9"/>
          <p:cNvSpPr/>
          <p:nvPr/>
        </p:nvSpPr>
        <p:spPr>
          <a:xfrm>
            <a:off x="4729163" y="28098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4691063" y="28098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351" name="Google Shape;351;p9"/>
          <p:cNvSpPr/>
          <p:nvPr/>
        </p:nvSpPr>
        <p:spPr>
          <a:xfrm>
            <a:off x="4243388" y="33528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22C55E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4195763" y="33432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353" name="Google Shape;353;p9"/>
          <p:cNvSpPr/>
          <p:nvPr/>
        </p:nvSpPr>
        <p:spPr>
          <a:xfrm>
            <a:off x="3390900" y="42957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Intercambiar: 5 ↔ 1</a:t>
            </a:r>
            <a:endParaRPr b="0" i="0" sz="1600" u="none" cap="none" strike="noStrike"/>
          </a:p>
        </p:txBody>
      </p:sp>
      <p:sp>
        <p:nvSpPr>
          <p:cNvPr id="354" name="Google Shape;354;p9"/>
          <p:cNvSpPr/>
          <p:nvPr/>
        </p:nvSpPr>
        <p:spPr>
          <a:xfrm>
            <a:off x="3390900" y="45243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Heapify raíz</a:t>
            </a:r>
            <a:endParaRPr b="0" i="0" sz="1600" u="none" cap="none" strike="noStrike"/>
          </a:p>
        </p:txBody>
      </p:sp>
      <p:sp>
        <p:nvSpPr>
          <p:cNvPr id="355" name="Google Shape;355;p9"/>
          <p:cNvSpPr/>
          <p:nvPr/>
        </p:nvSpPr>
        <p:spPr>
          <a:xfrm>
            <a:off x="3390900" y="47529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 Resultado: [4, 1, 3]</a:t>
            </a:r>
            <a:endParaRPr b="0" i="0" sz="1600" u="none" cap="none" strike="noStrike"/>
          </a:p>
        </p:txBody>
      </p:sp>
      <p:sp>
        <p:nvSpPr>
          <p:cNvPr id="356" name="Google Shape;356;p9"/>
          <p:cNvSpPr/>
          <p:nvPr/>
        </p:nvSpPr>
        <p:spPr>
          <a:xfrm>
            <a:off x="3395663" y="5024438"/>
            <a:ext cx="2514600" cy="352425"/>
          </a:xfrm>
          <a:custGeom>
            <a:rect b="b" l="l" r="r" t="t"/>
            <a:pathLst>
              <a:path extrusionOk="0" h="352425" w="2514600">
                <a:moveTo>
                  <a:pt x="38101" y="0"/>
                </a:moveTo>
                <a:lnTo>
                  <a:pt x="2476499" y="0"/>
                </a:lnTo>
                <a:cubicBezTo>
                  <a:pt x="2497542" y="0"/>
                  <a:pt x="2514600" y="17058"/>
                  <a:pt x="2514600" y="38101"/>
                </a:cubicBezTo>
                <a:lnTo>
                  <a:pt x="2514600" y="314324"/>
                </a:lnTo>
                <a:cubicBezTo>
                  <a:pt x="2514600" y="335367"/>
                  <a:pt x="2497542" y="352425"/>
                  <a:pt x="2476499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3357563" y="5019675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[1, 4, 3, </a:t>
            </a:r>
            <a:r>
              <a:rPr b="0" i="0" lang="en-US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600" u="none" cap="none" strike="noStrike"/>
          </a:p>
        </p:txBody>
      </p:sp>
      <p:sp>
        <p:nvSpPr>
          <p:cNvPr id="358" name="Google Shape;358;p9"/>
          <p:cNvSpPr/>
          <p:nvPr/>
        </p:nvSpPr>
        <p:spPr>
          <a:xfrm>
            <a:off x="6157913" y="1338263"/>
            <a:ext cx="2762250" cy="4162425"/>
          </a:xfrm>
          <a:custGeom>
            <a:rect b="b" l="l" r="r" t="t"/>
            <a:pathLst>
              <a:path extrusionOk="0" h="4162425" w="2762250">
                <a:moveTo>
                  <a:pt x="114302" y="0"/>
                </a:moveTo>
                <a:lnTo>
                  <a:pt x="2647948" y="0"/>
                </a:lnTo>
                <a:cubicBezTo>
                  <a:pt x="2711075" y="0"/>
                  <a:pt x="2762250" y="51175"/>
                  <a:pt x="2762250" y="114302"/>
                </a:cubicBezTo>
                <a:lnTo>
                  <a:pt x="2762250" y="4048123"/>
                </a:lnTo>
                <a:cubicBezTo>
                  <a:pt x="2762250" y="4111250"/>
                  <a:pt x="2711075" y="4162425"/>
                  <a:pt x="2647948" y="4162425"/>
                </a:cubicBezTo>
                <a:lnTo>
                  <a:pt x="114302" y="4162425"/>
                </a:lnTo>
                <a:cubicBezTo>
                  <a:pt x="51175" y="4162425"/>
                  <a:pt x="0" y="4111250"/>
                  <a:pt x="0" y="40481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7096274" y="1462088"/>
            <a:ext cx="885825" cy="314325"/>
          </a:xfrm>
          <a:custGeom>
            <a:rect b="b" l="l" r="r" t="t"/>
            <a:pathLst>
              <a:path extrusionOk="0" h="314325" w="885825">
                <a:moveTo>
                  <a:pt x="157163" y="0"/>
                </a:moveTo>
                <a:lnTo>
                  <a:pt x="728663" y="0"/>
                </a:lnTo>
                <a:cubicBezTo>
                  <a:pt x="815403" y="0"/>
                  <a:pt x="885825" y="70422"/>
                  <a:pt x="885825" y="157163"/>
                </a:cubicBezTo>
                <a:lnTo>
                  <a:pt x="885825" y="157163"/>
                </a:lnTo>
                <a:cubicBezTo>
                  <a:pt x="885825" y="243903"/>
                  <a:pt x="815403" y="314325"/>
                  <a:pt x="7286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7181999" y="1533525"/>
            <a:ext cx="71392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Iteración 3</a:t>
            </a:r>
            <a:endParaRPr b="0" i="0" sz="1600" u="none" cap="none" strike="noStrike"/>
          </a:p>
        </p:txBody>
      </p:sp>
      <p:sp>
        <p:nvSpPr>
          <p:cNvPr id="361" name="Google Shape;361;p9"/>
          <p:cNvSpPr/>
          <p:nvPr/>
        </p:nvSpPr>
        <p:spPr>
          <a:xfrm>
            <a:off x="7319963" y="25146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F4444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7272338" y="25050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363" name="Google Shape;363;p9"/>
          <p:cNvSpPr/>
          <p:nvPr/>
        </p:nvSpPr>
        <p:spPr>
          <a:xfrm>
            <a:off x="7005638" y="30384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6967538" y="30384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365" name="Google Shape;365;p9"/>
          <p:cNvSpPr/>
          <p:nvPr/>
        </p:nvSpPr>
        <p:spPr>
          <a:xfrm>
            <a:off x="7615238" y="30384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7577138" y="3038475"/>
            <a:ext cx="5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367" name="Google Shape;367;p9"/>
          <p:cNvSpPr/>
          <p:nvPr/>
        </p:nvSpPr>
        <p:spPr>
          <a:xfrm>
            <a:off x="6276975" y="42957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Intercambiar: 4 ↔ 3</a:t>
            </a:r>
            <a:endParaRPr b="0" i="0" sz="1600" u="none" cap="none" strike="noStrike"/>
          </a:p>
        </p:txBody>
      </p:sp>
      <p:sp>
        <p:nvSpPr>
          <p:cNvPr id="368" name="Google Shape;368;p9"/>
          <p:cNvSpPr/>
          <p:nvPr/>
        </p:nvSpPr>
        <p:spPr>
          <a:xfrm>
            <a:off x="6276975" y="45243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Heapify raíz</a:t>
            </a:r>
            <a:endParaRPr b="0" i="0" sz="1600" u="none" cap="none" strike="noStrike"/>
          </a:p>
        </p:txBody>
      </p:sp>
      <p:sp>
        <p:nvSpPr>
          <p:cNvPr id="369" name="Google Shape;369;p9"/>
          <p:cNvSpPr/>
          <p:nvPr/>
        </p:nvSpPr>
        <p:spPr>
          <a:xfrm>
            <a:off x="6276975" y="47529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 Resultado: [3, 1]</a:t>
            </a:r>
            <a:endParaRPr b="0" i="0" sz="1600" u="none" cap="none" strike="noStrike"/>
          </a:p>
        </p:txBody>
      </p:sp>
      <p:sp>
        <p:nvSpPr>
          <p:cNvPr id="370" name="Google Shape;370;p9"/>
          <p:cNvSpPr/>
          <p:nvPr/>
        </p:nvSpPr>
        <p:spPr>
          <a:xfrm>
            <a:off x="6281738" y="5024438"/>
            <a:ext cx="2514600" cy="352425"/>
          </a:xfrm>
          <a:custGeom>
            <a:rect b="b" l="l" r="r" t="t"/>
            <a:pathLst>
              <a:path extrusionOk="0" h="352425" w="2514600">
                <a:moveTo>
                  <a:pt x="38101" y="0"/>
                </a:moveTo>
                <a:lnTo>
                  <a:pt x="2476499" y="0"/>
                </a:lnTo>
                <a:cubicBezTo>
                  <a:pt x="2497542" y="0"/>
                  <a:pt x="2514600" y="17058"/>
                  <a:pt x="2514600" y="38101"/>
                </a:cubicBezTo>
                <a:lnTo>
                  <a:pt x="2514600" y="314324"/>
                </a:lnTo>
                <a:cubicBezTo>
                  <a:pt x="2514600" y="335367"/>
                  <a:pt x="2497542" y="352425"/>
                  <a:pt x="2476499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243638" y="5019675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[1, 3, </a:t>
            </a:r>
            <a:r>
              <a:rPr b="0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600" u="none" cap="none" strike="noStrike"/>
          </a:p>
        </p:txBody>
      </p:sp>
      <p:sp>
        <p:nvSpPr>
          <p:cNvPr id="372" name="Google Shape;372;p9"/>
          <p:cNvSpPr/>
          <p:nvPr/>
        </p:nvSpPr>
        <p:spPr>
          <a:xfrm>
            <a:off x="9043988" y="1338263"/>
            <a:ext cx="2762250" cy="4162425"/>
          </a:xfrm>
          <a:custGeom>
            <a:rect b="b" l="l" r="r" t="t"/>
            <a:pathLst>
              <a:path extrusionOk="0" h="4162425" w="2762250">
                <a:moveTo>
                  <a:pt x="114302" y="0"/>
                </a:moveTo>
                <a:lnTo>
                  <a:pt x="2647948" y="0"/>
                </a:lnTo>
                <a:cubicBezTo>
                  <a:pt x="2711075" y="0"/>
                  <a:pt x="2762250" y="51175"/>
                  <a:pt x="2762250" y="114302"/>
                </a:cubicBezTo>
                <a:lnTo>
                  <a:pt x="2762250" y="4048123"/>
                </a:lnTo>
                <a:cubicBezTo>
                  <a:pt x="2762250" y="4111250"/>
                  <a:pt x="2711075" y="4162425"/>
                  <a:pt x="2647948" y="4162425"/>
                </a:cubicBezTo>
                <a:lnTo>
                  <a:pt x="114302" y="4162425"/>
                </a:lnTo>
                <a:cubicBezTo>
                  <a:pt x="51175" y="4162425"/>
                  <a:pt x="0" y="4111250"/>
                  <a:pt x="0" y="40481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9982498" y="1462088"/>
            <a:ext cx="885825" cy="314325"/>
          </a:xfrm>
          <a:custGeom>
            <a:rect b="b" l="l" r="r" t="t"/>
            <a:pathLst>
              <a:path extrusionOk="0" h="314325" w="885825">
                <a:moveTo>
                  <a:pt x="157163" y="0"/>
                </a:moveTo>
                <a:lnTo>
                  <a:pt x="728663" y="0"/>
                </a:lnTo>
                <a:cubicBezTo>
                  <a:pt x="815403" y="0"/>
                  <a:pt x="885825" y="70422"/>
                  <a:pt x="885825" y="157163"/>
                </a:cubicBezTo>
                <a:lnTo>
                  <a:pt x="885825" y="157163"/>
                </a:lnTo>
                <a:cubicBezTo>
                  <a:pt x="885825" y="243903"/>
                  <a:pt x="815403" y="314325"/>
                  <a:pt x="7286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10068223" y="1533525"/>
            <a:ext cx="713631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Iteración 4</a:t>
            </a:r>
            <a:endParaRPr b="0" i="0" sz="1600" u="none" cap="none" strike="noStrike"/>
          </a:p>
        </p:txBody>
      </p:sp>
      <p:sp>
        <p:nvSpPr>
          <p:cNvPr id="375" name="Google Shape;375;p9"/>
          <p:cNvSpPr/>
          <p:nvPr/>
        </p:nvSpPr>
        <p:spPr>
          <a:xfrm>
            <a:off x="10206038" y="25146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EF4444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10158413" y="25050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377" name="Google Shape;377;p9"/>
          <p:cNvSpPr/>
          <p:nvPr/>
        </p:nvSpPr>
        <p:spPr>
          <a:xfrm>
            <a:off x="9939338" y="3048000"/>
            <a:ext cx="438150" cy="438150"/>
          </a:xfrm>
          <a:custGeom>
            <a:rect b="b" l="l" r="r" t="t"/>
            <a:pathLst>
              <a:path extrusionOk="0" h="438150" w="438150">
                <a:moveTo>
                  <a:pt x="219075" y="0"/>
                </a:moveTo>
                <a:lnTo>
                  <a:pt x="219075" y="0"/>
                </a:lnTo>
                <a:cubicBezTo>
                  <a:pt x="339986" y="0"/>
                  <a:pt x="438150" y="98164"/>
                  <a:pt x="438150" y="219075"/>
                </a:cubicBezTo>
                <a:lnTo>
                  <a:pt x="438150" y="219075"/>
                </a:lnTo>
                <a:cubicBezTo>
                  <a:pt x="438150" y="339986"/>
                  <a:pt x="339986" y="438150"/>
                  <a:pt x="219075" y="438150"/>
                </a:cubicBezTo>
                <a:lnTo>
                  <a:pt x="219075" y="438150"/>
                </a:lnTo>
                <a:cubicBezTo>
                  <a:pt x="98164" y="438150"/>
                  <a:pt x="0" y="339986"/>
                  <a:pt x="0" y="219075"/>
                </a:cubicBezTo>
                <a:lnTo>
                  <a:pt x="0" y="219075"/>
                </a:lnTo>
                <a:cubicBezTo>
                  <a:pt x="0" y="98164"/>
                  <a:pt x="98164" y="0"/>
                  <a:pt x="219075" y="0"/>
                </a:cubicBezTo>
                <a:close/>
              </a:path>
            </a:pathLst>
          </a:custGeom>
          <a:solidFill>
            <a:srgbClr val="22C55E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9891713" y="3038475"/>
            <a:ext cx="495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379" name="Google Shape;379;p9"/>
          <p:cNvSpPr/>
          <p:nvPr/>
        </p:nvSpPr>
        <p:spPr>
          <a:xfrm>
            <a:off x="9163050" y="42957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Intercambiar: 3 ↔ 1</a:t>
            </a:r>
            <a:endParaRPr b="0" i="0" sz="1600" u="none" cap="none" strike="noStrike"/>
          </a:p>
        </p:txBody>
      </p:sp>
      <p:sp>
        <p:nvSpPr>
          <p:cNvPr id="380" name="Google Shape;380;p9"/>
          <p:cNvSpPr/>
          <p:nvPr/>
        </p:nvSpPr>
        <p:spPr>
          <a:xfrm>
            <a:off x="9163050" y="45243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• Heap size = 1</a:t>
            </a:r>
            <a:endParaRPr b="0" i="0" sz="1600" u="none" cap="none" strike="noStrike"/>
          </a:p>
        </p:txBody>
      </p:sp>
      <p:sp>
        <p:nvSpPr>
          <p:cNvPr id="381" name="Google Shape;381;p9"/>
          <p:cNvSpPr/>
          <p:nvPr/>
        </p:nvSpPr>
        <p:spPr>
          <a:xfrm>
            <a:off x="9163050" y="4752975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• ¡Terminado!</a:t>
            </a:r>
            <a:endParaRPr b="0" i="0" sz="1600" u="none" cap="none" strike="noStrike"/>
          </a:p>
        </p:txBody>
      </p:sp>
      <p:sp>
        <p:nvSpPr>
          <p:cNvPr id="382" name="Google Shape;382;p9"/>
          <p:cNvSpPr/>
          <p:nvPr/>
        </p:nvSpPr>
        <p:spPr>
          <a:xfrm>
            <a:off x="9167813" y="5024438"/>
            <a:ext cx="2514600" cy="352425"/>
          </a:xfrm>
          <a:custGeom>
            <a:rect b="b" l="l" r="r" t="t"/>
            <a:pathLst>
              <a:path extrusionOk="0" h="352425" w="2514600">
                <a:moveTo>
                  <a:pt x="38101" y="0"/>
                </a:moveTo>
                <a:lnTo>
                  <a:pt x="2476499" y="0"/>
                </a:lnTo>
                <a:cubicBezTo>
                  <a:pt x="2497542" y="0"/>
                  <a:pt x="2514600" y="17058"/>
                  <a:pt x="2514600" y="38101"/>
                </a:cubicBezTo>
                <a:lnTo>
                  <a:pt x="2514600" y="314324"/>
                </a:lnTo>
                <a:cubicBezTo>
                  <a:pt x="2514600" y="335367"/>
                  <a:pt x="2497542" y="352425"/>
                  <a:pt x="2476499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9129713" y="5019675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[1, </a:t>
            </a:r>
            <a:r>
              <a:rPr b="0" i="0" lang="en-US" sz="105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600" u="none" cap="none" strike="noStrike"/>
          </a:p>
        </p:txBody>
      </p:sp>
      <p:sp>
        <p:nvSpPr>
          <p:cNvPr id="384" name="Google Shape;384;p9"/>
          <p:cNvSpPr/>
          <p:nvPr/>
        </p:nvSpPr>
        <p:spPr>
          <a:xfrm>
            <a:off x="385763" y="5662613"/>
            <a:ext cx="11420475" cy="809625"/>
          </a:xfrm>
          <a:custGeom>
            <a:rect b="b" l="l" r="r" t="t"/>
            <a:pathLst>
              <a:path extrusionOk="0" h="809625" w="1142047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733423"/>
                </a:lnTo>
                <a:cubicBezTo>
                  <a:pt x="11420475" y="775508"/>
                  <a:pt x="11386358" y="809625"/>
                  <a:pt x="113442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581025" y="5924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1014413" y="5819775"/>
            <a:ext cx="3162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¡Arreglo Ordenado!</a:t>
            </a:r>
            <a:endParaRPr b="0" i="0" sz="1600" u="none" cap="none" strike="noStrike"/>
          </a:p>
        </p:txBody>
      </p:sp>
      <p:sp>
        <p:nvSpPr>
          <p:cNvPr id="387" name="Google Shape;387;p9"/>
          <p:cNvSpPr/>
          <p:nvPr/>
        </p:nvSpPr>
        <p:spPr>
          <a:xfrm>
            <a:off x="1014413" y="608647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[1, 3, 4, 5, 10] - Orden ascendente completo</a:t>
            </a:r>
            <a:endParaRPr b="0" i="0" sz="1600" u="none" cap="none" strike="noStrike"/>
          </a:p>
        </p:txBody>
      </p:sp>
      <p:sp>
        <p:nvSpPr>
          <p:cNvPr id="388" name="Google Shape;388;p9"/>
          <p:cNvSpPr/>
          <p:nvPr/>
        </p:nvSpPr>
        <p:spPr>
          <a:xfrm>
            <a:off x="10244286" y="5838825"/>
            <a:ext cx="1400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Total iteraciones: 4</a:t>
            </a:r>
            <a:endParaRPr b="0" i="0" sz="1600" u="none" cap="none" strike="noStrike"/>
          </a:p>
        </p:txBody>
      </p:sp>
      <p:sp>
        <p:nvSpPr>
          <p:cNvPr id="389" name="Google Shape;389;p9"/>
          <p:cNvSpPr/>
          <p:nvPr/>
        </p:nvSpPr>
        <p:spPr>
          <a:xfrm>
            <a:off x="10244286" y="6067425"/>
            <a:ext cx="1400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Total heapify: 4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"/>
          <p:cNvSpPr/>
          <p:nvPr/>
        </p:nvSpPr>
        <p:spPr>
          <a:xfrm>
            <a:off x="381000" y="381000"/>
            <a:ext cx="76200" cy="457200"/>
          </a:xfrm>
          <a:custGeom>
            <a:rect b="b" l="l" r="r" t="t"/>
            <a:pathLst>
              <a:path extrusionOk="0" h="457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571500" y="381000"/>
            <a:ext cx="9020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Tabla de Valores: Operaciones vs Tamaño</a:t>
            </a:r>
            <a:endParaRPr b="0" i="0" sz="1600" u="none" cap="none" strike="noStrike"/>
          </a:p>
        </p:txBody>
      </p:sp>
      <p:sp>
        <p:nvSpPr>
          <p:cNvPr id="397" name="Google Shape;397;p10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Crecimiento del número de operaciones según el tamaño de entrada</a:t>
            </a:r>
            <a:endParaRPr b="0" i="0" sz="1600" u="none" cap="none" strike="noStrike"/>
          </a:p>
        </p:txBody>
      </p:sp>
      <p:sp>
        <p:nvSpPr>
          <p:cNvPr id="398" name="Google Shape;398;p10"/>
          <p:cNvSpPr/>
          <p:nvPr/>
        </p:nvSpPr>
        <p:spPr>
          <a:xfrm>
            <a:off x="385763" y="1338263"/>
            <a:ext cx="11420475" cy="3505200"/>
          </a:xfrm>
          <a:custGeom>
            <a:rect b="b" l="l" r="r" t="t"/>
            <a:pathLst>
              <a:path extrusionOk="0" h="3505200" w="11420475">
                <a:moveTo>
                  <a:pt x="114305" y="0"/>
                </a:moveTo>
                <a:lnTo>
                  <a:pt x="11306170" y="0"/>
                </a:lnTo>
                <a:cubicBezTo>
                  <a:pt x="11369299" y="0"/>
                  <a:pt x="11420475" y="51176"/>
                  <a:pt x="11420475" y="114305"/>
                </a:cubicBezTo>
                <a:lnTo>
                  <a:pt x="11420475" y="3390895"/>
                </a:lnTo>
                <a:cubicBezTo>
                  <a:pt x="11420475" y="3454024"/>
                  <a:pt x="11369299" y="3505200"/>
                  <a:pt x="11306170" y="3505200"/>
                </a:cubicBezTo>
                <a:lnTo>
                  <a:pt x="114305" y="3505200"/>
                </a:lnTo>
                <a:cubicBezTo>
                  <a:pt x="51176" y="3505200"/>
                  <a:pt x="0" y="3454024"/>
                  <a:pt x="0" y="33908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9" name="Google Shape;399;p10"/>
          <p:cNvGraphicFramePr/>
          <p:nvPr/>
        </p:nvGraphicFramePr>
        <p:xfrm>
          <a:off x="390525" y="134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{887F9327-847C-4EDB-A2DB-095B8445EB99}</a:tableStyleId>
              </a:tblPr>
              <a:tblGrid>
                <a:gridCol w="2028825"/>
                <a:gridCol w="2095500"/>
                <a:gridCol w="1885950"/>
                <a:gridCol w="3095625"/>
                <a:gridCol w="2305050"/>
              </a:tblGrid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Tamaño (n)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Heap SortO(n log n)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LinealO(n)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CuadráticoO(n²)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Comparación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~33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3.3x vs n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~664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6.6x vs n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~9,966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1,000,000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10x vs n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~132,877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100,000,000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13x vs n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~1,660,964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10,000,000,000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16.6x vs n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1,000,000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~19,931,569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1,000,000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1,000,000,000,000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19.9x vs n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00" name="Google Shape;400;p10"/>
          <p:cNvSpPr/>
          <p:nvPr/>
        </p:nvSpPr>
        <p:spPr>
          <a:xfrm>
            <a:off x="385763" y="5005388"/>
            <a:ext cx="3695700" cy="1400175"/>
          </a:xfrm>
          <a:custGeom>
            <a:rect b="b" l="l" r="r" t="t"/>
            <a:pathLst>
              <a:path extrusionOk="0" h="1400175" w="3695700">
                <a:moveTo>
                  <a:pt x="114296" y="0"/>
                </a:moveTo>
                <a:lnTo>
                  <a:pt x="3581404" y="0"/>
                </a:lnTo>
                <a:cubicBezTo>
                  <a:pt x="3644486" y="0"/>
                  <a:pt x="3695700" y="51214"/>
                  <a:pt x="3695700" y="114296"/>
                </a:cubicBezTo>
                <a:lnTo>
                  <a:pt x="3695700" y="1285879"/>
                </a:lnTo>
                <a:cubicBezTo>
                  <a:pt x="3695700" y="1348961"/>
                  <a:pt x="3644486" y="1400175"/>
                  <a:pt x="35814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566738" y="52006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57250" y="51625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Heap Sort O(n log n)</a:t>
            </a:r>
            <a:endParaRPr b="0" i="0" sz="1600" u="none" cap="none" strike="noStrike"/>
          </a:p>
        </p:txBody>
      </p:sp>
      <p:sp>
        <p:nvSpPr>
          <p:cNvPr id="403" name="Google Shape;403;p10"/>
          <p:cNvSpPr/>
          <p:nvPr/>
        </p:nvSpPr>
        <p:spPr>
          <a:xfrm>
            <a:off x="542925" y="5505450"/>
            <a:ext cx="34575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Crece de forma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logarítmica moderada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 Para n=1M, solo ~20M operaciones vs 1 billón en O(n²).</a:t>
            </a:r>
            <a:endParaRPr b="0" i="0" sz="1600" u="none" cap="none" strike="noStrike"/>
          </a:p>
        </p:txBody>
      </p:sp>
      <p:sp>
        <p:nvSpPr>
          <p:cNvPr id="404" name="Google Shape;404;p10"/>
          <p:cNvSpPr/>
          <p:nvPr/>
        </p:nvSpPr>
        <p:spPr>
          <a:xfrm>
            <a:off x="4246513" y="5005388"/>
            <a:ext cx="3695700" cy="1400175"/>
          </a:xfrm>
          <a:custGeom>
            <a:rect b="b" l="l" r="r" t="t"/>
            <a:pathLst>
              <a:path extrusionOk="0" h="1400175" w="3695700">
                <a:moveTo>
                  <a:pt x="114296" y="0"/>
                </a:moveTo>
                <a:lnTo>
                  <a:pt x="3581404" y="0"/>
                </a:lnTo>
                <a:cubicBezTo>
                  <a:pt x="3644486" y="0"/>
                  <a:pt x="3695700" y="51214"/>
                  <a:pt x="3695700" y="114296"/>
                </a:cubicBezTo>
                <a:lnTo>
                  <a:pt x="3695700" y="1285879"/>
                </a:lnTo>
                <a:cubicBezTo>
                  <a:pt x="3695700" y="1348961"/>
                  <a:pt x="3644486" y="1400175"/>
                  <a:pt x="35814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4439394" y="5200650"/>
            <a:ext cx="166688" cy="190500"/>
          </a:xfrm>
          <a:custGeom>
            <a:rect b="b" l="l" r="r" t="t"/>
            <a:pathLst>
              <a:path extrusionOk="0" h="190500" w="166688">
                <a:moveTo>
                  <a:pt x="0" y="95250"/>
                </a:moveTo>
                <a:cubicBezTo>
                  <a:pt x="0" y="88664"/>
                  <a:pt x="5321" y="83344"/>
                  <a:pt x="11906" y="83344"/>
                </a:cubicBezTo>
                <a:lnTo>
                  <a:pt x="154781" y="83344"/>
                </a:lnTo>
                <a:cubicBezTo>
                  <a:pt x="161367" y="83344"/>
                  <a:pt x="166688" y="88664"/>
                  <a:pt x="166688" y="95250"/>
                </a:cubicBezTo>
                <a:cubicBezTo>
                  <a:pt x="166688" y="101836"/>
                  <a:pt x="161367" y="107156"/>
                  <a:pt x="154781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4718000" y="5162550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Lineal O(n)</a:t>
            </a:r>
            <a:endParaRPr b="0" i="0" sz="1600" u="none" cap="none" strike="noStrike"/>
          </a:p>
        </p:txBody>
      </p:sp>
      <p:sp>
        <p:nvSpPr>
          <p:cNvPr id="407" name="Google Shape;407;p10"/>
          <p:cNvSpPr/>
          <p:nvPr/>
        </p:nvSpPr>
        <p:spPr>
          <a:xfrm>
            <a:off x="4403675" y="5505450"/>
            <a:ext cx="34575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Crecimiento proporcional. Ideal pero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no alcanzable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para ordenamiento basado en comparaciones.</a:t>
            </a:r>
            <a:endParaRPr b="0" i="0" sz="1600" u="none" cap="none" strike="noStrike"/>
          </a:p>
        </p:txBody>
      </p:sp>
      <p:sp>
        <p:nvSpPr>
          <p:cNvPr id="408" name="Google Shape;408;p10"/>
          <p:cNvSpPr/>
          <p:nvPr/>
        </p:nvSpPr>
        <p:spPr>
          <a:xfrm>
            <a:off x="8107263" y="5005388"/>
            <a:ext cx="3695700" cy="1400175"/>
          </a:xfrm>
          <a:custGeom>
            <a:rect b="b" l="l" r="r" t="t"/>
            <a:pathLst>
              <a:path extrusionOk="0" h="1400175" w="3695700">
                <a:moveTo>
                  <a:pt x="114296" y="0"/>
                </a:moveTo>
                <a:lnTo>
                  <a:pt x="3581404" y="0"/>
                </a:lnTo>
                <a:cubicBezTo>
                  <a:pt x="3644486" y="0"/>
                  <a:pt x="3695700" y="51214"/>
                  <a:pt x="3695700" y="114296"/>
                </a:cubicBezTo>
                <a:lnTo>
                  <a:pt x="3695700" y="1285879"/>
                </a:lnTo>
                <a:cubicBezTo>
                  <a:pt x="3695700" y="1348961"/>
                  <a:pt x="3644486" y="1400175"/>
                  <a:pt x="35814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8288238" y="52006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8578751" y="5162550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Cuadrático O(n²)</a:t>
            </a:r>
            <a:endParaRPr b="0" i="0" sz="1600" u="none" cap="none" strike="noStrike"/>
          </a:p>
        </p:txBody>
      </p:sp>
      <p:sp>
        <p:nvSpPr>
          <p:cNvPr id="411" name="Google Shape;411;p10"/>
          <p:cNvSpPr/>
          <p:nvPr/>
        </p:nvSpPr>
        <p:spPr>
          <a:xfrm>
            <a:off x="8264426" y="5505450"/>
            <a:ext cx="34575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Crecimiento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explosivo e impracticable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para grandes volúmenes de datos.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"/>
          <p:cNvSpPr/>
          <p:nvPr/>
        </p:nvSpPr>
        <p:spPr>
          <a:xfrm>
            <a:off x="381000" y="381000"/>
            <a:ext cx="76200" cy="457200"/>
          </a:xfrm>
          <a:custGeom>
            <a:rect b="b" l="l" r="r" t="t"/>
            <a:pathLst>
              <a:path extrusionOk="0" h="457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571500" y="381000"/>
            <a:ext cx="6076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Gráfica de Comportamiento</a:t>
            </a:r>
            <a:endParaRPr b="0" i="0" sz="1600" u="none" cap="none" strike="noStrike"/>
          </a:p>
        </p:txBody>
      </p:sp>
      <p:sp>
        <p:nvSpPr>
          <p:cNvPr id="419" name="Google Shape;419;p11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Comparación visual de complejidades algorítmicas</a:t>
            </a:r>
            <a:endParaRPr b="0" i="0" sz="1600" u="none" cap="none" strike="noStrike"/>
          </a:p>
        </p:txBody>
      </p:sp>
      <p:sp>
        <p:nvSpPr>
          <p:cNvPr id="420" name="Google Shape;420;p11"/>
          <p:cNvSpPr/>
          <p:nvPr/>
        </p:nvSpPr>
        <p:spPr>
          <a:xfrm>
            <a:off x="385763" y="1338263"/>
            <a:ext cx="6772275" cy="5153025"/>
          </a:xfrm>
          <a:custGeom>
            <a:rect b="b" l="l" r="r" t="t"/>
            <a:pathLst>
              <a:path extrusionOk="0" h="5153025" w="6772275">
                <a:moveTo>
                  <a:pt x="114294" y="0"/>
                </a:moveTo>
                <a:lnTo>
                  <a:pt x="6657981" y="0"/>
                </a:lnTo>
                <a:cubicBezTo>
                  <a:pt x="6721104" y="0"/>
                  <a:pt x="6772275" y="51171"/>
                  <a:pt x="6772275" y="114294"/>
                </a:cubicBezTo>
                <a:lnTo>
                  <a:pt x="6772275" y="5038731"/>
                </a:lnTo>
                <a:cubicBezTo>
                  <a:pt x="6772275" y="5101854"/>
                  <a:pt x="6721104" y="5153025"/>
                  <a:pt x="6657981" y="5153025"/>
                </a:cubicBezTo>
                <a:lnTo>
                  <a:pt x="114294" y="5153025"/>
                </a:lnTo>
                <a:cubicBezTo>
                  <a:pt x="51171" y="5153025"/>
                  <a:pt x="0" y="5101854"/>
                  <a:pt x="0" y="50387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img.moonshot.cn/pub/slides/26-03-26-02:26:15-d722hho7dlcdllag6ulg.png" id="421" name="Google Shape;4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33525"/>
            <a:ext cx="6381750" cy="4762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22" name="Google Shape;422;p11"/>
          <p:cNvSpPr/>
          <p:nvPr/>
        </p:nvSpPr>
        <p:spPr>
          <a:xfrm>
            <a:off x="7358063" y="1338263"/>
            <a:ext cx="4448175" cy="2219325"/>
          </a:xfrm>
          <a:custGeom>
            <a:rect b="b" l="l" r="r" t="t"/>
            <a:pathLst>
              <a:path extrusionOk="0" h="2219325" w="4448175">
                <a:moveTo>
                  <a:pt x="114295" y="0"/>
                </a:moveTo>
                <a:lnTo>
                  <a:pt x="4333880" y="0"/>
                </a:lnTo>
                <a:cubicBezTo>
                  <a:pt x="4397003" y="0"/>
                  <a:pt x="4448175" y="51172"/>
                  <a:pt x="4448175" y="114295"/>
                </a:cubicBezTo>
                <a:lnTo>
                  <a:pt x="4448175" y="2105030"/>
                </a:lnTo>
                <a:cubicBezTo>
                  <a:pt x="4448175" y="2168153"/>
                  <a:pt x="4397003" y="2219325"/>
                  <a:pt x="4333880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7577138" y="157162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7791450" y="1533525"/>
            <a:ext cx="3914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Heap Sort O(n log n)</a:t>
            </a:r>
            <a:endParaRPr b="0" i="0" sz="1600" u="none" cap="none" strike="noStrike"/>
          </a:p>
        </p:txBody>
      </p:sp>
      <p:sp>
        <p:nvSpPr>
          <p:cNvPr id="425" name="Google Shape;425;p11"/>
          <p:cNvSpPr/>
          <p:nvPr/>
        </p:nvSpPr>
        <p:spPr>
          <a:xfrm>
            <a:off x="7553325" y="1914525"/>
            <a:ext cx="4133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La curva verde muestra un crecimiento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suave y manejable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600" u="none" cap="none" strike="noStrike"/>
          </a:p>
        </p:txBody>
      </p:sp>
      <p:sp>
        <p:nvSpPr>
          <p:cNvPr id="426" name="Google Shape;426;p11"/>
          <p:cNvSpPr/>
          <p:nvPr/>
        </p:nvSpPr>
        <p:spPr>
          <a:xfrm>
            <a:off x="7581900" y="25622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7820025" y="2524125"/>
            <a:ext cx="24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Más rápido que O(n²) para n &gt; 20</a:t>
            </a:r>
            <a:endParaRPr b="0" i="0" sz="1600" u="none" cap="none" strike="noStrike"/>
          </a:p>
        </p:txBody>
      </p:sp>
      <p:sp>
        <p:nvSpPr>
          <p:cNvPr id="428" name="Google Shape;428;p11"/>
          <p:cNvSpPr/>
          <p:nvPr/>
        </p:nvSpPr>
        <p:spPr>
          <a:xfrm>
            <a:off x="7581900" y="28670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7820025" y="2828925"/>
            <a:ext cx="233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Ligeramente más lento que O(n)</a:t>
            </a:r>
            <a:endParaRPr b="0" i="0" sz="1600" u="none" cap="none" strike="noStrike"/>
          </a:p>
        </p:txBody>
      </p:sp>
      <p:sp>
        <p:nvSpPr>
          <p:cNvPr id="430" name="Google Shape;430;p11"/>
          <p:cNvSpPr/>
          <p:nvPr/>
        </p:nvSpPr>
        <p:spPr>
          <a:xfrm>
            <a:off x="7581900" y="31718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7820025" y="313372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Ideal para grandes datasets</a:t>
            </a:r>
            <a:endParaRPr b="0" i="0" sz="1600" u="none" cap="none" strike="noStrike"/>
          </a:p>
        </p:txBody>
      </p:sp>
      <p:sp>
        <p:nvSpPr>
          <p:cNvPr id="432" name="Google Shape;432;p11"/>
          <p:cNvSpPr/>
          <p:nvPr/>
        </p:nvSpPr>
        <p:spPr>
          <a:xfrm>
            <a:off x="7358063" y="3719512"/>
            <a:ext cx="4448175" cy="1838325"/>
          </a:xfrm>
          <a:custGeom>
            <a:rect b="b" l="l" r="r" t="t"/>
            <a:pathLst>
              <a:path extrusionOk="0" h="1838325" w="4448175">
                <a:moveTo>
                  <a:pt x="114307" y="0"/>
                </a:moveTo>
                <a:lnTo>
                  <a:pt x="4333868" y="0"/>
                </a:lnTo>
                <a:cubicBezTo>
                  <a:pt x="4396998" y="0"/>
                  <a:pt x="4448175" y="51177"/>
                  <a:pt x="4448175" y="114307"/>
                </a:cubicBezTo>
                <a:lnTo>
                  <a:pt x="4448175" y="1724018"/>
                </a:lnTo>
                <a:cubicBezTo>
                  <a:pt x="4448175" y="1787148"/>
                  <a:pt x="4396998" y="1838325"/>
                  <a:pt x="433386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7553325" y="3914775"/>
            <a:ext cx="415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Interpretación Intuitiva</a:t>
            </a:r>
            <a:endParaRPr b="0" i="0" sz="1600" u="none" cap="none" strike="noStrike"/>
          </a:p>
        </p:txBody>
      </p:sp>
      <p:sp>
        <p:nvSpPr>
          <p:cNvPr id="434" name="Google Shape;434;p11"/>
          <p:cNvSpPr/>
          <p:nvPr/>
        </p:nvSpPr>
        <p:spPr>
          <a:xfrm>
            <a:off x="7553325" y="4295775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O(n):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Si duplicas datos, duplicas tiempo (línea recta)</a:t>
            </a:r>
            <a:endParaRPr b="0" i="0" sz="1600" u="none" cap="none" strike="noStrike"/>
          </a:p>
        </p:txBody>
      </p:sp>
      <p:sp>
        <p:nvSpPr>
          <p:cNvPr id="435" name="Google Shape;435;p11"/>
          <p:cNvSpPr/>
          <p:nvPr/>
        </p:nvSpPr>
        <p:spPr>
          <a:xfrm>
            <a:off x="7553325" y="4600575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O(n log n):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Si duplicas datos, tiempo ≈ 2.3x (curva suave)</a:t>
            </a:r>
            <a:endParaRPr b="0" i="0" sz="1600" u="none" cap="none" strike="noStrike"/>
          </a:p>
        </p:txBody>
      </p:sp>
      <p:sp>
        <p:nvSpPr>
          <p:cNvPr id="436" name="Google Shape;436;p11"/>
          <p:cNvSpPr/>
          <p:nvPr/>
        </p:nvSpPr>
        <p:spPr>
          <a:xfrm>
            <a:off x="7553325" y="4905375"/>
            <a:ext cx="4133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O(n²):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Si duplicas datos, cuadruplicas tiempo (parábola pronunciada)</a:t>
            </a:r>
            <a:endParaRPr b="0" i="0" sz="1600" u="none" cap="none" strike="noStrike"/>
          </a:p>
        </p:txBody>
      </p:sp>
      <p:sp>
        <p:nvSpPr>
          <p:cNvPr id="437" name="Google Shape;437;p11"/>
          <p:cNvSpPr/>
          <p:nvPr/>
        </p:nvSpPr>
        <p:spPr>
          <a:xfrm>
            <a:off x="7358063" y="5719763"/>
            <a:ext cx="4448175" cy="771525"/>
          </a:xfrm>
          <a:custGeom>
            <a:rect b="b" l="l" r="r" t="t"/>
            <a:pathLst>
              <a:path extrusionOk="0" h="771525" w="4448175">
                <a:moveTo>
                  <a:pt x="76204" y="0"/>
                </a:moveTo>
                <a:lnTo>
                  <a:pt x="4371971" y="0"/>
                </a:lnTo>
                <a:cubicBezTo>
                  <a:pt x="4414058" y="0"/>
                  <a:pt x="4448175" y="34117"/>
                  <a:pt x="4448175" y="76204"/>
                </a:cubicBezTo>
                <a:lnTo>
                  <a:pt x="4448175" y="695321"/>
                </a:lnTo>
                <a:cubicBezTo>
                  <a:pt x="4448175" y="737408"/>
                  <a:pt x="4414058" y="771525"/>
                  <a:pt x="43719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7920930" y="5924550"/>
            <a:ext cx="114300" cy="152400"/>
          </a:xfrm>
          <a:custGeom>
            <a:rect b="b" l="l" r="r" t="t"/>
            <a:pathLst>
              <a:path extrusionOk="0" h="152400" w="1143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7724775" y="5876925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Heap Sort es óptimo para ordenamiento por comparación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"/>
          <p:cNvSpPr/>
          <p:nvPr/>
        </p:nvSpPr>
        <p:spPr>
          <a:xfrm>
            <a:off x="379813" y="379813"/>
            <a:ext cx="75963" cy="455776"/>
          </a:xfrm>
          <a:custGeom>
            <a:rect b="b" l="l" r="r" t="t"/>
            <a:pathLst>
              <a:path extrusionOk="0" h="455776" w="75963">
                <a:moveTo>
                  <a:pt x="37981" y="0"/>
                </a:moveTo>
                <a:lnTo>
                  <a:pt x="37981" y="0"/>
                </a:lnTo>
                <a:cubicBezTo>
                  <a:pt x="58944" y="0"/>
                  <a:pt x="75963" y="17019"/>
                  <a:pt x="75963" y="37981"/>
                </a:cubicBezTo>
                <a:lnTo>
                  <a:pt x="75963" y="417794"/>
                </a:lnTo>
                <a:cubicBezTo>
                  <a:pt x="75963" y="438757"/>
                  <a:pt x="58944" y="455776"/>
                  <a:pt x="37981" y="455776"/>
                </a:cubicBezTo>
                <a:lnTo>
                  <a:pt x="37981" y="455776"/>
                </a:lnTo>
                <a:cubicBezTo>
                  <a:pt x="17019" y="455776"/>
                  <a:pt x="0" y="438757"/>
                  <a:pt x="0" y="41779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569726" y="469723"/>
            <a:ext cx="10551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9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Análisis de Complejidad: T(n) = O(n log n)</a:t>
            </a:r>
            <a:endParaRPr b="0" i="0" sz="1600" u="none" cap="none" strike="noStrike"/>
          </a:p>
        </p:txBody>
      </p:sp>
      <p:sp>
        <p:nvSpPr>
          <p:cNvPr id="447" name="Google Shape;447;p12"/>
          <p:cNvSpPr/>
          <p:nvPr/>
        </p:nvSpPr>
        <p:spPr>
          <a:xfrm>
            <a:off x="569720" y="911551"/>
            <a:ext cx="11337421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5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¿Por qué Heap Sort es O(n log n)?</a:t>
            </a:r>
            <a:endParaRPr b="0" i="0" sz="1600" u="none" cap="none" strike="noStrike"/>
          </a:p>
        </p:txBody>
      </p:sp>
      <p:sp>
        <p:nvSpPr>
          <p:cNvPr id="448" name="Google Shape;448;p12"/>
          <p:cNvSpPr/>
          <p:nvPr/>
        </p:nvSpPr>
        <p:spPr>
          <a:xfrm>
            <a:off x="384561" y="1334093"/>
            <a:ext cx="5611738" cy="4510280"/>
          </a:xfrm>
          <a:custGeom>
            <a:rect b="b" l="l" r="r" t="t"/>
            <a:pathLst>
              <a:path extrusionOk="0" h="4510280" w="5611738">
                <a:moveTo>
                  <a:pt x="113930" y="0"/>
                </a:moveTo>
                <a:lnTo>
                  <a:pt x="5497809" y="0"/>
                </a:lnTo>
                <a:cubicBezTo>
                  <a:pt x="5560730" y="0"/>
                  <a:pt x="5611738" y="51008"/>
                  <a:pt x="5611738" y="113930"/>
                </a:cubicBezTo>
                <a:lnTo>
                  <a:pt x="5611738" y="4396351"/>
                </a:lnTo>
                <a:cubicBezTo>
                  <a:pt x="5611738" y="4459272"/>
                  <a:pt x="5560730" y="4510280"/>
                  <a:pt x="5497809" y="4510280"/>
                </a:cubicBezTo>
                <a:lnTo>
                  <a:pt x="113930" y="4510280"/>
                </a:lnTo>
                <a:cubicBezTo>
                  <a:pt x="51008" y="4510280"/>
                  <a:pt x="0" y="4459272"/>
                  <a:pt x="0" y="4396351"/>
                </a:cubicBezTo>
                <a:lnTo>
                  <a:pt x="0" y="113930"/>
                </a:lnTo>
                <a:cubicBezTo>
                  <a:pt x="0" y="51050"/>
                  <a:pt x="51050" y="0"/>
                  <a:pt x="11393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579215" y="1528748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531738" y="1528748"/>
            <a:ext cx="550729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451" name="Google Shape;451;p12"/>
          <p:cNvSpPr/>
          <p:nvPr/>
        </p:nvSpPr>
        <p:spPr>
          <a:xfrm>
            <a:off x="1148935" y="1604710"/>
            <a:ext cx="3256897" cy="30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Fase 1: Construcción del Heap</a:t>
            </a:r>
            <a:endParaRPr b="0" i="0" sz="1600" u="none" cap="none" strike="noStrike"/>
          </a:p>
        </p:txBody>
      </p:sp>
      <p:sp>
        <p:nvSpPr>
          <p:cNvPr id="452" name="Google Shape;452;p12"/>
          <p:cNvSpPr/>
          <p:nvPr/>
        </p:nvSpPr>
        <p:spPr>
          <a:xfrm>
            <a:off x="598206" y="2136449"/>
            <a:ext cx="5203439" cy="2240897"/>
          </a:xfrm>
          <a:custGeom>
            <a:rect b="b" l="l" r="r" t="t"/>
            <a:pathLst>
              <a:path extrusionOk="0" h="2240897" w="5203439">
                <a:moveTo>
                  <a:pt x="37981" y="0"/>
                </a:moveTo>
                <a:lnTo>
                  <a:pt x="5127473" y="0"/>
                </a:lnTo>
                <a:cubicBezTo>
                  <a:pt x="5169428" y="0"/>
                  <a:pt x="5203439" y="34011"/>
                  <a:pt x="5203439" y="75966"/>
                </a:cubicBezTo>
                <a:lnTo>
                  <a:pt x="5203439" y="2164931"/>
                </a:lnTo>
                <a:cubicBezTo>
                  <a:pt x="5203439" y="2206886"/>
                  <a:pt x="5169428" y="2240897"/>
                  <a:pt x="5127473" y="2240897"/>
                </a:cubicBezTo>
                <a:lnTo>
                  <a:pt x="37981" y="2240897"/>
                </a:lnTo>
                <a:cubicBezTo>
                  <a:pt x="17005" y="2240897"/>
                  <a:pt x="0" y="2223892"/>
                  <a:pt x="0" y="220291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598206" y="2136449"/>
            <a:ext cx="37981" cy="2240897"/>
          </a:xfrm>
          <a:custGeom>
            <a:rect b="b" l="l" r="r" t="t"/>
            <a:pathLst>
              <a:path extrusionOk="0" h="2240897" w="37981">
                <a:moveTo>
                  <a:pt x="37981" y="0"/>
                </a:moveTo>
                <a:lnTo>
                  <a:pt x="37981" y="0"/>
                </a:lnTo>
                <a:lnTo>
                  <a:pt x="37981" y="2240897"/>
                </a:lnTo>
                <a:lnTo>
                  <a:pt x="37981" y="2240897"/>
                </a:lnTo>
                <a:cubicBezTo>
                  <a:pt x="17005" y="2240897"/>
                  <a:pt x="0" y="2223892"/>
                  <a:pt x="0" y="220291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769121" y="2288374"/>
            <a:ext cx="4966056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Algoritmo de Floyd (Bottom-Up)</a:t>
            </a:r>
            <a:endParaRPr b="0" i="0" sz="1600" u="none" cap="none" strike="noStrike"/>
          </a:p>
        </p:txBody>
      </p:sp>
      <p:sp>
        <p:nvSpPr>
          <p:cNvPr id="455" name="Google Shape;455;p12"/>
          <p:cNvSpPr/>
          <p:nvPr/>
        </p:nvSpPr>
        <p:spPr>
          <a:xfrm>
            <a:off x="769121" y="2630206"/>
            <a:ext cx="4956561" cy="493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Comenzamos desde el último nodo no-hoja (n/2 - 1) y aplicamos heapify hacia atrás.</a:t>
            </a:r>
            <a:endParaRPr b="0" i="0" sz="1600" u="none" cap="none" strike="noStrike"/>
          </a:p>
        </p:txBody>
      </p:sp>
      <p:sp>
        <p:nvSpPr>
          <p:cNvPr id="456" name="Google Shape;456;p12"/>
          <p:cNvSpPr/>
          <p:nvPr/>
        </p:nvSpPr>
        <p:spPr>
          <a:xfrm>
            <a:off x="769121" y="3199925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La mitad de los nodos son hojas (sin trabajo)</a:t>
            </a:r>
            <a:endParaRPr b="0" i="0" sz="1600" u="none" cap="none" strike="noStrike"/>
          </a:p>
        </p:txBody>
      </p:sp>
      <p:sp>
        <p:nvSpPr>
          <p:cNvPr id="457" name="Google Shape;457;p12"/>
          <p:cNvSpPr/>
          <p:nvPr/>
        </p:nvSpPr>
        <p:spPr>
          <a:xfrm>
            <a:off x="769121" y="3465794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1/4 de nodos tienen altura 1 (1 operación)</a:t>
            </a:r>
            <a:endParaRPr b="0" i="0" sz="1600" u="none" cap="none" strike="noStrike"/>
          </a:p>
        </p:txBody>
      </p:sp>
      <p:sp>
        <p:nvSpPr>
          <p:cNvPr id="458" name="Google Shape;458;p12"/>
          <p:cNvSpPr/>
          <p:nvPr/>
        </p:nvSpPr>
        <p:spPr>
          <a:xfrm>
            <a:off x="769121" y="3731664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1/8 de nodos tienen altura 2 (2 operaciones)</a:t>
            </a:r>
            <a:endParaRPr b="0" i="0" sz="1600" u="none" cap="none" strike="noStrike"/>
          </a:p>
        </p:txBody>
      </p:sp>
      <p:sp>
        <p:nvSpPr>
          <p:cNvPr id="459" name="Google Shape;459;p12"/>
          <p:cNvSpPr/>
          <p:nvPr/>
        </p:nvSpPr>
        <p:spPr>
          <a:xfrm>
            <a:off x="769121" y="3997533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... y así sucesivamente</a:t>
            </a:r>
            <a:endParaRPr b="0" i="0" sz="1600" u="none" cap="none" strike="noStrike"/>
          </a:p>
        </p:txBody>
      </p:sp>
      <p:sp>
        <p:nvSpPr>
          <p:cNvPr id="460" name="Google Shape;460;p12"/>
          <p:cNvSpPr/>
          <p:nvPr/>
        </p:nvSpPr>
        <p:spPr>
          <a:xfrm>
            <a:off x="583963" y="4496037"/>
            <a:ext cx="5212935" cy="1148935"/>
          </a:xfrm>
          <a:custGeom>
            <a:rect b="b" l="l" r="r" t="t"/>
            <a:pathLst>
              <a:path extrusionOk="0" h="1148935" w="5212935">
                <a:moveTo>
                  <a:pt x="75968" y="0"/>
                </a:moveTo>
                <a:lnTo>
                  <a:pt x="5136967" y="0"/>
                </a:lnTo>
                <a:cubicBezTo>
                  <a:pt x="5178923" y="0"/>
                  <a:pt x="5212935" y="34012"/>
                  <a:pt x="5212935" y="75968"/>
                </a:cubicBezTo>
                <a:lnTo>
                  <a:pt x="5212935" y="1072967"/>
                </a:lnTo>
                <a:cubicBezTo>
                  <a:pt x="5212935" y="1114923"/>
                  <a:pt x="5178923" y="1148935"/>
                  <a:pt x="5136967" y="1148935"/>
                </a:cubicBezTo>
                <a:lnTo>
                  <a:pt x="75968" y="1148935"/>
                </a:lnTo>
                <a:cubicBezTo>
                  <a:pt x="34012" y="1148935"/>
                  <a:pt x="0" y="1114923"/>
                  <a:pt x="0" y="1072967"/>
                </a:cubicBezTo>
                <a:lnTo>
                  <a:pt x="0" y="75968"/>
                </a:lnTo>
                <a:cubicBezTo>
                  <a:pt x="0" y="34012"/>
                  <a:pt x="34012" y="0"/>
                  <a:pt x="75968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778617" y="4700187"/>
            <a:ext cx="113944" cy="151925"/>
          </a:xfrm>
          <a:custGeom>
            <a:rect b="b" l="l" r="r" t="t"/>
            <a:pathLst>
              <a:path extrusionOk="0" h="151925" w="113944">
                <a:moveTo>
                  <a:pt x="18991" y="0"/>
                </a:moveTo>
                <a:cubicBezTo>
                  <a:pt x="8516" y="0"/>
                  <a:pt x="0" y="8516"/>
                  <a:pt x="0" y="18991"/>
                </a:cubicBezTo>
                <a:lnTo>
                  <a:pt x="0" y="132935"/>
                </a:lnTo>
                <a:cubicBezTo>
                  <a:pt x="0" y="143409"/>
                  <a:pt x="8516" y="151925"/>
                  <a:pt x="18991" y="151925"/>
                </a:cubicBezTo>
                <a:lnTo>
                  <a:pt x="94953" y="151925"/>
                </a:lnTo>
                <a:cubicBezTo>
                  <a:pt x="105428" y="151925"/>
                  <a:pt x="113944" y="143409"/>
                  <a:pt x="113944" y="132935"/>
                </a:cubicBezTo>
                <a:lnTo>
                  <a:pt x="113944" y="18991"/>
                </a:lnTo>
                <a:cubicBezTo>
                  <a:pt x="113944" y="8516"/>
                  <a:pt x="105428" y="0"/>
                  <a:pt x="94953" y="0"/>
                </a:cubicBezTo>
                <a:lnTo>
                  <a:pt x="18991" y="0"/>
                </a:lnTo>
                <a:close/>
                <a:moveTo>
                  <a:pt x="28486" y="18991"/>
                </a:moveTo>
                <a:lnTo>
                  <a:pt x="85458" y="18991"/>
                </a:lnTo>
                <a:cubicBezTo>
                  <a:pt x="90710" y="18991"/>
                  <a:pt x="94953" y="23234"/>
                  <a:pt x="94953" y="28486"/>
                </a:cubicBezTo>
                <a:lnTo>
                  <a:pt x="94953" y="37981"/>
                </a:lnTo>
                <a:cubicBezTo>
                  <a:pt x="94953" y="43233"/>
                  <a:pt x="90710" y="47477"/>
                  <a:pt x="85458" y="47477"/>
                </a:cubicBezTo>
                <a:lnTo>
                  <a:pt x="28486" y="47477"/>
                </a:lnTo>
                <a:cubicBezTo>
                  <a:pt x="23234" y="47477"/>
                  <a:pt x="18991" y="43233"/>
                  <a:pt x="18991" y="37981"/>
                </a:cubicBezTo>
                <a:lnTo>
                  <a:pt x="18991" y="28486"/>
                </a:lnTo>
                <a:cubicBezTo>
                  <a:pt x="18991" y="23234"/>
                  <a:pt x="23234" y="18991"/>
                  <a:pt x="28486" y="18991"/>
                </a:cubicBezTo>
                <a:close/>
                <a:moveTo>
                  <a:pt x="33234" y="68841"/>
                </a:moveTo>
                <a:cubicBezTo>
                  <a:pt x="33234" y="72772"/>
                  <a:pt x="30043" y="75963"/>
                  <a:pt x="26112" y="75963"/>
                </a:cubicBezTo>
                <a:cubicBezTo>
                  <a:pt x="22182" y="75963"/>
                  <a:pt x="18991" y="72772"/>
                  <a:pt x="18991" y="68841"/>
                </a:cubicBezTo>
                <a:cubicBezTo>
                  <a:pt x="18991" y="64911"/>
                  <a:pt x="22182" y="61720"/>
                  <a:pt x="26112" y="61720"/>
                </a:cubicBezTo>
                <a:cubicBezTo>
                  <a:pt x="30043" y="61720"/>
                  <a:pt x="33234" y="64911"/>
                  <a:pt x="33234" y="68841"/>
                </a:cubicBezTo>
                <a:close/>
                <a:moveTo>
                  <a:pt x="56972" y="75963"/>
                </a:moveTo>
                <a:cubicBezTo>
                  <a:pt x="53042" y="75963"/>
                  <a:pt x="49850" y="72772"/>
                  <a:pt x="49850" y="68841"/>
                </a:cubicBezTo>
                <a:cubicBezTo>
                  <a:pt x="49850" y="64911"/>
                  <a:pt x="53042" y="61720"/>
                  <a:pt x="56972" y="61720"/>
                </a:cubicBezTo>
                <a:cubicBezTo>
                  <a:pt x="60902" y="61720"/>
                  <a:pt x="64093" y="64911"/>
                  <a:pt x="64093" y="68841"/>
                </a:cubicBezTo>
                <a:cubicBezTo>
                  <a:pt x="64093" y="72772"/>
                  <a:pt x="60902" y="75963"/>
                  <a:pt x="56972" y="75963"/>
                </a:cubicBezTo>
                <a:close/>
                <a:moveTo>
                  <a:pt x="94953" y="68841"/>
                </a:moveTo>
                <a:cubicBezTo>
                  <a:pt x="94953" y="72772"/>
                  <a:pt x="91762" y="75963"/>
                  <a:pt x="87832" y="75963"/>
                </a:cubicBezTo>
                <a:cubicBezTo>
                  <a:pt x="83901" y="75963"/>
                  <a:pt x="80710" y="72772"/>
                  <a:pt x="80710" y="68841"/>
                </a:cubicBezTo>
                <a:cubicBezTo>
                  <a:pt x="80710" y="64911"/>
                  <a:pt x="83901" y="61720"/>
                  <a:pt x="87832" y="61720"/>
                </a:cubicBezTo>
                <a:cubicBezTo>
                  <a:pt x="91762" y="61720"/>
                  <a:pt x="94953" y="64911"/>
                  <a:pt x="94953" y="68841"/>
                </a:cubicBezTo>
                <a:close/>
                <a:moveTo>
                  <a:pt x="26112" y="104449"/>
                </a:moveTo>
                <a:cubicBezTo>
                  <a:pt x="22182" y="104449"/>
                  <a:pt x="18991" y="101258"/>
                  <a:pt x="18991" y="97327"/>
                </a:cubicBezTo>
                <a:cubicBezTo>
                  <a:pt x="18991" y="93397"/>
                  <a:pt x="22182" y="90206"/>
                  <a:pt x="26112" y="90206"/>
                </a:cubicBezTo>
                <a:cubicBezTo>
                  <a:pt x="30043" y="90206"/>
                  <a:pt x="33234" y="93397"/>
                  <a:pt x="33234" y="97327"/>
                </a:cubicBezTo>
                <a:cubicBezTo>
                  <a:pt x="33234" y="101258"/>
                  <a:pt x="30043" y="104449"/>
                  <a:pt x="26112" y="104449"/>
                </a:cubicBezTo>
                <a:close/>
                <a:moveTo>
                  <a:pt x="64093" y="97327"/>
                </a:moveTo>
                <a:cubicBezTo>
                  <a:pt x="64093" y="101258"/>
                  <a:pt x="60902" y="104449"/>
                  <a:pt x="56972" y="104449"/>
                </a:cubicBezTo>
                <a:cubicBezTo>
                  <a:pt x="53042" y="104449"/>
                  <a:pt x="49850" y="101258"/>
                  <a:pt x="49850" y="97327"/>
                </a:cubicBezTo>
                <a:cubicBezTo>
                  <a:pt x="49850" y="93397"/>
                  <a:pt x="53042" y="90206"/>
                  <a:pt x="56972" y="90206"/>
                </a:cubicBezTo>
                <a:cubicBezTo>
                  <a:pt x="60902" y="90206"/>
                  <a:pt x="64093" y="93397"/>
                  <a:pt x="64093" y="97327"/>
                </a:cubicBezTo>
                <a:close/>
                <a:moveTo>
                  <a:pt x="87832" y="104449"/>
                </a:moveTo>
                <a:cubicBezTo>
                  <a:pt x="83901" y="104449"/>
                  <a:pt x="80710" y="101258"/>
                  <a:pt x="80710" y="97327"/>
                </a:cubicBezTo>
                <a:cubicBezTo>
                  <a:pt x="80710" y="93397"/>
                  <a:pt x="83901" y="90206"/>
                  <a:pt x="87832" y="90206"/>
                </a:cubicBezTo>
                <a:cubicBezTo>
                  <a:pt x="91762" y="90206"/>
                  <a:pt x="94953" y="93397"/>
                  <a:pt x="94953" y="97327"/>
                </a:cubicBezTo>
                <a:cubicBezTo>
                  <a:pt x="94953" y="101258"/>
                  <a:pt x="91762" y="104449"/>
                  <a:pt x="87832" y="104449"/>
                </a:cubicBezTo>
                <a:close/>
                <a:moveTo>
                  <a:pt x="18991" y="125813"/>
                </a:moveTo>
                <a:cubicBezTo>
                  <a:pt x="18991" y="121867"/>
                  <a:pt x="22166" y="118692"/>
                  <a:pt x="26112" y="118692"/>
                </a:cubicBezTo>
                <a:lnTo>
                  <a:pt x="59346" y="118692"/>
                </a:lnTo>
                <a:cubicBezTo>
                  <a:pt x="63292" y="118692"/>
                  <a:pt x="66467" y="121867"/>
                  <a:pt x="66467" y="125813"/>
                </a:cubicBezTo>
                <a:cubicBezTo>
                  <a:pt x="66467" y="129760"/>
                  <a:pt x="63292" y="132935"/>
                  <a:pt x="59346" y="132935"/>
                </a:cubicBezTo>
                <a:lnTo>
                  <a:pt x="26112" y="132935"/>
                </a:lnTo>
                <a:cubicBezTo>
                  <a:pt x="22166" y="132935"/>
                  <a:pt x="18991" y="129760"/>
                  <a:pt x="18991" y="125813"/>
                </a:cubicBezTo>
                <a:close/>
                <a:moveTo>
                  <a:pt x="87832" y="118692"/>
                </a:moveTo>
                <a:cubicBezTo>
                  <a:pt x="91778" y="118692"/>
                  <a:pt x="94953" y="121867"/>
                  <a:pt x="94953" y="125813"/>
                </a:cubicBezTo>
                <a:cubicBezTo>
                  <a:pt x="94953" y="129760"/>
                  <a:pt x="91778" y="132935"/>
                  <a:pt x="87832" y="132935"/>
                </a:cubicBezTo>
                <a:cubicBezTo>
                  <a:pt x="83885" y="132935"/>
                  <a:pt x="80710" y="129760"/>
                  <a:pt x="80710" y="125813"/>
                </a:cubicBezTo>
                <a:cubicBezTo>
                  <a:pt x="80710" y="121867"/>
                  <a:pt x="83885" y="118692"/>
                  <a:pt x="87832" y="118692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987337" y="4652710"/>
            <a:ext cx="4728850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Cálculo de complejidad:</a:t>
            </a:r>
            <a:endParaRPr b="0" i="0" sz="1600" u="none" cap="none" strike="noStrike"/>
          </a:p>
        </p:txBody>
      </p:sp>
      <p:sp>
        <p:nvSpPr>
          <p:cNvPr id="463" name="Google Shape;463;p12"/>
          <p:cNvSpPr/>
          <p:nvPr/>
        </p:nvSpPr>
        <p:spPr>
          <a:xfrm>
            <a:off x="740636" y="4956561"/>
            <a:ext cx="497555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897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(n) = Σ (n/2</a:t>
            </a:r>
            <a:r>
              <a:rPr b="0" i="0" lang="en-US" sz="897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h+1</a:t>
            </a: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) × O(h) = </a:t>
            </a: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i="0" sz="1600" u="none" cap="none" strike="noStrike"/>
          </a:p>
        </p:txBody>
      </p:sp>
      <p:sp>
        <p:nvSpPr>
          <p:cNvPr id="464" name="Google Shape;464;p12"/>
          <p:cNvSpPr/>
          <p:nvPr/>
        </p:nvSpPr>
        <p:spPr>
          <a:xfrm>
            <a:off x="740636" y="5260411"/>
            <a:ext cx="497555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La serie converge a una constante, resultando en tiempo lineal.</a:t>
            </a:r>
            <a:endParaRPr b="0" i="0" sz="1600" u="none" cap="none" strike="noStrike"/>
          </a:p>
        </p:txBody>
      </p:sp>
      <p:sp>
        <p:nvSpPr>
          <p:cNvPr id="465" name="Google Shape;465;p12"/>
          <p:cNvSpPr/>
          <p:nvPr/>
        </p:nvSpPr>
        <p:spPr>
          <a:xfrm>
            <a:off x="6193475" y="1334093"/>
            <a:ext cx="5611738" cy="4510280"/>
          </a:xfrm>
          <a:custGeom>
            <a:rect b="b" l="l" r="r" t="t"/>
            <a:pathLst>
              <a:path extrusionOk="0" h="4510280" w="5611738">
                <a:moveTo>
                  <a:pt x="113930" y="0"/>
                </a:moveTo>
                <a:lnTo>
                  <a:pt x="5497809" y="0"/>
                </a:lnTo>
                <a:cubicBezTo>
                  <a:pt x="5560730" y="0"/>
                  <a:pt x="5611738" y="51008"/>
                  <a:pt x="5611738" y="113930"/>
                </a:cubicBezTo>
                <a:lnTo>
                  <a:pt x="5611738" y="4396351"/>
                </a:lnTo>
                <a:cubicBezTo>
                  <a:pt x="5611738" y="4459272"/>
                  <a:pt x="5560730" y="4510280"/>
                  <a:pt x="5497809" y="4510280"/>
                </a:cubicBezTo>
                <a:lnTo>
                  <a:pt x="113930" y="4510280"/>
                </a:lnTo>
                <a:cubicBezTo>
                  <a:pt x="51008" y="4510280"/>
                  <a:pt x="0" y="4459272"/>
                  <a:pt x="0" y="4396351"/>
                </a:cubicBezTo>
                <a:lnTo>
                  <a:pt x="0" y="113930"/>
                </a:lnTo>
                <a:cubicBezTo>
                  <a:pt x="0" y="51050"/>
                  <a:pt x="51050" y="0"/>
                  <a:pt x="113930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6388130" y="1528748"/>
            <a:ext cx="455776" cy="455776"/>
          </a:xfrm>
          <a:custGeom>
            <a:rect b="b" l="l" r="r" t="t"/>
            <a:pathLst>
              <a:path extrusionOk="0" h="455776" w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6340653" y="1528748"/>
            <a:ext cx="550729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468" name="Google Shape;468;p12"/>
          <p:cNvSpPr/>
          <p:nvPr/>
        </p:nvSpPr>
        <p:spPr>
          <a:xfrm>
            <a:off x="6957849" y="1604710"/>
            <a:ext cx="2421308" cy="30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Fase 2: Ordenamiento</a:t>
            </a:r>
            <a:endParaRPr b="0" i="0" sz="1600" u="none" cap="none" strike="noStrike"/>
          </a:p>
        </p:txBody>
      </p:sp>
      <p:sp>
        <p:nvSpPr>
          <p:cNvPr id="469" name="Google Shape;469;p12"/>
          <p:cNvSpPr/>
          <p:nvPr/>
        </p:nvSpPr>
        <p:spPr>
          <a:xfrm>
            <a:off x="6407120" y="2136449"/>
            <a:ext cx="5203439" cy="2240897"/>
          </a:xfrm>
          <a:custGeom>
            <a:rect b="b" l="l" r="r" t="t"/>
            <a:pathLst>
              <a:path extrusionOk="0" h="2240897" w="5203439">
                <a:moveTo>
                  <a:pt x="37981" y="0"/>
                </a:moveTo>
                <a:lnTo>
                  <a:pt x="5127473" y="0"/>
                </a:lnTo>
                <a:cubicBezTo>
                  <a:pt x="5169428" y="0"/>
                  <a:pt x="5203439" y="34011"/>
                  <a:pt x="5203439" y="75966"/>
                </a:cubicBezTo>
                <a:lnTo>
                  <a:pt x="5203439" y="2164931"/>
                </a:lnTo>
                <a:cubicBezTo>
                  <a:pt x="5203439" y="2206886"/>
                  <a:pt x="5169428" y="2240897"/>
                  <a:pt x="5127473" y="2240897"/>
                </a:cubicBezTo>
                <a:lnTo>
                  <a:pt x="37981" y="2240897"/>
                </a:lnTo>
                <a:cubicBezTo>
                  <a:pt x="17005" y="2240897"/>
                  <a:pt x="0" y="2223892"/>
                  <a:pt x="0" y="220291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6407120" y="2136449"/>
            <a:ext cx="37981" cy="2240897"/>
          </a:xfrm>
          <a:custGeom>
            <a:rect b="b" l="l" r="r" t="t"/>
            <a:pathLst>
              <a:path extrusionOk="0" h="2240897" w="37981">
                <a:moveTo>
                  <a:pt x="37981" y="0"/>
                </a:moveTo>
                <a:lnTo>
                  <a:pt x="37981" y="0"/>
                </a:lnTo>
                <a:lnTo>
                  <a:pt x="37981" y="2240897"/>
                </a:lnTo>
                <a:lnTo>
                  <a:pt x="37981" y="2240897"/>
                </a:lnTo>
                <a:cubicBezTo>
                  <a:pt x="17005" y="2240897"/>
                  <a:pt x="0" y="2223892"/>
                  <a:pt x="0" y="220291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6578036" y="2288374"/>
            <a:ext cx="4966056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Extracción Repetida</a:t>
            </a:r>
            <a:endParaRPr b="0" i="0" sz="1600" u="none" cap="none" strike="noStrike"/>
          </a:p>
        </p:txBody>
      </p:sp>
      <p:sp>
        <p:nvSpPr>
          <p:cNvPr id="472" name="Google Shape;472;p12"/>
          <p:cNvSpPr/>
          <p:nvPr/>
        </p:nvSpPr>
        <p:spPr>
          <a:xfrm>
            <a:off x="6578036" y="2630206"/>
            <a:ext cx="4956561" cy="493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Extraemos el máximo n veces, y después de cada extracción aplicamos heapify.</a:t>
            </a:r>
            <a:endParaRPr b="0" i="0" sz="1600" u="none" cap="none" strike="noStrike"/>
          </a:p>
        </p:txBody>
      </p:sp>
      <p:sp>
        <p:nvSpPr>
          <p:cNvPr id="473" name="Google Shape;473;p12"/>
          <p:cNvSpPr/>
          <p:nvPr/>
        </p:nvSpPr>
        <p:spPr>
          <a:xfrm>
            <a:off x="6578036" y="3199925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Iteración 1: heapify en heap de tamaño n → O(log n)</a:t>
            </a:r>
            <a:endParaRPr b="0" i="0" sz="1600" u="none" cap="none" strike="noStrike"/>
          </a:p>
        </p:txBody>
      </p:sp>
      <p:sp>
        <p:nvSpPr>
          <p:cNvPr id="474" name="Google Shape;474;p12"/>
          <p:cNvSpPr/>
          <p:nvPr/>
        </p:nvSpPr>
        <p:spPr>
          <a:xfrm>
            <a:off x="6578036" y="3465794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Iteración 2: heapify en heap de tamaño n-1 → O(log n)</a:t>
            </a:r>
            <a:endParaRPr b="0" i="0" sz="1600" u="none" cap="none" strike="noStrike"/>
          </a:p>
        </p:txBody>
      </p:sp>
      <p:sp>
        <p:nvSpPr>
          <p:cNvPr id="475" name="Google Shape;475;p12"/>
          <p:cNvSpPr/>
          <p:nvPr/>
        </p:nvSpPr>
        <p:spPr>
          <a:xfrm>
            <a:off x="6578036" y="3731664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...</a:t>
            </a:r>
            <a:endParaRPr b="0" i="0" sz="1600" u="none" cap="none" strike="noStrike"/>
          </a:p>
        </p:txBody>
      </p:sp>
      <p:sp>
        <p:nvSpPr>
          <p:cNvPr id="476" name="Google Shape;476;p12"/>
          <p:cNvSpPr/>
          <p:nvPr/>
        </p:nvSpPr>
        <p:spPr>
          <a:xfrm>
            <a:off x="6578036" y="3997533"/>
            <a:ext cx="495656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Iteración n: heapify en heap de tamaño 1 → O(1)</a:t>
            </a:r>
            <a:endParaRPr b="0" i="0" sz="1600" u="none" cap="none" strike="noStrike"/>
          </a:p>
        </p:txBody>
      </p:sp>
      <p:sp>
        <p:nvSpPr>
          <p:cNvPr id="477" name="Google Shape;477;p12"/>
          <p:cNvSpPr/>
          <p:nvPr/>
        </p:nvSpPr>
        <p:spPr>
          <a:xfrm>
            <a:off x="6392877" y="4496037"/>
            <a:ext cx="5212935" cy="1148935"/>
          </a:xfrm>
          <a:custGeom>
            <a:rect b="b" l="l" r="r" t="t"/>
            <a:pathLst>
              <a:path extrusionOk="0" h="1148935" w="5212935">
                <a:moveTo>
                  <a:pt x="75968" y="0"/>
                </a:moveTo>
                <a:lnTo>
                  <a:pt x="5136967" y="0"/>
                </a:lnTo>
                <a:cubicBezTo>
                  <a:pt x="5178923" y="0"/>
                  <a:pt x="5212935" y="34012"/>
                  <a:pt x="5212935" y="75968"/>
                </a:cubicBezTo>
                <a:lnTo>
                  <a:pt x="5212935" y="1072967"/>
                </a:lnTo>
                <a:cubicBezTo>
                  <a:pt x="5212935" y="1114923"/>
                  <a:pt x="5178923" y="1148935"/>
                  <a:pt x="5136967" y="1148935"/>
                </a:cubicBezTo>
                <a:lnTo>
                  <a:pt x="75968" y="1148935"/>
                </a:lnTo>
                <a:cubicBezTo>
                  <a:pt x="34012" y="1148935"/>
                  <a:pt x="0" y="1114923"/>
                  <a:pt x="0" y="1072967"/>
                </a:cubicBezTo>
                <a:lnTo>
                  <a:pt x="0" y="75968"/>
                </a:lnTo>
                <a:cubicBezTo>
                  <a:pt x="0" y="34012"/>
                  <a:pt x="34012" y="0"/>
                  <a:pt x="75968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6587532" y="4700187"/>
            <a:ext cx="113944" cy="151925"/>
          </a:xfrm>
          <a:custGeom>
            <a:rect b="b" l="l" r="r" t="t"/>
            <a:pathLst>
              <a:path extrusionOk="0" h="151925" w="113944">
                <a:moveTo>
                  <a:pt x="18991" y="0"/>
                </a:moveTo>
                <a:cubicBezTo>
                  <a:pt x="8516" y="0"/>
                  <a:pt x="0" y="8516"/>
                  <a:pt x="0" y="18991"/>
                </a:cubicBezTo>
                <a:lnTo>
                  <a:pt x="0" y="132935"/>
                </a:lnTo>
                <a:cubicBezTo>
                  <a:pt x="0" y="143409"/>
                  <a:pt x="8516" y="151925"/>
                  <a:pt x="18991" y="151925"/>
                </a:cubicBezTo>
                <a:lnTo>
                  <a:pt x="94953" y="151925"/>
                </a:lnTo>
                <a:cubicBezTo>
                  <a:pt x="105428" y="151925"/>
                  <a:pt x="113944" y="143409"/>
                  <a:pt x="113944" y="132935"/>
                </a:cubicBezTo>
                <a:lnTo>
                  <a:pt x="113944" y="18991"/>
                </a:lnTo>
                <a:cubicBezTo>
                  <a:pt x="113944" y="8516"/>
                  <a:pt x="105428" y="0"/>
                  <a:pt x="94953" y="0"/>
                </a:cubicBezTo>
                <a:lnTo>
                  <a:pt x="18991" y="0"/>
                </a:lnTo>
                <a:close/>
                <a:moveTo>
                  <a:pt x="28486" y="18991"/>
                </a:moveTo>
                <a:lnTo>
                  <a:pt x="85458" y="18991"/>
                </a:lnTo>
                <a:cubicBezTo>
                  <a:pt x="90710" y="18991"/>
                  <a:pt x="94953" y="23234"/>
                  <a:pt x="94953" y="28486"/>
                </a:cubicBezTo>
                <a:lnTo>
                  <a:pt x="94953" y="37981"/>
                </a:lnTo>
                <a:cubicBezTo>
                  <a:pt x="94953" y="43233"/>
                  <a:pt x="90710" y="47477"/>
                  <a:pt x="85458" y="47477"/>
                </a:cubicBezTo>
                <a:lnTo>
                  <a:pt x="28486" y="47477"/>
                </a:lnTo>
                <a:cubicBezTo>
                  <a:pt x="23234" y="47477"/>
                  <a:pt x="18991" y="43233"/>
                  <a:pt x="18991" y="37981"/>
                </a:cubicBezTo>
                <a:lnTo>
                  <a:pt x="18991" y="28486"/>
                </a:lnTo>
                <a:cubicBezTo>
                  <a:pt x="18991" y="23234"/>
                  <a:pt x="23234" y="18991"/>
                  <a:pt x="28486" y="18991"/>
                </a:cubicBezTo>
                <a:close/>
                <a:moveTo>
                  <a:pt x="33234" y="68841"/>
                </a:moveTo>
                <a:cubicBezTo>
                  <a:pt x="33234" y="72772"/>
                  <a:pt x="30043" y="75963"/>
                  <a:pt x="26112" y="75963"/>
                </a:cubicBezTo>
                <a:cubicBezTo>
                  <a:pt x="22182" y="75963"/>
                  <a:pt x="18991" y="72772"/>
                  <a:pt x="18991" y="68841"/>
                </a:cubicBezTo>
                <a:cubicBezTo>
                  <a:pt x="18991" y="64911"/>
                  <a:pt x="22182" y="61720"/>
                  <a:pt x="26112" y="61720"/>
                </a:cubicBezTo>
                <a:cubicBezTo>
                  <a:pt x="30043" y="61720"/>
                  <a:pt x="33234" y="64911"/>
                  <a:pt x="33234" y="68841"/>
                </a:cubicBezTo>
                <a:close/>
                <a:moveTo>
                  <a:pt x="56972" y="75963"/>
                </a:moveTo>
                <a:cubicBezTo>
                  <a:pt x="53042" y="75963"/>
                  <a:pt x="49850" y="72772"/>
                  <a:pt x="49850" y="68841"/>
                </a:cubicBezTo>
                <a:cubicBezTo>
                  <a:pt x="49850" y="64911"/>
                  <a:pt x="53042" y="61720"/>
                  <a:pt x="56972" y="61720"/>
                </a:cubicBezTo>
                <a:cubicBezTo>
                  <a:pt x="60902" y="61720"/>
                  <a:pt x="64093" y="64911"/>
                  <a:pt x="64093" y="68841"/>
                </a:cubicBezTo>
                <a:cubicBezTo>
                  <a:pt x="64093" y="72772"/>
                  <a:pt x="60902" y="75963"/>
                  <a:pt x="56972" y="75963"/>
                </a:cubicBezTo>
                <a:close/>
                <a:moveTo>
                  <a:pt x="94953" y="68841"/>
                </a:moveTo>
                <a:cubicBezTo>
                  <a:pt x="94953" y="72772"/>
                  <a:pt x="91762" y="75963"/>
                  <a:pt x="87832" y="75963"/>
                </a:cubicBezTo>
                <a:cubicBezTo>
                  <a:pt x="83901" y="75963"/>
                  <a:pt x="80710" y="72772"/>
                  <a:pt x="80710" y="68841"/>
                </a:cubicBezTo>
                <a:cubicBezTo>
                  <a:pt x="80710" y="64911"/>
                  <a:pt x="83901" y="61720"/>
                  <a:pt x="87832" y="61720"/>
                </a:cubicBezTo>
                <a:cubicBezTo>
                  <a:pt x="91762" y="61720"/>
                  <a:pt x="94953" y="64911"/>
                  <a:pt x="94953" y="68841"/>
                </a:cubicBezTo>
                <a:close/>
                <a:moveTo>
                  <a:pt x="26112" y="104449"/>
                </a:moveTo>
                <a:cubicBezTo>
                  <a:pt x="22182" y="104449"/>
                  <a:pt x="18991" y="101258"/>
                  <a:pt x="18991" y="97327"/>
                </a:cubicBezTo>
                <a:cubicBezTo>
                  <a:pt x="18991" y="93397"/>
                  <a:pt x="22182" y="90206"/>
                  <a:pt x="26112" y="90206"/>
                </a:cubicBezTo>
                <a:cubicBezTo>
                  <a:pt x="30043" y="90206"/>
                  <a:pt x="33234" y="93397"/>
                  <a:pt x="33234" y="97327"/>
                </a:cubicBezTo>
                <a:cubicBezTo>
                  <a:pt x="33234" y="101258"/>
                  <a:pt x="30043" y="104449"/>
                  <a:pt x="26112" y="104449"/>
                </a:cubicBezTo>
                <a:close/>
                <a:moveTo>
                  <a:pt x="64093" y="97327"/>
                </a:moveTo>
                <a:cubicBezTo>
                  <a:pt x="64093" y="101258"/>
                  <a:pt x="60902" y="104449"/>
                  <a:pt x="56972" y="104449"/>
                </a:cubicBezTo>
                <a:cubicBezTo>
                  <a:pt x="53042" y="104449"/>
                  <a:pt x="49850" y="101258"/>
                  <a:pt x="49850" y="97327"/>
                </a:cubicBezTo>
                <a:cubicBezTo>
                  <a:pt x="49850" y="93397"/>
                  <a:pt x="53042" y="90206"/>
                  <a:pt x="56972" y="90206"/>
                </a:cubicBezTo>
                <a:cubicBezTo>
                  <a:pt x="60902" y="90206"/>
                  <a:pt x="64093" y="93397"/>
                  <a:pt x="64093" y="97327"/>
                </a:cubicBezTo>
                <a:close/>
                <a:moveTo>
                  <a:pt x="87832" y="104449"/>
                </a:moveTo>
                <a:cubicBezTo>
                  <a:pt x="83901" y="104449"/>
                  <a:pt x="80710" y="101258"/>
                  <a:pt x="80710" y="97327"/>
                </a:cubicBezTo>
                <a:cubicBezTo>
                  <a:pt x="80710" y="93397"/>
                  <a:pt x="83901" y="90206"/>
                  <a:pt x="87832" y="90206"/>
                </a:cubicBezTo>
                <a:cubicBezTo>
                  <a:pt x="91762" y="90206"/>
                  <a:pt x="94953" y="93397"/>
                  <a:pt x="94953" y="97327"/>
                </a:cubicBezTo>
                <a:cubicBezTo>
                  <a:pt x="94953" y="101258"/>
                  <a:pt x="91762" y="104449"/>
                  <a:pt x="87832" y="104449"/>
                </a:cubicBezTo>
                <a:close/>
                <a:moveTo>
                  <a:pt x="18991" y="125813"/>
                </a:moveTo>
                <a:cubicBezTo>
                  <a:pt x="18991" y="121867"/>
                  <a:pt x="22166" y="118692"/>
                  <a:pt x="26112" y="118692"/>
                </a:cubicBezTo>
                <a:lnTo>
                  <a:pt x="59346" y="118692"/>
                </a:lnTo>
                <a:cubicBezTo>
                  <a:pt x="63292" y="118692"/>
                  <a:pt x="66467" y="121867"/>
                  <a:pt x="66467" y="125813"/>
                </a:cubicBezTo>
                <a:cubicBezTo>
                  <a:pt x="66467" y="129760"/>
                  <a:pt x="63292" y="132935"/>
                  <a:pt x="59346" y="132935"/>
                </a:cubicBezTo>
                <a:lnTo>
                  <a:pt x="26112" y="132935"/>
                </a:lnTo>
                <a:cubicBezTo>
                  <a:pt x="22166" y="132935"/>
                  <a:pt x="18991" y="129760"/>
                  <a:pt x="18991" y="125813"/>
                </a:cubicBezTo>
                <a:close/>
                <a:moveTo>
                  <a:pt x="87832" y="118692"/>
                </a:moveTo>
                <a:cubicBezTo>
                  <a:pt x="91778" y="118692"/>
                  <a:pt x="94953" y="121867"/>
                  <a:pt x="94953" y="125813"/>
                </a:cubicBezTo>
                <a:cubicBezTo>
                  <a:pt x="94953" y="129760"/>
                  <a:pt x="91778" y="132935"/>
                  <a:pt x="87832" y="132935"/>
                </a:cubicBezTo>
                <a:cubicBezTo>
                  <a:pt x="83885" y="132935"/>
                  <a:pt x="80710" y="129760"/>
                  <a:pt x="80710" y="125813"/>
                </a:cubicBezTo>
                <a:cubicBezTo>
                  <a:pt x="80710" y="121867"/>
                  <a:pt x="83885" y="118692"/>
                  <a:pt x="87832" y="118692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6796251" y="4652710"/>
            <a:ext cx="4728850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Cálculo de complejidad:</a:t>
            </a:r>
            <a:endParaRPr b="0" i="0" sz="1600" u="none" cap="none" strike="noStrike"/>
          </a:p>
        </p:txBody>
      </p:sp>
      <p:sp>
        <p:nvSpPr>
          <p:cNvPr id="480" name="Google Shape;480;p12"/>
          <p:cNvSpPr/>
          <p:nvPr/>
        </p:nvSpPr>
        <p:spPr>
          <a:xfrm>
            <a:off x="6549550" y="4956561"/>
            <a:ext cx="497555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897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ordenamiento</a:t>
            </a:r>
            <a:r>
              <a:rPr b="0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(n) = n × O(log n) = </a:t>
            </a:r>
            <a:r>
              <a:rPr b="1" i="0" lang="en-US" sz="119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481" name="Google Shape;481;p12"/>
          <p:cNvSpPr/>
          <p:nvPr/>
        </p:nvSpPr>
        <p:spPr>
          <a:xfrm>
            <a:off x="6549550" y="5260411"/>
            <a:ext cx="4975551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Cada heapify recorre la altura del árbol: log n.</a:t>
            </a:r>
            <a:endParaRPr b="0" i="0" sz="1600" u="none" cap="none" strike="noStrike"/>
          </a:p>
        </p:txBody>
      </p:sp>
      <p:sp>
        <p:nvSpPr>
          <p:cNvPr id="482" name="Google Shape;482;p12"/>
          <p:cNvSpPr/>
          <p:nvPr/>
        </p:nvSpPr>
        <p:spPr>
          <a:xfrm>
            <a:off x="384561" y="6005794"/>
            <a:ext cx="11422879" cy="845084"/>
          </a:xfrm>
          <a:custGeom>
            <a:rect b="b" l="l" r="r" t="t"/>
            <a:pathLst>
              <a:path extrusionOk="0" h="845084" w="11422879">
                <a:moveTo>
                  <a:pt x="75965" y="0"/>
                </a:moveTo>
                <a:lnTo>
                  <a:pt x="11346914" y="0"/>
                </a:lnTo>
                <a:cubicBezTo>
                  <a:pt x="11388868" y="0"/>
                  <a:pt x="11422879" y="34011"/>
                  <a:pt x="11422879" y="75965"/>
                </a:cubicBezTo>
                <a:lnTo>
                  <a:pt x="11422879" y="769120"/>
                </a:lnTo>
                <a:cubicBezTo>
                  <a:pt x="11422879" y="811074"/>
                  <a:pt x="11388868" y="845084"/>
                  <a:pt x="11346914" y="845084"/>
                </a:cubicBezTo>
                <a:lnTo>
                  <a:pt x="75965" y="845084"/>
                </a:lnTo>
                <a:cubicBezTo>
                  <a:pt x="34039" y="845084"/>
                  <a:pt x="0" y="811046"/>
                  <a:pt x="0" y="769120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597019" y="6285907"/>
            <a:ext cx="249252" cy="284860"/>
          </a:xfrm>
          <a:custGeom>
            <a:rect b="b" l="l" r="r" t="t"/>
            <a:pathLst>
              <a:path extrusionOk="0" h="284860" w="249252">
                <a:moveTo>
                  <a:pt x="17804" y="71215"/>
                </a:moveTo>
                <a:cubicBezTo>
                  <a:pt x="7956" y="71215"/>
                  <a:pt x="0" y="79171"/>
                  <a:pt x="0" y="89019"/>
                </a:cubicBezTo>
                <a:cubicBezTo>
                  <a:pt x="0" y="98866"/>
                  <a:pt x="7956" y="106822"/>
                  <a:pt x="17804" y="106822"/>
                </a:cubicBezTo>
                <a:lnTo>
                  <a:pt x="231449" y="106822"/>
                </a:lnTo>
                <a:cubicBezTo>
                  <a:pt x="241296" y="106822"/>
                  <a:pt x="249252" y="98866"/>
                  <a:pt x="249252" y="89019"/>
                </a:cubicBezTo>
                <a:cubicBezTo>
                  <a:pt x="249252" y="79171"/>
                  <a:pt x="241296" y="71215"/>
                  <a:pt x="231449" y="71215"/>
                </a:cubicBezTo>
                <a:lnTo>
                  <a:pt x="17804" y="71215"/>
                </a:lnTo>
                <a:close/>
                <a:moveTo>
                  <a:pt x="17804" y="178037"/>
                </a:moveTo>
                <a:cubicBezTo>
                  <a:pt x="7956" y="178037"/>
                  <a:pt x="0" y="185993"/>
                  <a:pt x="0" y="195841"/>
                </a:cubicBezTo>
                <a:cubicBezTo>
                  <a:pt x="0" y="205689"/>
                  <a:pt x="7956" y="213645"/>
                  <a:pt x="17804" y="213645"/>
                </a:cubicBezTo>
                <a:lnTo>
                  <a:pt x="231449" y="213645"/>
                </a:lnTo>
                <a:cubicBezTo>
                  <a:pt x="241296" y="213645"/>
                  <a:pt x="249252" y="205689"/>
                  <a:pt x="249252" y="195841"/>
                </a:cubicBezTo>
                <a:cubicBezTo>
                  <a:pt x="249252" y="185993"/>
                  <a:pt x="241296" y="178037"/>
                  <a:pt x="231449" y="178037"/>
                </a:cubicBezTo>
                <a:lnTo>
                  <a:pt x="17804" y="178037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1011252" y="6162467"/>
            <a:ext cx="3313869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T(n) = T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r>
              <a:rPr b="1" i="0" lang="en-US" sz="1495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(n) + T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ordenamiento</a:t>
            </a:r>
            <a:r>
              <a:rPr b="1" i="0" lang="en-US" sz="1495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(n)</a:t>
            </a:r>
            <a:endParaRPr b="0" i="0" sz="1600" u="none" cap="none" strike="noStrike"/>
          </a:p>
        </p:txBody>
      </p:sp>
      <p:sp>
        <p:nvSpPr>
          <p:cNvPr id="485" name="Google Shape;485;p12"/>
          <p:cNvSpPr/>
          <p:nvPr/>
        </p:nvSpPr>
        <p:spPr>
          <a:xfrm>
            <a:off x="1011252" y="6428336"/>
            <a:ext cx="3313869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T(n) = O(n) + O(n log n) = O(n log n)</a:t>
            </a:r>
            <a:endParaRPr b="0" i="0" sz="1600" u="none" cap="none" strike="noStrike"/>
          </a:p>
        </p:txBody>
      </p:sp>
      <p:sp>
        <p:nvSpPr>
          <p:cNvPr id="486" name="Google Shape;486;p12"/>
          <p:cNvSpPr/>
          <p:nvPr/>
        </p:nvSpPr>
        <p:spPr>
          <a:xfrm>
            <a:off x="9273819" y="6314393"/>
            <a:ext cx="2373832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La fase de ordenamiento domina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3"/>
          <p:cNvSpPr/>
          <p:nvPr/>
        </p:nvSpPr>
        <p:spPr>
          <a:xfrm>
            <a:off x="328847" y="328847"/>
            <a:ext cx="65769" cy="394616"/>
          </a:xfrm>
          <a:custGeom>
            <a:rect b="b" l="l" r="r" t="t"/>
            <a:pathLst>
              <a:path extrusionOk="0" h="394616" w="65769">
                <a:moveTo>
                  <a:pt x="32885" y="0"/>
                </a:moveTo>
                <a:lnTo>
                  <a:pt x="32885" y="0"/>
                </a:lnTo>
                <a:cubicBezTo>
                  <a:pt x="51034" y="0"/>
                  <a:pt x="65769" y="14735"/>
                  <a:pt x="65769" y="32885"/>
                </a:cubicBezTo>
                <a:lnTo>
                  <a:pt x="65769" y="361732"/>
                </a:lnTo>
                <a:cubicBezTo>
                  <a:pt x="65769" y="379893"/>
                  <a:pt x="51046" y="394616"/>
                  <a:pt x="32885" y="394616"/>
                </a:cubicBezTo>
                <a:lnTo>
                  <a:pt x="32885" y="394616"/>
                </a:lnTo>
                <a:cubicBezTo>
                  <a:pt x="14723" y="394616"/>
                  <a:pt x="0" y="379893"/>
                  <a:pt x="0" y="36173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/>
          <p:nvPr/>
        </p:nvSpPr>
        <p:spPr>
          <a:xfrm>
            <a:off x="493270" y="328847"/>
            <a:ext cx="7949875" cy="394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7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Complejidad: Mejor, Peor y Caso Promedio</a:t>
            </a:r>
            <a:endParaRPr b="0" i="0" sz="1600" u="none" cap="none" strike="noStrike"/>
          </a:p>
        </p:txBody>
      </p:sp>
      <p:sp>
        <p:nvSpPr>
          <p:cNvPr id="494" name="Google Shape;494;p13"/>
          <p:cNvSpPr/>
          <p:nvPr/>
        </p:nvSpPr>
        <p:spPr>
          <a:xfrm>
            <a:off x="493270" y="789233"/>
            <a:ext cx="11452094" cy="230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5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Heap Sort mantiene rendimiento consistente</a:t>
            </a:r>
            <a:endParaRPr b="0" i="0" sz="1600" u="none" cap="none" strike="noStrike"/>
          </a:p>
        </p:txBody>
      </p:sp>
      <p:sp>
        <p:nvSpPr>
          <p:cNvPr id="495" name="Google Shape;495;p13"/>
          <p:cNvSpPr/>
          <p:nvPr/>
        </p:nvSpPr>
        <p:spPr>
          <a:xfrm>
            <a:off x="332958" y="1155075"/>
            <a:ext cx="5672610" cy="4579194"/>
          </a:xfrm>
          <a:custGeom>
            <a:rect b="b" l="l" r="r" t="t"/>
            <a:pathLst>
              <a:path extrusionOk="0" h="4579194" w="5672610">
                <a:moveTo>
                  <a:pt x="98636" y="0"/>
                </a:moveTo>
                <a:lnTo>
                  <a:pt x="5573974" y="0"/>
                </a:lnTo>
                <a:cubicBezTo>
                  <a:pt x="5628449" y="0"/>
                  <a:pt x="5672610" y="44161"/>
                  <a:pt x="5672610" y="98636"/>
                </a:cubicBezTo>
                <a:lnTo>
                  <a:pt x="5672610" y="4480558"/>
                </a:lnTo>
                <a:cubicBezTo>
                  <a:pt x="5672610" y="4535033"/>
                  <a:pt x="5628449" y="4579194"/>
                  <a:pt x="5573974" y="4579194"/>
                </a:cubicBezTo>
                <a:lnTo>
                  <a:pt x="98636" y="4579194"/>
                </a:lnTo>
                <a:cubicBezTo>
                  <a:pt x="44161" y="4579194"/>
                  <a:pt x="0" y="4535033"/>
                  <a:pt x="0" y="4480558"/>
                </a:cubicBezTo>
                <a:lnTo>
                  <a:pt x="0" y="98636"/>
                </a:lnTo>
                <a:cubicBezTo>
                  <a:pt x="0" y="44197"/>
                  <a:pt x="44197" y="0"/>
                  <a:pt x="98636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526155" y="1356494"/>
            <a:ext cx="197308" cy="197308"/>
          </a:xfrm>
          <a:custGeom>
            <a:rect b="b" l="l" r="r" t="t"/>
            <a:pathLst>
              <a:path extrusionOk="0" h="197308" w="197308">
                <a:moveTo>
                  <a:pt x="98654" y="0"/>
                </a:moveTo>
                <a:cubicBezTo>
                  <a:pt x="153103" y="0"/>
                  <a:pt x="197308" y="44205"/>
                  <a:pt x="197308" y="98654"/>
                </a:cubicBezTo>
                <a:cubicBezTo>
                  <a:pt x="197308" y="153103"/>
                  <a:pt x="153103" y="197308"/>
                  <a:pt x="98654" y="197308"/>
                </a:cubicBezTo>
                <a:cubicBezTo>
                  <a:pt x="44205" y="197308"/>
                  <a:pt x="0" y="153103"/>
                  <a:pt x="0" y="98654"/>
                </a:cubicBezTo>
                <a:cubicBezTo>
                  <a:pt x="0" y="44205"/>
                  <a:pt x="44205" y="0"/>
                  <a:pt x="98654" y="0"/>
                </a:cubicBezTo>
                <a:close/>
                <a:moveTo>
                  <a:pt x="89405" y="46244"/>
                </a:moveTo>
                <a:lnTo>
                  <a:pt x="89405" y="98654"/>
                </a:lnTo>
                <a:cubicBezTo>
                  <a:pt x="89405" y="101737"/>
                  <a:pt x="90947" y="104627"/>
                  <a:pt x="93529" y="106361"/>
                </a:cubicBezTo>
                <a:lnTo>
                  <a:pt x="130524" y="131025"/>
                </a:lnTo>
                <a:cubicBezTo>
                  <a:pt x="134763" y="133877"/>
                  <a:pt x="140505" y="132721"/>
                  <a:pt x="143357" y="128443"/>
                </a:cubicBezTo>
                <a:cubicBezTo>
                  <a:pt x="146208" y="124165"/>
                  <a:pt x="145052" y="118462"/>
                  <a:pt x="140775" y="115610"/>
                </a:cubicBezTo>
                <a:lnTo>
                  <a:pt x="107903" y="93721"/>
                </a:lnTo>
                <a:lnTo>
                  <a:pt x="107903" y="46244"/>
                </a:lnTo>
                <a:cubicBezTo>
                  <a:pt x="107903" y="41119"/>
                  <a:pt x="103779" y="36995"/>
                  <a:pt x="98654" y="36995"/>
                </a:cubicBezTo>
                <a:cubicBezTo>
                  <a:pt x="93529" y="36995"/>
                  <a:pt x="89405" y="41119"/>
                  <a:pt x="89405" y="4624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748127" y="1323609"/>
            <a:ext cx="5187560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Complejidad Temporal</a:t>
            </a:r>
            <a:endParaRPr b="0" i="0" sz="1600" u="none" cap="none" strike="noStrike"/>
          </a:p>
        </p:txBody>
      </p:sp>
      <p:sp>
        <p:nvSpPr>
          <p:cNvPr id="498" name="Google Shape;498;p13"/>
          <p:cNvSpPr/>
          <p:nvPr/>
        </p:nvSpPr>
        <p:spPr>
          <a:xfrm>
            <a:off x="517934" y="1718225"/>
            <a:ext cx="5319099" cy="986541"/>
          </a:xfrm>
          <a:custGeom>
            <a:rect b="b" l="l" r="r" t="t"/>
            <a:pathLst>
              <a:path extrusionOk="0" h="986541" w="5319099">
                <a:moveTo>
                  <a:pt x="32885" y="0"/>
                </a:moveTo>
                <a:lnTo>
                  <a:pt x="5253326" y="0"/>
                </a:lnTo>
                <a:cubicBezTo>
                  <a:pt x="5289652" y="0"/>
                  <a:pt x="5319099" y="29447"/>
                  <a:pt x="5319099" y="65773"/>
                </a:cubicBezTo>
                <a:lnTo>
                  <a:pt x="5319099" y="920768"/>
                </a:lnTo>
                <a:cubicBezTo>
                  <a:pt x="5319099" y="957093"/>
                  <a:pt x="5289652" y="986541"/>
                  <a:pt x="5253326" y="986541"/>
                </a:cubicBezTo>
                <a:lnTo>
                  <a:pt x="32885" y="986541"/>
                </a:lnTo>
                <a:cubicBezTo>
                  <a:pt x="14723" y="986541"/>
                  <a:pt x="0" y="971818"/>
                  <a:pt x="0" y="95365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517934" y="1718225"/>
            <a:ext cx="32885" cy="986541"/>
          </a:xfrm>
          <a:custGeom>
            <a:rect b="b" l="l" r="r" t="t"/>
            <a:pathLst>
              <a:path extrusionOk="0" h="986541" w="32885">
                <a:moveTo>
                  <a:pt x="32885" y="0"/>
                </a:moveTo>
                <a:lnTo>
                  <a:pt x="32885" y="0"/>
                </a:lnTo>
                <a:lnTo>
                  <a:pt x="32885" y="986541"/>
                </a:lnTo>
                <a:lnTo>
                  <a:pt x="32885" y="986541"/>
                </a:lnTo>
                <a:cubicBezTo>
                  <a:pt x="14723" y="986541"/>
                  <a:pt x="0" y="971818"/>
                  <a:pt x="0" y="95365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665915" y="1866206"/>
            <a:ext cx="838560" cy="230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5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Mejor Caso</a:t>
            </a:r>
            <a:endParaRPr b="0" i="0" sz="1600" u="none" cap="none" strike="noStrike"/>
          </a:p>
        </p:txBody>
      </p:sp>
      <p:sp>
        <p:nvSpPr>
          <p:cNvPr id="501" name="Google Shape;501;p13"/>
          <p:cNvSpPr/>
          <p:nvPr/>
        </p:nvSpPr>
        <p:spPr>
          <a:xfrm>
            <a:off x="4914849" y="1849764"/>
            <a:ext cx="797454" cy="263078"/>
          </a:xfrm>
          <a:custGeom>
            <a:rect b="b" l="l" r="r" t="t"/>
            <a:pathLst>
              <a:path extrusionOk="0" h="263078" w="797454">
                <a:moveTo>
                  <a:pt x="131539" y="0"/>
                </a:moveTo>
                <a:lnTo>
                  <a:pt x="665915" y="0"/>
                </a:lnTo>
                <a:cubicBezTo>
                  <a:pt x="738562" y="0"/>
                  <a:pt x="797454" y="58892"/>
                  <a:pt x="797454" y="131539"/>
                </a:cubicBezTo>
                <a:lnTo>
                  <a:pt x="797454" y="131539"/>
                </a:lnTo>
                <a:cubicBezTo>
                  <a:pt x="797454" y="204186"/>
                  <a:pt x="738562" y="263078"/>
                  <a:pt x="665915" y="263078"/>
                </a:cubicBezTo>
                <a:lnTo>
                  <a:pt x="131539" y="263078"/>
                </a:lnTo>
                <a:cubicBezTo>
                  <a:pt x="58941" y="263078"/>
                  <a:pt x="0" y="204137"/>
                  <a:pt x="0" y="131539"/>
                </a:cubicBezTo>
                <a:lnTo>
                  <a:pt x="0" y="131539"/>
                </a:lnTo>
                <a:cubicBezTo>
                  <a:pt x="0" y="58941"/>
                  <a:pt x="58941" y="0"/>
                  <a:pt x="13153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4914849" y="1849764"/>
            <a:ext cx="863223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875" lIns="98650" spcFirstLastPara="1" rIns="98650" wrap="square" tIns="328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6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503" name="Google Shape;503;p13"/>
          <p:cNvSpPr/>
          <p:nvPr/>
        </p:nvSpPr>
        <p:spPr>
          <a:xfrm>
            <a:off x="665915" y="2178611"/>
            <a:ext cx="5105349" cy="394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Ocurre cuando el arreglo ya está ordenado o en orden inverso. Aun así, debemos construir el heap y extraer todos los elementos.</a:t>
            </a:r>
            <a:endParaRPr b="0" i="0" sz="1600" u="none" cap="none" strike="noStrike"/>
          </a:p>
        </p:txBody>
      </p:sp>
      <p:sp>
        <p:nvSpPr>
          <p:cNvPr id="504" name="Google Shape;504;p13"/>
          <p:cNvSpPr/>
          <p:nvPr/>
        </p:nvSpPr>
        <p:spPr>
          <a:xfrm>
            <a:off x="517934" y="2803420"/>
            <a:ext cx="5319099" cy="986541"/>
          </a:xfrm>
          <a:custGeom>
            <a:rect b="b" l="l" r="r" t="t"/>
            <a:pathLst>
              <a:path extrusionOk="0" h="986541" w="5319099">
                <a:moveTo>
                  <a:pt x="32885" y="0"/>
                </a:moveTo>
                <a:lnTo>
                  <a:pt x="5253326" y="0"/>
                </a:lnTo>
                <a:cubicBezTo>
                  <a:pt x="5289652" y="0"/>
                  <a:pt x="5319099" y="29447"/>
                  <a:pt x="5319099" y="65773"/>
                </a:cubicBezTo>
                <a:lnTo>
                  <a:pt x="5319099" y="920768"/>
                </a:lnTo>
                <a:cubicBezTo>
                  <a:pt x="5319099" y="957093"/>
                  <a:pt x="5289652" y="986541"/>
                  <a:pt x="5253326" y="986541"/>
                </a:cubicBezTo>
                <a:lnTo>
                  <a:pt x="32885" y="986541"/>
                </a:lnTo>
                <a:cubicBezTo>
                  <a:pt x="14723" y="986541"/>
                  <a:pt x="0" y="971818"/>
                  <a:pt x="0" y="95365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517934" y="2803420"/>
            <a:ext cx="32885" cy="986541"/>
          </a:xfrm>
          <a:custGeom>
            <a:rect b="b" l="l" r="r" t="t"/>
            <a:pathLst>
              <a:path extrusionOk="0" h="986541" w="32885">
                <a:moveTo>
                  <a:pt x="32885" y="0"/>
                </a:moveTo>
                <a:lnTo>
                  <a:pt x="32885" y="0"/>
                </a:lnTo>
                <a:lnTo>
                  <a:pt x="32885" y="986541"/>
                </a:lnTo>
                <a:lnTo>
                  <a:pt x="32885" y="986541"/>
                </a:lnTo>
                <a:cubicBezTo>
                  <a:pt x="14723" y="986541"/>
                  <a:pt x="0" y="971818"/>
                  <a:pt x="0" y="95365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665915" y="2951401"/>
            <a:ext cx="1109858" cy="230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5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Caso Promedio</a:t>
            </a:r>
            <a:endParaRPr b="0" i="0" sz="1600" u="none" cap="none" strike="noStrike"/>
          </a:p>
        </p:txBody>
      </p:sp>
      <p:sp>
        <p:nvSpPr>
          <p:cNvPr id="507" name="Google Shape;507;p13"/>
          <p:cNvSpPr/>
          <p:nvPr/>
        </p:nvSpPr>
        <p:spPr>
          <a:xfrm>
            <a:off x="4914849" y="2934959"/>
            <a:ext cx="797454" cy="263078"/>
          </a:xfrm>
          <a:custGeom>
            <a:rect b="b" l="l" r="r" t="t"/>
            <a:pathLst>
              <a:path extrusionOk="0" h="263078" w="797454">
                <a:moveTo>
                  <a:pt x="131539" y="0"/>
                </a:moveTo>
                <a:lnTo>
                  <a:pt x="665915" y="0"/>
                </a:lnTo>
                <a:cubicBezTo>
                  <a:pt x="738562" y="0"/>
                  <a:pt x="797454" y="58892"/>
                  <a:pt x="797454" y="131539"/>
                </a:cubicBezTo>
                <a:lnTo>
                  <a:pt x="797454" y="131539"/>
                </a:lnTo>
                <a:cubicBezTo>
                  <a:pt x="797454" y="204186"/>
                  <a:pt x="738562" y="263078"/>
                  <a:pt x="665915" y="263078"/>
                </a:cubicBezTo>
                <a:lnTo>
                  <a:pt x="131539" y="263078"/>
                </a:lnTo>
                <a:cubicBezTo>
                  <a:pt x="58941" y="263078"/>
                  <a:pt x="0" y="204137"/>
                  <a:pt x="0" y="131539"/>
                </a:cubicBezTo>
                <a:lnTo>
                  <a:pt x="0" y="131539"/>
                </a:lnTo>
                <a:cubicBezTo>
                  <a:pt x="0" y="58941"/>
                  <a:pt x="58941" y="0"/>
                  <a:pt x="131539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4914849" y="2934959"/>
            <a:ext cx="863223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875" lIns="98650" spcFirstLastPara="1" rIns="98650" wrap="square" tIns="328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6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509" name="Google Shape;509;p13"/>
          <p:cNvSpPr/>
          <p:nvPr/>
        </p:nvSpPr>
        <p:spPr>
          <a:xfrm>
            <a:off x="665915" y="3263806"/>
            <a:ext cx="5105349" cy="394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Para datos aleatorios, el rendimiento es consistente. Cada heapify toma aproximadamente log n operaciones.</a:t>
            </a:r>
            <a:endParaRPr b="0" i="0" sz="1600" u="none" cap="none" strike="noStrike"/>
          </a:p>
        </p:txBody>
      </p:sp>
      <p:sp>
        <p:nvSpPr>
          <p:cNvPr id="510" name="Google Shape;510;p13"/>
          <p:cNvSpPr/>
          <p:nvPr/>
        </p:nvSpPr>
        <p:spPr>
          <a:xfrm>
            <a:off x="517934" y="3888615"/>
            <a:ext cx="5319099" cy="986541"/>
          </a:xfrm>
          <a:custGeom>
            <a:rect b="b" l="l" r="r" t="t"/>
            <a:pathLst>
              <a:path extrusionOk="0" h="986541" w="5319099">
                <a:moveTo>
                  <a:pt x="32885" y="0"/>
                </a:moveTo>
                <a:lnTo>
                  <a:pt x="5253326" y="0"/>
                </a:lnTo>
                <a:cubicBezTo>
                  <a:pt x="5289652" y="0"/>
                  <a:pt x="5319099" y="29447"/>
                  <a:pt x="5319099" y="65773"/>
                </a:cubicBezTo>
                <a:lnTo>
                  <a:pt x="5319099" y="920768"/>
                </a:lnTo>
                <a:cubicBezTo>
                  <a:pt x="5319099" y="957093"/>
                  <a:pt x="5289652" y="986541"/>
                  <a:pt x="5253326" y="986541"/>
                </a:cubicBezTo>
                <a:lnTo>
                  <a:pt x="32885" y="986541"/>
                </a:lnTo>
                <a:cubicBezTo>
                  <a:pt x="14723" y="986541"/>
                  <a:pt x="0" y="971818"/>
                  <a:pt x="0" y="95365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517934" y="3888615"/>
            <a:ext cx="32885" cy="986541"/>
          </a:xfrm>
          <a:custGeom>
            <a:rect b="b" l="l" r="r" t="t"/>
            <a:pathLst>
              <a:path extrusionOk="0" h="986541" w="32885">
                <a:moveTo>
                  <a:pt x="32885" y="0"/>
                </a:moveTo>
                <a:lnTo>
                  <a:pt x="32885" y="0"/>
                </a:lnTo>
                <a:lnTo>
                  <a:pt x="32885" y="986541"/>
                </a:lnTo>
                <a:lnTo>
                  <a:pt x="32885" y="986541"/>
                </a:lnTo>
                <a:cubicBezTo>
                  <a:pt x="14723" y="986541"/>
                  <a:pt x="0" y="971818"/>
                  <a:pt x="0" y="95365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665915" y="4036596"/>
            <a:ext cx="764569" cy="230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5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Peor Caso</a:t>
            </a:r>
            <a:endParaRPr b="0" i="0" sz="1600" u="none" cap="none" strike="noStrike"/>
          </a:p>
        </p:txBody>
      </p:sp>
      <p:sp>
        <p:nvSpPr>
          <p:cNvPr id="513" name="Google Shape;513;p13"/>
          <p:cNvSpPr/>
          <p:nvPr/>
        </p:nvSpPr>
        <p:spPr>
          <a:xfrm>
            <a:off x="4914849" y="4020154"/>
            <a:ext cx="797454" cy="263078"/>
          </a:xfrm>
          <a:custGeom>
            <a:rect b="b" l="l" r="r" t="t"/>
            <a:pathLst>
              <a:path extrusionOk="0" h="263078" w="797454">
                <a:moveTo>
                  <a:pt x="131539" y="0"/>
                </a:moveTo>
                <a:lnTo>
                  <a:pt x="665915" y="0"/>
                </a:lnTo>
                <a:cubicBezTo>
                  <a:pt x="738562" y="0"/>
                  <a:pt x="797454" y="58892"/>
                  <a:pt x="797454" y="131539"/>
                </a:cubicBezTo>
                <a:lnTo>
                  <a:pt x="797454" y="131539"/>
                </a:lnTo>
                <a:cubicBezTo>
                  <a:pt x="797454" y="204186"/>
                  <a:pt x="738562" y="263078"/>
                  <a:pt x="665915" y="263078"/>
                </a:cubicBezTo>
                <a:lnTo>
                  <a:pt x="131539" y="263078"/>
                </a:lnTo>
                <a:cubicBezTo>
                  <a:pt x="58941" y="263078"/>
                  <a:pt x="0" y="204137"/>
                  <a:pt x="0" y="131539"/>
                </a:cubicBezTo>
                <a:lnTo>
                  <a:pt x="0" y="131539"/>
                </a:lnTo>
                <a:cubicBezTo>
                  <a:pt x="0" y="58941"/>
                  <a:pt x="58941" y="0"/>
                  <a:pt x="131539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4914849" y="4020154"/>
            <a:ext cx="863223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875" lIns="98650" spcFirstLastPara="1" rIns="98650" wrap="square" tIns="328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6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515" name="Google Shape;515;p13"/>
          <p:cNvSpPr/>
          <p:nvPr/>
        </p:nvSpPr>
        <p:spPr>
          <a:xfrm>
            <a:off x="665915" y="4349001"/>
            <a:ext cx="5105349" cy="394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 diferencia de QuickSort, HeapSort </a:t>
            </a:r>
            <a:r>
              <a:rPr b="1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garantiza</a:t>
            </a: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O(n log n) incluso en el peor escenario. No hay casos patológicos.</a:t>
            </a:r>
            <a:endParaRPr b="0" i="0" sz="1600" u="none" cap="none" strike="noStrike"/>
          </a:p>
        </p:txBody>
      </p:sp>
      <p:sp>
        <p:nvSpPr>
          <p:cNvPr id="516" name="Google Shape;516;p13"/>
          <p:cNvSpPr/>
          <p:nvPr/>
        </p:nvSpPr>
        <p:spPr>
          <a:xfrm>
            <a:off x="6180909" y="1155075"/>
            <a:ext cx="5672610" cy="2786978"/>
          </a:xfrm>
          <a:custGeom>
            <a:rect b="b" l="l" r="r" t="t"/>
            <a:pathLst>
              <a:path extrusionOk="0" h="2786978" w="5672610">
                <a:moveTo>
                  <a:pt x="98659" y="0"/>
                </a:moveTo>
                <a:lnTo>
                  <a:pt x="5573951" y="0"/>
                </a:lnTo>
                <a:cubicBezTo>
                  <a:pt x="5628438" y="0"/>
                  <a:pt x="5672610" y="44171"/>
                  <a:pt x="5672610" y="98659"/>
                </a:cubicBezTo>
                <a:lnTo>
                  <a:pt x="5672610" y="2688319"/>
                </a:lnTo>
                <a:cubicBezTo>
                  <a:pt x="5672610" y="2742807"/>
                  <a:pt x="5628438" y="2786978"/>
                  <a:pt x="5573951" y="2786978"/>
                </a:cubicBezTo>
                <a:lnTo>
                  <a:pt x="98659" y="2786978"/>
                </a:lnTo>
                <a:cubicBezTo>
                  <a:pt x="44208" y="2786978"/>
                  <a:pt x="0" y="2742770"/>
                  <a:pt x="0" y="2688319"/>
                </a:cubicBezTo>
                <a:lnTo>
                  <a:pt x="0" y="98659"/>
                </a:lnTo>
                <a:cubicBezTo>
                  <a:pt x="0" y="44208"/>
                  <a:pt x="44208" y="0"/>
                  <a:pt x="98659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6374107" y="1356494"/>
            <a:ext cx="197308" cy="197308"/>
          </a:xfrm>
          <a:custGeom>
            <a:rect b="b" l="l" r="r" t="t"/>
            <a:pathLst>
              <a:path extrusionOk="0" h="197308" w="197308">
                <a:moveTo>
                  <a:pt x="24664" y="24664"/>
                </a:moveTo>
                <a:cubicBezTo>
                  <a:pt x="11060" y="24664"/>
                  <a:pt x="0" y="35724"/>
                  <a:pt x="0" y="49327"/>
                </a:cubicBezTo>
                <a:lnTo>
                  <a:pt x="0" y="52179"/>
                </a:lnTo>
                <a:cubicBezTo>
                  <a:pt x="0" y="54799"/>
                  <a:pt x="1696" y="57034"/>
                  <a:pt x="3892" y="58460"/>
                </a:cubicBezTo>
                <a:cubicBezTo>
                  <a:pt x="8979" y="61774"/>
                  <a:pt x="12332" y="67478"/>
                  <a:pt x="12332" y="73991"/>
                </a:cubicBezTo>
                <a:cubicBezTo>
                  <a:pt x="12332" y="80503"/>
                  <a:pt x="8979" y="86207"/>
                  <a:pt x="3892" y="89521"/>
                </a:cubicBezTo>
                <a:cubicBezTo>
                  <a:pt x="1696" y="90947"/>
                  <a:pt x="0" y="93182"/>
                  <a:pt x="0" y="95802"/>
                </a:cubicBezTo>
                <a:lnTo>
                  <a:pt x="0" y="117152"/>
                </a:lnTo>
                <a:lnTo>
                  <a:pt x="197308" y="117152"/>
                </a:lnTo>
                <a:lnTo>
                  <a:pt x="197308" y="95802"/>
                </a:lnTo>
                <a:cubicBezTo>
                  <a:pt x="197308" y="93182"/>
                  <a:pt x="195613" y="90947"/>
                  <a:pt x="193416" y="89521"/>
                </a:cubicBezTo>
                <a:cubicBezTo>
                  <a:pt x="188329" y="86207"/>
                  <a:pt x="184976" y="80503"/>
                  <a:pt x="184976" y="73991"/>
                </a:cubicBezTo>
                <a:cubicBezTo>
                  <a:pt x="184976" y="67478"/>
                  <a:pt x="188329" y="61774"/>
                  <a:pt x="193416" y="58460"/>
                </a:cubicBezTo>
                <a:cubicBezTo>
                  <a:pt x="195613" y="57034"/>
                  <a:pt x="197308" y="54799"/>
                  <a:pt x="197308" y="52179"/>
                </a:cubicBezTo>
                <a:lnTo>
                  <a:pt x="197308" y="49327"/>
                </a:lnTo>
                <a:cubicBezTo>
                  <a:pt x="197308" y="35724"/>
                  <a:pt x="186248" y="24664"/>
                  <a:pt x="172645" y="24664"/>
                </a:cubicBezTo>
                <a:lnTo>
                  <a:pt x="24664" y="24664"/>
                </a:lnTo>
                <a:close/>
                <a:moveTo>
                  <a:pt x="197308" y="160313"/>
                </a:moveTo>
                <a:lnTo>
                  <a:pt x="197308" y="135649"/>
                </a:lnTo>
                <a:lnTo>
                  <a:pt x="0" y="135649"/>
                </a:lnTo>
                <a:lnTo>
                  <a:pt x="0" y="160313"/>
                </a:lnTo>
                <a:cubicBezTo>
                  <a:pt x="0" y="167134"/>
                  <a:pt x="5511" y="172645"/>
                  <a:pt x="12332" y="172645"/>
                </a:cubicBezTo>
                <a:lnTo>
                  <a:pt x="36995" y="172645"/>
                </a:lnTo>
                <a:lnTo>
                  <a:pt x="36995" y="163396"/>
                </a:lnTo>
                <a:cubicBezTo>
                  <a:pt x="36995" y="158270"/>
                  <a:pt x="41119" y="154147"/>
                  <a:pt x="46244" y="154147"/>
                </a:cubicBezTo>
                <a:cubicBezTo>
                  <a:pt x="51369" y="154147"/>
                  <a:pt x="55493" y="158270"/>
                  <a:pt x="55493" y="163396"/>
                </a:cubicBezTo>
                <a:lnTo>
                  <a:pt x="55493" y="172645"/>
                </a:lnTo>
                <a:lnTo>
                  <a:pt x="89405" y="172645"/>
                </a:lnTo>
                <a:lnTo>
                  <a:pt x="89405" y="163396"/>
                </a:lnTo>
                <a:cubicBezTo>
                  <a:pt x="89405" y="158270"/>
                  <a:pt x="93529" y="154147"/>
                  <a:pt x="98654" y="154147"/>
                </a:cubicBezTo>
                <a:cubicBezTo>
                  <a:pt x="103779" y="154147"/>
                  <a:pt x="107903" y="158270"/>
                  <a:pt x="107903" y="163396"/>
                </a:cubicBezTo>
                <a:lnTo>
                  <a:pt x="107903" y="172645"/>
                </a:lnTo>
                <a:lnTo>
                  <a:pt x="141815" y="172645"/>
                </a:lnTo>
                <a:lnTo>
                  <a:pt x="141815" y="163396"/>
                </a:lnTo>
                <a:cubicBezTo>
                  <a:pt x="141815" y="158270"/>
                  <a:pt x="145939" y="154147"/>
                  <a:pt x="151064" y="154147"/>
                </a:cubicBezTo>
                <a:cubicBezTo>
                  <a:pt x="156189" y="154147"/>
                  <a:pt x="160313" y="158270"/>
                  <a:pt x="160313" y="163396"/>
                </a:cubicBezTo>
                <a:lnTo>
                  <a:pt x="160313" y="172645"/>
                </a:lnTo>
                <a:lnTo>
                  <a:pt x="184976" y="172645"/>
                </a:lnTo>
                <a:cubicBezTo>
                  <a:pt x="191797" y="172645"/>
                  <a:pt x="197308" y="167134"/>
                  <a:pt x="197308" y="160313"/>
                </a:cubicBezTo>
                <a:close/>
                <a:moveTo>
                  <a:pt x="61659" y="61659"/>
                </a:moveTo>
                <a:lnTo>
                  <a:pt x="61659" y="86322"/>
                </a:lnTo>
                <a:cubicBezTo>
                  <a:pt x="61659" y="93143"/>
                  <a:pt x="56148" y="98654"/>
                  <a:pt x="49327" y="98654"/>
                </a:cubicBezTo>
                <a:cubicBezTo>
                  <a:pt x="42506" y="98654"/>
                  <a:pt x="36995" y="93143"/>
                  <a:pt x="36995" y="86322"/>
                </a:cubicBezTo>
                <a:lnTo>
                  <a:pt x="36995" y="61659"/>
                </a:lnTo>
                <a:cubicBezTo>
                  <a:pt x="36995" y="54838"/>
                  <a:pt x="42506" y="49327"/>
                  <a:pt x="49327" y="49327"/>
                </a:cubicBezTo>
                <a:cubicBezTo>
                  <a:pt x="56148" y="49327"/>
                  <a:pt x="61659" y="54838"/>
                  <a:pt x="61659" y="61659"/>
                </a:cubicBezTo>
                <a:close/>
                <a:moveTo>
                  <a:pt x="110986" y="61659"/>
                </a:moveTo>
                <a:lnTo>
                  <a:pt x="110986" y="86322"/>
                </a:lnTo>
                <a:cubicBezTo>
                  <a:pt x="110986" y="93143"/>
                  <a:pt x="105475" y="98654"/>
                  <a:pt x="98654" y="98654"/>
                </a:cubicBezTo>
                <a:cubicBezTo>
                  <a:pt x="91833" y="98654"/>
                  <a:pt x="86322" y="93143"/>
                  <a:pt x="86322" y="86322"/>
                </a:cubicBezTo>
                <a:lnTo>
                  <a:pt x="86322" y="61659"/>
                </a:lnTo>
                <a:cubicBezTo>
                  <a:pt x="86322" y="54838"/>
                  <a:pt x="91833" y="49327"/>
                  <a:pt x="98654" y="49327"/>
                </a:cubicBezTo>
                <a:cubicBezTo>
                  <a:pt x="105475" y="49327"/>
                  <a:pt x="110986" y="54838"/>
                  <a:pt x="110986" y="61659"/>
                </a:cubicBezTo>
                <a:close/>
                <a:moveTo>
                  <a:pt x="160313" y="61659"/>
                </a:moveTo>
                <a:lnTo>
                  <a:pt x="160313" y="86322"/>
                </a:lnTo>
                <a:cubicBezTo>
                  <a:pt x="160313" y="93143"/>
                  <a:pt x="154802" y="98654"/>
                  <a:pt x="147981" y="98654"/>
                </a:cubicBezTo>
                <a:cubicBezTo>
                  <a:pt x="141160" y="98654"/>
                  <a:pt x="135649" y="93143"/>
                  <a:pt x="135649" y="86322"/>
                </a:cubicBezTo>
                <a:lnTo>
                  <a:pt x="135649" y="61659"/>
                </a:lnTo>
                <a:cubicBezTo>
                  <a:pt x="135649" y="54838"/>
                  <a:pt x="141160" y="49327"/>
                  <a:pt x="147981" y="49327"/>
                </a:cubicBezTo>
                <a:cubicBezTo>
                  <a:pt x="154802" y="49327"/>
                  <a:pt x="160313" y="54838"/>
                  <a:pt x="160313" y="61659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6596079" y="1323609"/>
            <a:ext cx="5187560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Complejidad Espacial</a:t>
            </a:r>
            <a:endParaRPr b="0" i="0" sz="1600" u="none" cap="none" strike="noStrike"/>
          </a:p>
        </p:txBody>
      </p:sp>
      <p:sp>
        <p:nvSpPr>
          <p:cNvPr id="519" name="Google Shape;519;p13"/>
          <p:cNvSpPr/>
          <p:nvPr/>
        </p:nvSpPr>
        <p:spPr>
          <a:xfrm>
            <a:off x="6353554" y="1722336"/>
            <a:ext cx="5327320" cy="2047072"/>
          </a:xfrm>
          <a:custGeom>
            <a:rect b="b" l="l" r="r" t="t"/>
            <a:pathLst>
              <a:path extrusionOk="0" h="2047072" w="5327320">
                <a:moveTo>
                  <a:pt x="65772" y="0"/>
                </a:moveTo>
                <a:lnTo>
                  <a:pt x="5261548" y="0"/>
                </a:lnTo>
                <a:cubicBezTo>
                  <a:pt x="5297873" y="0"/>
                  <a:pt x="5327320" y="29447"/>
                  <a:pt x="5327320" y="65772"/>
                </a:cubicBezTo>
                <a:lnTo>
                  <a:pt x="5327320" y="1981300"/>
                </a:lnTo>
                <a:cubicBezTo>
                  <a:pt x="5327320" y="2017625"/>
                  <a:pt x="5297873" y="2047072"/>
                  <a:pt x="5261548" y="2047072"/>
                </a:cubicBezTo>
                <a:lnTo>
                  <a:pt x="65772" y="2047072"/>
                </a:lnTo>
                <a:cubicBezTo>
                  <a:pt x="29447" y="2047072"/>
                  <a:pt x="0" y="2017625"/>
                  <a:pt x="0" y="1981300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6522088" y="1956639"/>
            <a:ext cx="1266061" cy="230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5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Espacio Auxiliar</a:t>
            </a:r>
            <a:endParaRPr b="0" i="0" sz="1600" u="none" cap="none" strike="noStrike"/>
          </a:p>
        </p:txBody>
      </p:sp>
      <p:sp>
        <p:nvSpPr>
          <p:cNvPr id="521" name="Google Shape;521;p13"/>
          <p:cNvSpPr/>
          <p:nvPr/>
        </p:nvSpPr>
        <p:spPr>
          <a:xfrm>
            <a:off x="10959723" y="1890870"/>
            <a:ext cx="559040" cy="361732"/>
          </a:xfrm>
          <a:custGeom>
            <a:rect b="b" l="l" r="r" t="t"/>
            <a:pathLst>
              <a:path extrusionOk="0" h="361732" w="559040">
                <a:moveTo>
                  <a:pt x="180866" y="0"/>
                </a:moveTo>
                <a:lnTo>
                  <a:pt x="378174" y="0"/>
                </a:lnTo>
                <a:cubicBezTo>
                  <a:pt x="477997" y="0"/>
                  <a:pt x="559040" y="81043"/>
                  <a:pt x="559040" y="180866"/>
                </a:cubicBezTo>
                <a:lnTo>
                  <a:pt x="559040" y="180866"/>
                </a:lnTo>
                <a:cubicBezTo>
                  <a:pt x="559040" y="280688"/>
                  <a:pt x="477997" y="361732"/>
                  <a:pt x="378174" y="361732"/>
                </a:cubicBezTo>
                <a:lnTo>
                  <a:pt x="180866" y="361732"/>
                </a:lnTo>
                <a:cubicBezTo>
                  <a:pt x="81043" y="361732"/>
                  <a:pt x="0" y="280688"/>
                  <a:pt x="0" y="180866"/>
                </a:cubicBezTo>
                <a:lnTo>
                  <a:pt x="0" y="180866"/>
                </a:lnTo>
                <a:cubicBezTo>
                  <a:pt x="0" y="81043"/>
                  <a:pt x="81043" y="0"/>
                  <a:pt x="180866" y="0"/>
                </a:cubicBezTo>
                <a:close/>
              </a:path>
            </a:pathLst>
          </a:custGeom>
          <a:solidFill>
            <a:srgbClr val="22C55E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10959723" y="1890870"/>
            <a:ext cx="641252" cy="36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750" lIns="131525" spcFirstLastPara="1" rIns="131525" wrap="square" tIns="657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5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i="0" sz="1600" u="none" cap="none" strike="noStrike"/>
          </a:p>
        </p:txBody>
      </p:sp>
      <p:sp>
        <p:nvSpPr>
          <p:cNvPr id="523" name="Google Shape;523;p13"/>
          <p:cNvSpPr/>
          <p:nvPr/>
        </p:nvSpPr>
        <p:spPr>
          <a:xfrm>
            <a:off x="6522088" y="2351256"/>
            <a:ext cx="5056022" cy="427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Heap Sort es un algoritmo </a:t>
            </a:r>
            <a:r>
              <a:rPr b="1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in-place</a:t>
            </a: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 No requiere memoria adicional proporcional al tamaño de entrada.</a:t>
            </a:r>
            <a:endParaRPr b="0" i="0" sz="1600" u="none" cap="none" strike="noStrike"/>
          </a:p>
        </p:txBody>
      </p:sp>
      <p:sp>
        <p:nvSpPr>
          <p:cNvPr id="524" name="Google Shape;524;p13"/>
          <p:cNvSpPr/>
          <p:nvPr/>
        </p:nvSpPr>
        <p:spPr>
          <a:xfrm>
            <a:off x="6522088" y="2877411"/>
            <a:ext cx="5056022" cy="19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Solo usa variables temporales para intercambios</a:t>
            </a:r>
            <a:endParaRPr b="0" i="0" sz="1600" u="none" cap="none" strike="noStrike"/>
          </a:p>
        </p:txBody>
      </p:sp>
      <p:sp>
        <p:nvSpPr>
          <p:cNvPr id="525" name="Google Shape;525;p13"/>
          <p:cNvSpPr/>
          <p:nvPr/>
        </p:nvSpPr>
        <p:spPr>
          <a:xfrm>
            <a:off x="6522088" y="3140488"/>
            <a:ext cx="5056022" cy="19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El heap se construye en el mismo arreglo</a:t>
            </a:r>
            <a:endParaRPr b="0" i="0" sz="1600" u="none" cap="none" strike="noStrike"/>
          </a:p>
        </p:txBody>
      </p:sp>
      <p:sp>
        <p:nvSpPr>
          <p:cNvPr id="526" name="Google Shape;526;p13"/>
          <p:cNvSpPr/>
          <p:nvPr/>
        </p:nvSpPr>
        <p:spPr>
          <a:xfrm>
            <a:off x="6522088" y="3403566"/>
            <a:ext cx="5056022" cy="19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• No requiere arreglos auxiliares como Merge Sort</a:t>
            </a:r>
            <a:endParaRPr b="0" i="0" sz="1600" u="none" cap="none" strike="noStrike"/>
          </a:p>
        </p:txBody>
      </p:sp>
      <p:sp>
        <p:nvSpPr>
          <p:cNvPr id="527" name="Google Shape;527;p13"/>
          <p:cNvSpPr/>
          <p:nvPr/>
        </p:nvSpPr>
        <p:spPr>
          <a:xfrm>
            <a:off x="6180909" y="4081813"/>
            <a:ext cx="5672610" cy="1652456"/>
          </a:xfrm>
          <a:custGeom>
            <a:rect b="b" l="l" r="r" t="t"/>
            <a:pathLst>
              <a:path extrusionOk="0" h="1652456" w="5672610">
                <a:moveTo>
                  <a:pt x="98652" y="0"/>
                </a:moveTo>
                <a:lnTo>
                  <a:pt x="5573958" y="0"/>
                </a:lnTo>
                <a:cubicBezTo>
                  <a:pt x="5628442" y="0"/>
                  <a:pt x="5672610" y="44168"/>
                  <a:pt x="5672610" y="98652"/>
                </a:cubicBezTo>
                <a:lnTo>
                  <a:pt x="5672610" y="1553804"/>
                </a:lnTo>
                <a:cubicBezTo>
                  <a:pt x="5672610" y="1608288"/>
                  <a:pt x="5628442" y="1652456"/>
                  <a:pt x="5573958" y="1652456"/>
                </a:cubicBezTo>
                <a:lnTo>
                  <a:pt x="98652" y="1652456"/>
                </a:lnTo>
                <a:cubicBezTo>
                  <a:pt x="44168" y="1652456"/>
                  <a:pt x="0" y="1608288"/>
                  <a:pt x="0" y="1553804"/>
                </a:cubicBezTo>
                <a:lnTo>
                  <a:pt x="0" y="98652"/>
                </a:lnTo>
                <a:cubicBezTo>
                  <a:pt x="0" y="44168"/>
                  <a:pt x="44168" y="0"/>
                  <a:pt x="9865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6359720" y="4283231"/>
            <a:ext cx="184976" cy="164423"/>
          </a:xfrm>
          <a:custGeom>
            <a:rect b="b" l="l" r="r" t="t"/>
            <a:pathLst>
              <a:path extrusionOk="0" h="164423" w="184976">
                <a:moveTo>
                  <a:pt x="99393" y="-6070"/>
                </a:moveTo>
                <a:cubicBezTo>
                  <a:pt x="98076" y="-8639"/>
                  <a:pt x="95411" y="-10276"/>
                  <a:pt x="92520" y="-10276"/>
                </a:cubicBezTo>
                <a:cubicBezTo>
                  <a:pt x="89630" y="-10276"/>
                  <a:pt x="86965" y="-8639"/>
                  <a:pt x="85648" y="-6070"/>
                </a:cubicBezTo>
                <a:lnTo>
                  <a:pt x="62012" y="40239"/>
                </a:lnTo>
                <a:lnTo>
                  <a:pt x="10662" y="48396"/>
                </a:lnTo>
                <a:cubicBezTo>
                  <a:pt x="7804" y="48845"/>
                  <a:pt x="5427" y="50869"/>
                  <a:pt x="4528" y="53630"/>
                </a:cubicBezTo>
                <a:cubicBezTo>
                  <a:pt x="3629" y="56392"/>
                  <a:pt x="4367" y="59411"/>
                  <a:pt x="6391" y="61466"/>
                </a:cubicBezTo>
                <a:lnTo>
                  <a:pt x="43129" y="98237"/>
                </a:lnTo>
                <a:lnTo>
                  <a:pt x="35036" y="149587"/>
                </a:lnTo>
                <a:cubicBezTo>
                  <a:pt x="34587" y="152445"/>
                  <a:pt x="35775" y="155335"/>
                  <a:pt x="38119" y="157037"/>
                </a:cubicBezTo>
                <a:cubicBezTo>
                  <a:pt x="40464" y="158739"/>
                  <a:pt x="43547" y="158996"/>
                  <a:pt x="46148" y="157680"/>
                </a:cubicBezTo>
                <a:lnTo>
                  <a:pt x="92520" y="134108"/>
                </a:lnTo>
                <a:lnTo>
                  <a:pt x="138861" y="157680"/>
                </a:lnTo>
                <a:cubicBezTo>
                  <a:pt x="141430" y="158996"/>
                  <a:pt x="144545" y="158739"/>
                  <a:pt x="146889" y="157037"/>
                </a:cubicBezTo>
                <a:cubicBezTo>
                  <a:pt x="149234" y="155335"/>
                  <a:pt x="150422" y="152477"/>
                  <a:pt x="149972" y="149587"/>
                </a:cubicBezTo>
                <a:lnTo>
                  <a:pt x="141847" y="98237"/>
                </a:lnTo>
                <a:lnTo>
                  <a:pt x="178586" y="61466"/>
                </a:lnTo>
                <a:cubicBezTo>
                  <a:pt x="180641" y="59411"/>
                  <a:pt x="181348" y="56392"/>
                  <a:pt x="180448" y="53630"/>
                </a:cubicBezTo>
                <a:cubicBezTo>
                  <a:pt x="179549" y="50869"/>
                  <a:pt x="177205" y="48845"/>
                  <a:pt x="174315" y="48396"/>
                </a:cubicBezTo>
                <a:lnTo>
                  <a:pt x="122996" y="40239"/>
                </a:lnTo>
                <a:lnTo>
                  <a:pt x="99393" y="-607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6554973" y="4250347"/>
            <a:ext cx="5212224" cy="230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5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Ventaja Clave</a:t>
            </a:r>
            <a:endParaRPr b="0" i="0" sz="1600" u="none" cap="none" strike="noStrike"/>
          </a:p>
        </p:txBody>
      </p:sp>
      <p:sp>
        <p:nvSpPr>
          <p:cNvPr id="530" name="Google Shape;530;p13"/>
          <p:cNvSpPr/>
          <p:nvPr/>
        </p:nvSpPr>
        <p:spPr>
          <a:xfrm>
            <a:off x="6353554" y="4583304"/>
            <a:ext cx="5327320" cy="978320"/>
          </a:xfrm>
          <a:custGeom>
            <a:rect b="b" l="l" r="r" t="t"/>
            <a:pathLst>
              <a:path extrusionOk="0" h="978320" w="5327320">
                <a:moveTo>
                  <a:pt x="65772" y="0"/>
                </a:moveTo>
                <a:lnTo>
                  <a:pt x="5261548" y="0"/>
                </a:lnTo>
                <a:cubicBezTo>
                  <a:pt x="5297873" y="0"/>
                  <a:pt x="5327320" y="29447"/>
                  <a:pt x="5327320" y="65772"/>
                </a:cubicBezTo>
                <a:lnTo>
                  <a:pt x="5327320" y="912547"/>
                </a:lnTo>
                <a:cubicBezTo>
                  <a:pt x="5327320" y="948872"/>
                  <a:pt x="5297873" y="978320"/>
                  <a:pt x="5261548" y="978320"/>
                </a:cubicBezTo>
                <a:lnTo>
                  <a:pt x="65772" y="978320"/>
                </a:lnTo>
                <a:cubicBezTo>
                  <a:pt x="29447" y="978320"/>
                  <a:pt x="0" y="948872"/>
                  <a:pt x="0" y="912547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6505646" y="4768281"/>
            <a:ext cx="131539" cy="131539"/>
          </a:xfrm>
          <a:custGeom>
            <a:rect b="b" l="l" r="r" t="t"/>
            <a:pathLst>
              <a:path extrusionOk="0" h="131539" w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87453" y="54645"/>
                </a:moveTo>
                <a:lnTo>
                  <a:pt x="66900" y="87530"/>
                </a:lnTo>
                <a:cubicBezTo>
                  <a:pt x="65821" y="89251"/>
                  <a:pt x="63971" y="90330"/>
                  <a:pt x="61941" y="90433"/>
                </a:cubicBezTo>
                <a:cubicBezTo>
                  <a:pt x="59912" y="90536"/>
                  <a:pt x="57959" y="89611"/>
                  <a:pt x="56752" y="87967"/>
                </a:cubicBezTo>
                <a:lnTo>
                  <a:pt x="44420" y="71524"/>
                </a:lnTo>
                <a:cubicBezTo>
                  <a:pt x="42365" y="68801"/>
                  <a:pt x="42930" y="64947"/>
                  <a:pt x="45653" y="62892"/>
                </a:cubicBezTo>
                <a:cubicBezTo>
                  <a:pt x="48376" y="60837"/>
                  <a:pt x="52230" y="61402"/>
                  <a:pt x="54285" y="64125"/>
                </a:cubicBezTo>
                <a:lnTo>
                  <a:pt x="61222" y="73374"/>
                </a:lnTo>
                <a:lnTo>
                  <a:pt x="76996" y="48120"/>
                </a:lnTo>
                <a:cubicBezTo>
                  <a:pt x="78795" y="45242"/>
                  <a:pt x="82597" y="44343"/>
                  <a:pt x="85500" y="46167"/>
                </a:cubicBezTo>
                <a:cubicBezTo>
                  <a:pt x="88403" y="47991"/>
                  <a:pt x="89277" y="51768"/>
                  <a:pt x="87453" y="5467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6696202" y="4718953"/>
            <a:ext cx="4914793" cy="427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Consistencia garantizada:</a:t>
            </a: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A diferencia de QuickSort que puede degradarse a O(n²), HeapSort siempre mantiene O(n log n).</a:t>
            </a:r>
            <a:endParaRPr b="0" i="0" sz="1600" u="none" cap="none" strike="noStrike"/>
          </a:p>
        </p:txBody>
      </p:sp>
      <p:sp>
        <p:nvSpPr>
          <p:cNvPr id="533" name="Google Shape;533;p13"/>
          <p:cNvSpPr/>
          <p:nvPr/>
        </p:nvSpPr>
        <p:spPr>
          <a:xfrm>
            <a:off x="6505646" y="5261551"/>
            <a:ext cx="131539" cy="131539"/>
          </a:xfrm>
          <a:custGeom>
            <a:rect b="b" l="l" r="r" t="t"/>
            <a:pathLst>
              <a:path extrusionOk="0" h="131539" w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87453" y="54645"/>
                </a:moveTo>
                <a:lnTo>
                  <a:pt x="66900" y="87530"/>
                </a:lnTo>
                <a:cubicBezTo>
                  <a:pt x="65821" y="89251"/>
                  <a:pt x="63971" y="90330"/>
                  <a:pt x="61941" y="90433"/>
                </a:cubicBezTo>
                <a:cubicBezTo>
                  <a:pt x="59912" y="90536"/>
                  <a:pt x="57959" y="89611"/>
                  <a:pt x="56752" y="87967"/>
                </a:cubicBezTo>
                <a:lnTo>
                  <a:pt x="44420" y="71524"/>
                </a:lnTo>
                <a:cubicBezTo>
                  <a:pt x="42365" y="68801"/>
                  <a:pt x="42930" y="64947"/>
                  <a:pt x="45653" y="62892"/>
                </a:cubicBezTo>
                <a:cubicBezTo>
                  <a:pt x="48376" y="60837"/>
                  <a:pt x="52230" y="61402"/>
                  <a:pt x="54285" y="64125"/>
                </a:cubicBezTo>
                <a:lnTo>
                  <a:pt x="61222" y="73374"/>
                </a:lnTo>
                <a:lnTo>
                  <a:pt x="76996" y="48120"/>
                </a:lnTo>
                <a:cubicBezTo>
                  <a:pt x="78795" y="45242"/>
                  <a:pt x="82597" y="44343"/>
                  <a:pt x="85500" y="46167"/>
                </a:cubicBezTo>
                <a:cubicBezTo>
                  <a:pt x="88403" y="47991"/>
                  <a:pt x="89277" y="51768"/>
                  <a:pt x="87453" y="54671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6696202" y="5212224"/>
            <a:ext cx="4914793" cy="213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Ideal para sistemas críticos</a:t>
            </a:r>
            <a:r>
              <a:rPr b="0" i="0" lang="en-US" sz="103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donde se necesita rendimiento predecible.</a:t>
            </a:r>
            <a:endParaRPr b="0" i="0" sz="1600" u="none" cap="none" strike="noStrike"/>
          </a:p>
        </p:txBody>
      </p:sp>
      <p:sp>
        <p:nvSpPr>
          <p:cNvPr id="535" name="Google Shape;535;p13"/>
          <p:cNvSpPr/>
          <p:nvPr/>
        </p:nvSpPr>
        <p:spPr>
          <a:xfrm>
            <a:off x="332958" y="5874028"/>
            <a:ext cx="11526085" cy="764569"/>
          </a:xfrm>
          <a:custGeom>
            <a:rect b="b" l="l" r="r" t="t"/>
            <a:pathLst>
              <a:path extrusionOk="0" h="764569" w="11526085">
                <a:moveTo>
                  <a:pt x="98652" y="0"/>
                </a:moveTo>
                <a:lnTo>
                  <a:pt x="11427433" y="0"/>
                </a:lnTo>
                <a:cubicBezTo>
                  <a:pt x="11481917" y="0"/>
                  <a:pt x="11526085" y="44168"/>
                  <a:pt x="11526085" y="98652"/>
                </a:cubicBezTo>
                <a:lnTo>
                  <a:pt x="11526085" y="665917"/>
                </a:lnTo>
                <a:cubicBezTo>
                  <a:pt x="11526085" y="720401"/>
                  <a:pt x="11481917" y="764569"/>
                  <a:pt x="11427433" y="764569"/>
                </a:cubicBezTo>
                <a:lnTo>
                  <a:pt x="98652" y="764569"/>
                </a:lnTo>
                <a:cubicBezTo>
                  <a:pt x="44168" y="764569"/>
                  <a:pt x="0" y="720401"/>
                  <a:pt x="0" y="665917"/>
                </a:cubicBezTo>
                <a:lnTo>
                  <a:pt x="0" y="98652"/>
                </a:lnTo>
                <a:cubicBezTo>
                  <a:pt x="0" y="44168"/>
                  <a:pt x="44168" y="0"/>
                  <a:pt x="98652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435722" y="6009678"/>
            <a:ext cx="2778757" cy="19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Mejor Caso</a:t>
            </a:r>
            <a:endParaRPr b="0" i="0" sz="1600" u="none" cap="none" strike="noStrike"/>
          </a:p>
        </p:txBody>
      </p:sp>
      <p:sp>
        <p:nvSpPr>
          <p:cNvPr id="537" name="Google Shape;537;p13"/>
          <p:cNvSpPr/>
          <p:nvPr/>
        </p:nvSpPr>
        <p:spPr>
          <a:xfrm>
            <a:off x="419280" y="6239871"/>
            <a:ext cx="2811641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538" name="Google Shape;538;p13"/>
          <p:cNvSpPr/>
          <p:nvPr/>
        </p:nvSpPr>
        <p:spPr>
          <a:xfrm>
            <a:off x="3281533" y="6009678"/>
            <a:ext cx="2778757" cy="19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Caso Promedio</a:t>
            </a:r>
            <a:endParaRPr b="0" i="0" sz="1600" u="none" cap="none" strike="noStrike"/>
          </a:p>
        </p:txBody>
      </p:sp>
      <p:sp>
        <p:nvSpPr>
          <p:cNvPr id="539" name="Google Shape;539;p13"/>
          <p:cNvSpPr/>
          <p:nvPr/>
        </p:nvSpPr>
        <p:spPr>
          <a:xfrm>
            <a:off x="3265090" y="6239871"/>
            <a:ext cx="2811641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540" name="Google Shape;540;p13"/>
          <p:cNvSpPr/>
          <p:nvPr/>
        </p:nvSpPr>
        <p:spPr>
          <a:xfrm>
            <a:off x="6127472" y="6009678"/>
            <a:ext cx="2778757" cy="19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Peor Caso</a:t>
            </a:r>
            <a:endParaRPr b="0" i="0" sz="1600" u="none" cap="none" strike="noStrike"/>
          </a:p>
        </p:txBody>
      </p:sp>
      <p:sp>
        <p:nvSpPr>
          <p:cNvPr id="541" name="Google Shape;541;p13"/>
          <p:cNvSpPr/>
          <p:nvPr/>
        </p:nvSpPr>
        <p:spPr>
          <a:xfrm>
            <a:off x="6111029" y="6239871"/>
            <a:ext cx="2811641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542" name="Google Shape;542;p13"/>
          <p:cNvSpPr/>
          <p:nvPr/>
        </p:nvSpPr>
        <p:spPr>
          <a:xfrm>
            <a:off x="8973282" y="6009678"/>
            <a:ext cx="2778757" cy="19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6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Espacio</a:t>
            </a:r>
            <a:endParaRPr b="0" i="0" sz="1600" u="none" cap="none" strike="noStrike"/>
          </a:p>
        </p:txBody>
      </p:sp>
      <p:sp>
        <p:nvSpPr>
          <p:cNvPr id="543" name="Google Shape;543;p13"/>
          <p:cNvSpPr/>
          <p:nvPr/>
        </p:nvSpPr>
        <p:spPr>
          <a:xfrm>
            <a:off x="8956840" y="6239871"/>
            <a:ext cx="2811641" cy="263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4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4"/>
          <p:cNvSpPr/>
          <p:nvPr/>
        </p:nvSpPr>
        <p:spPr>
          <a:xfrm>
            <a:off x="381000" y="381000"/>
            <a:ext cx="76200" cy="457200"/>
          </a:xfrm>
          <a:custGeom>
            <a:rect b="b" l="l" r="r" t="t"/>
            <a:pathLst>
              <a:path extrusionOk="0" h="457200" w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571500" y="381000"/>
            <a:ext cx="1133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Comparación: Heap Sort vs QuickSort vs Bubble Sort</a:t>
            </a:r>
            <a:endParaRPr b="0" i="0" sz="1600" u="none" cap="none" strike="noStrike"/>
          </a:p>
        </p:txBody>
      </p:sp>
      <p:sp>
        <p:nvSpPr>
          <p:cNvPr id="551" name="Google Shape;551;p14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¿Cuándo usar cada algoritmo?</a:t>
            </a:r>
            <a:endParaRPr b="0" i="0" sz="1600" u="none" cap="none" strike="noStrike"/>
          </a:p>
        </p:txBody>
      </p:sp>
      <p:sp>
        <p:nvSpPr>
          <p:cNvPr id="552" name="Google Shape;552;p14"/>
          <p:cNvSpPr/>
          <p:nvPr/>
        </p:nvSpPr>
        <p:spPr>
          <a:xfrm>
            <a:off x="385763" y="1338263"/>
            <a:ext cx="11420475" cy="3743325"/>
          </a:xfrm>
          <a:custGeom>
            <a:rect b="b" l="l" r="r" t="t"/>
            <a:pathLst>
              <a:path extrusionOk="0" h="3743325" w="11420475">
                <a:moveTo>
                  <a:pt x="114284" y="0"/>
                </a:moveTo>
                <a:lnTo>
                  <a:pt x="11306191" y="0"/>
                </a:lnTo>
                <a:cubicBezTo>
                  <a:pt x="11369308" y="0"/>
                  <a:pt x="11420475" y="51167"/>
                  <a:pt x="11420475" y="114284"/>
                </a:cubicBezTo>
                <a:lnTo>
                  <a:pt x="11420475" y="3629041"/>
                </a:lnTo>
                <a:cubicBezTo>
                  <a:pt x="11420475" y="3692158"/>
                  <a:pt x="11369308" y="3743325"/>
                  <a:pt x="113061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53" name="Google Shape;553;p14"/>
          <p:cNvGraphicFramePr/>
          <p:nvPr/>
        </p:nvGraphicFramePr>
        <p:xfrm>
          <a:off x="390525" y="134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{887F9327-847C-4EDB-A2DB-095B8445EB99}</a:tableStyleId>
              </a:tblPr>
              <a:tblGrid>
                <a:gridCol w="2209800"/>
                <a:gridCol w="3362325"/>
                <a:gridCol w="3162300"/>
                <a:gridCol w="2676525"/>
              </a:tblGrid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Característica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22C5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Heap Sort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22C55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QuickSort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59E0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Bubble Sort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EF444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>
                        <a:alpha val="2000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Mejor Caso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6366F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 log n)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22C55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 log n)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59E0B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EF444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Caso Promedio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 log n)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 log n)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O(n²)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Peor Caso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 log n) ✓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O(n²)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O(n²)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Espacio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O(1) ✓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O(log n)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O(1)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Estable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Sí ✓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In-Place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Sí ✓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Sí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Sí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rgbClr val="EFEFE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Uso Recomendado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Sistemas críticos, memoria limitada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Uso general, velocidad promedio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8F8F8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Educación, n muy pequeño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4300" marB="1143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54" name="Google Shape;554;p14"/>
          <p:cNvSpPr/>
          <p:nvPr/>
        </p:nvSpPr>
        <p:spPr>
          <a:xfrm>
            <a:off x="385763" y="5243513"/>
            <a:ext cx="3695700" cy="1343025"/>
          </a:xfrm>
          <a:custGeom>
            <a:rect b="b" l="l" r="r" t="t"/>
            <a:pathLst>
              <a:path extrusionOk="0" h="1343025" w="3695700">
                <a:moveTo>
                  <a:pt x="76203" y="0"/>
                </a:moveTo>
                <a:lnTo>
                  <a:pt x="3619497" y="0"/>
                </a:lnTo>
                <a:cubicBezTo>
                  <a:pt x="3661583" y="0"/>
                  <a:pt x="3695700" y="34117"/>
                  <a:pt x="3695700" y="76203"/>
                </a:cubicBezTo>
                <a:lnTo>
                  <a:pt x="3695700" y="1266822"/>
                </a:lnTo>
                <a:cubicBezTo>
                  <a:pt x="3695700" y="1308908"/>
                  <a:pt x="3661583" y="1343025"/>
                  <a:pt x="3619497" y="1343025"/>
                </a:cubicBezTo>
                <a:lnTo>
                  <a:pt x="76203" y="1343025"/>
                </a:lnTo>
                <a:cubicBezTo>
                  <a:pt x="34117" y="1343025"/>
                  <a:pt x="0" y="1308908"/>
                  <a:pt x="0" y="12668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566738" y="544830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762000" y="5400675"/>
            <a:ext cx="3248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Heap Sort</a:t>
            </a:r>
            <a:endParaRPr b="0" i="0" sz="1600" u="none" cap="none" strike="noStrike"/>
          </a:p>
        </p:txBody>
      </p:sp>
      <p:sp>
        <p:nvSpPr>
          <p:cNvPr id="557" name="Google Shape;557;p14"/>
          <p:cNvSpPr/>
          <p:nvPr/>
        </p:nvSpPr>
        <p:spPr>
          <a:xfrm>
            <a:off x="542925" y="5743575"/>
            <a:ext cx="3457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Use cuando necesite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garantía de rendimiento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O(n log n) y trabajo con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memoria limitada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/>
          </a:p>
        </p:txBody>
      </p:sp>
      <p:sp>
        <p:nvSpPr>
          <p:cNvPr id="558" name="Google Shape;558;p14"/>
          <p:cNvSpPr/>
          <p:nvPr/>
        </p:nvSpPr>
        <p:spPr>
          <a:xfrm>
            <a:off x="4246513" y="5243513"/>
            <a:ext cx="3695700" cy="1343025"/>
          </a:xfrm>
          <a:custGeom>
            <a:rect b="b" l="l" r="r" t="t"/>
            <a:pathLst>
              <a:path extrusionOk="0" h="1343025" w="3695700">
                <a:moveTo>
                  <a:pt x="76203" y="0"/>
                </a:moveTo>
                <a:lnTo>
                  <a:pt x="3619497" y="0"/>
                </a:lnTo>
                <a:cubicBezTo>
                  <a:pt x="3661583" y="0"/>
                  <a:pt x="3695700" y="34117"/>
                  <a:pt x="3695700" y="76203"/>
                </a:cubicBezTo>
                <a:lnTo>
                  <a:pt x="3695700" y="1266822"/>
                </a:lnTo>
                <a:cubicBezTo>
                  <a:pt x="3695700" y="1308908"/>
                  <a:pt x="3661583" y="1343025"/>
                  <a:pt x="3619497" y="1343025"/>
                </a:cubicBezTo>
                <a:lnTo>
                  <a:pt x="76203" y="1343025"/>
                </a:lnTo>
                <a:cubicBezTo>
                  <a:pt x="34117" y="1343025"/>
                  <a:pt x="0" y="1308908"/>
                  <a:pt x="0" y="12668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4438204" y="5448300"/>
            <a:ext cx="150019" cy="171450"/>
          </a:xfrm>
          <a:custGeom>
            <a:rect b="b" l="l" r="r" t="t"/>
            <a:pathLst>
              <a:path extrusionOk="0" h="171450" w="150019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4"/>
          <p:cNvSpPr/>
          <p:nvPr/>
        </p:nvSpPr>
        <p:spPr>
          <a:xfrm>
            <a:off x="4622750" y="5400675"/>
            <a:ext cx="3248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QuickSort</a:t>
            </a:r>
            <a:endParaRPr b="0" i="0" sz="1600" u="none" cap="none" strike="noStrike"/>
          </a:p>
        </p:txBody>
      </p:sp>
      <p:sp>
        <p:nvSpPr>
          <p:cNvPr id="561" name="Google Shape;561;p14"/>
          <p:cNvSpPr/>
          <p:nvPr/>
        </p:nvSpPr>
        <p:spPr>
          <a:xfrm>
            <a:off x="4403675" y="5743575"/>
            <a:ext cx="3457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Use para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velocidad promedio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en la mayoría de casos. Más rápido en práctica pero puede degradarse.</a:t>
            </a:r>
            <a:endParaRPr b="0" i="0" sz="1600" u="none" cap="none" strike="noStrike"/>
          </a:p>
        </p:txBody>
      </p:sp>
      <p:sp>
        <p:nvSpPr>
          <p:cNvPr id="562" name="Google Shape;562;p14"/>
          <p:cNvSpPr/>
          <p:nvPr/>
        </p:nvSpPr>
        <p:spPr>
          <a:xfrm>
            <a:off x="8107263" y="5243513"/>
            <a:ext cx="3695700" cy="1343025"/>
          </a:xfrm>
          <a:custGeom>
            <a:rect b="b" l="l" r="r" t="t"/>
            <a:pathLst>
              <a:path extrusionOk="0" h="1343025" w="3695700">
                <a:moveTo>
                  <a:pt x="76203" y="0"/>
                </a:moveTo>
                <a:lnTo>
                  <a:pt x="3619497" y="0"/>
                </a:lnTo>
                <a:cubicBezTo>
                  <a:pt x="3661583" y="0"/>
                  <a:pt x="3695700" y="34117"/>
                  <a:pt x="3695700" y="76203"/>
                </a:cubicBezTo>
                <a:lnTo>
                  <a:pt x="3695700" y="1266822"/>
                </a:lnTo>
                <a:cubicBezTo>
                  <a:pt x="3695700" y="1308908"/>
                  <a:pt x="3661583" y="1343025"/>
                  <a:pt x="3619497" y="1343025"/>
                </a:cubicBezTo>
                <a:lnTo>
                  <a:pt x="76203" y="1343025"/>
                </a:lnTo>
                <a:cubicBezTo>
                  <a:pt x="34117" y="1343025"/>
                  <a:pt x="0" y="1308908"/>
                  <a:pt x="0" y="12668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4"/>
          <p:cNvSpPr/>
          <p:nvPr/>
        </p:nvSpPr>
        <p:spPr>
          <a:xfrm>
            <a:off x="8277523" y="5448300"/>
            <a:ext cx="192881" cy="171450"/>
          </a:xfrm>
          <a:custGeom>
            <a:rect b="b" l="l" r="r" t="t"/>
            <a:pathLst>
              <a:path extrusionOk="0" h="171450" w="192881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8483501" y="5400675"/>
            <a:ext cx="3248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Bubble Sort</a:t>
            </a:r>
            <a:endParaRPr b="0" i="0" sz="1600" u="none" cap="none" strike="noStrike"/>
          </a:p>
        </p:txBody>
      </p:sp>
      <p:sp>
        <p:nvSpPr>
          <p:cNvPr id="565" name="Google Shape;565;p14"/>
          <p:cNvSpPr/>
          <p:nvPr/>
        </p:nvSpPr>
        <p:spPr>
          <a:xfrm>
            <a:off x="8264426" y="5743575"/>
            <a:ext cx="3457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Solo para </a:t>
            </a:r>
            <a:r>
              <a:rPr b="1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fines educativos</a:t>
            </a:r>
            <a:r>
              <a:rPr b="0" i="0" lang="en-US" sz="12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o arreglos muy pequeños (n &lt; 20). No usar en producción.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5"/>
          <p:cNvSpPr/>
          <p:nvPr/>
        </p:nvSpPr>
        <p:spPr>
          <a:xfrm>
            <a:off x="356231" y="356231"/>
            <a:ext cx="71246" cy="427477"/>
          </a:xfrm>
          <a:custGeom>
            <a:rect b="b" l="l" r="r" t="t"/>
            <a:pathLst>
              <a:path extrusionOk="0" h="427477" w="71246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91854"/>
                </a:lnTo>
                <a:cubicBezTo>
                  <a:pt x="71246" y="411528"/>
                  <a:pt x="55297" y="427477"/>
                  <a:pt x="35623" y="427477"/>
                </a:cubicBezTo>
                <a:lnTo>
                  <a:pt x="35623" y="427477"/>
                </a:lnTo>
                <a:cubicBezTo>
                  <a:pt x="15949" y="427477"/>
                  <a:pt x="0" y="411528"/>
                  <a:pt x="0" y="3918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534346" y="356231"/>
            <a:ext cx="4728964" cy="427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66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Ventajas y Desventajas</a:t>
            </a:r>
            <a:endParaRPr b="0" i="0" sz="1600" u="none" cap="none" strike="noStrike"/>
          </a:p>
        </p:txBody>
      </p:sp>
      <p:sp>
        <p:nvSpPr>
          <p:cNvPr id="573" name="Google Shape;573;p15"/>
          <p:cNvSpPr/>
          <p:nvPr/>
        </p:nvSpPr>
        <p:spPr>
          <a:xfrm>
            <a:off x="534346" y="854954"/>
            <a:ext cx="11390481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2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Análisis completo del algoritmo</a:t>
            </a:r>
            <a:endParaRPr b="0" i="0" sz="1600" u="none" cap="none" strike="noStrike"/>
          </a:p>
        </p:txBody>
      </p:sp>
      <p:sp>
        <p:nvSpPr>
          <p:cNvPr id="574" name="Google Shape;574;p15"/>
          <p:cNvSpPr/>
          <p:nvPr/>
        </p:nvSpPr>
        <p:spPr>
          <a:xfrm>
            <a:off x="360684" y="1251261"/>
            <a:ext cx="5637353" cy="5601730"/>
          </a:xfrm>
          <a:custGeom>
            <a:rect b="b" l="l" r="r" t="t"/>
            <a:pathLst>
              <a:path extrusionOk="0" h="5601730" w="5637353">
                <a:moveTo>
                  <a:pt x="106881" y="0"/>
                </a:moveTo>
                <a:lnTo>
                  <a:pt x="5530472" y="0"/>
                </a:lnTo>
                <a:cubicBezTo>
                  <a:pt x="5589501" y="0"/>
                  <a:pt x="5637353" y="47852"/>
                  <a:pt x="5637353" y="106881"/>
                </a:cubicBezTo>
                <a:lnTo>
                  <a:pt x="5637353" y="5494849"/>
                </a:lnTo>
                <a:cubicBezTo>
                  <a:pt x="5637353" y="5553877"/>
                  <a:pt x="5589501" y="5601730"/>
                  <a:pt x="5530472" y="5601730"/>
                </a:cubicBezTo>
                <a:lnTo>
                  <a:pt x="106881" y="5601730"/>
                </a:lnTo>
                <a:cubicBezTo>
                  <a:pt x="47852" y="5601730"/>
                  <a:pt x="0" y="5553877"/>
                  <a:pt x="0" y="5494849"/>
                </a:cubicBezTo>
                <a:lnTo>
                  <a:pt x="0" y="106881"/>
                </a:lnTo>
                <a:cubicBezTo>
                  <a:pt x="0" y="47892"/>
                  <a:pt x="47892" y="0"/>
                  <a:pt x="106881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543252" y="1433829"/>
            <a:ext cx="498723" cy="498723"/>
          </a:xfrm>
          <a:custGeom>
            <a:rect b="b" l="l" r="r" t="t"/>
            <a:pathLst>
              <a:path extrusionOk="0" h="498723" w="498723">
                <a:moveTo>
                  <a:pt x="249362" y="0"/>
                </a:moveTo>
                <a:lnTo>
                  <a:pt x="249362" y="0"/>
                </a:lnTo>
                <a:cubicBezTo>
                  <a:pt x="387080" y="0"/>
                  <a:pt x="498723" y="111643"/>
                  <a:pt x="498723" y="249362"/>
                </a:cubicBezTo>
                <a:lnTo>
                  <a:pt x="498723" y="249362"/>
                </a:lnTo>
                <a:cubicBezTo>
                  <a:pt x="498723" y="387080"/>
                  <a:pt x="387080" y="498723"/>
                  <a:pt x="249362" y="498723"/>
                </a:cubicBezTo>
                <a:lnTo>
                  <a:pt x="249362" y="498723"/>
                </a:lnTo>
                <a:cubicBezTo>
                  <a:pt x="111643" y="498723"/>
                  <a:pt x="0" y="387080"/>
                  <a:pt x="0" y="249362"/>
                </a:cubicBezTo>
                <a:lnTo>
                  <a:pt x="0" y="249362"/>
                </a:lnTo>
                <a:cubicBezTo>
                  <a:pt x="0" y="111643"/>
                  <a:pt x="111643" y="0"/>
                  <a:pt x="24936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661253" y="1549604"/>
            <a:ext cx="267173" cy="267173"/>
          </a:xfrm>
          <a:custGeom>
            <a:rect b="b" l="l" r="r" t="t"/>
            <a:pathLst>
              <a:path extrusionOk="0" h="267173" w="267173">
                <a:moveTo>
                  <a:pt x="41746" y="83492"/>
                </a:moveTo>
                <a:cubicBezTo>
                  <a:pt x="50982" y="83492"/>
                  <a:pt x="58444" y="90954"/>
                  <a:pt x="58444" y="100190"/>
                </a:cubicBezTo>
                <a:lnTo>
                  <a:pt x="58444" y="233776"/>
                </a:lnTo>
                <a:cubicBezTo>
                  <a:pt x="58444" y="243013"/>
                  <a:pt x="50982" y="250475"/>
                  <a:pt x="41746" y="250475"/>
                </a:cubicBezTo>
                <a:lnTo>
                  <a:pt x="16698" y="250475"/>
                </a:lnTo>
                <a:cubicBezTo>
                  <a:pt x="7462" y="250475"/>
                  <a:pt x="0" y="243013"/>
                  <a:pt x="0" y="233776"/>
                </a:cubicBezTo>
                <a:lnTo>
                  <a:pt x="0" y="100190"/>
                </a:lnTo>
                <a:cubicBezTo>
                  <a:pt x="0" y="90954"/>
                  <a:pt x="7462" y="83492"/>
                  <a:pt x="16698" y="83492"/>
                </a:cubicBezTo>
                <a:lnTo>
                  <a:pt x="41746" y="83492"/>
                </a:lnTo>
                <a:close/>
                <a:moveTo>
                  <a:pt x="141205" y="8349"/>
                </a:moveTo>
                <a:cubicBezTo>
                  <a:pt x="155451" y="8349"/>
                  <a:pt x="166983" y="19881"/>
                  <a:pt x="166983" y="34127"/>
                </a:cubicBezTo>
                <a:lnTo>
                  <a:pt x="166983" y="36319"/>
                </a:lnTo>
                <a:cubicBezTo>
                  <a:pt x="166983" y="39867"/>
                  <a:pt x="166305" y="43416"/>
                  <a:pt x="165000" y="46703"/>
                </a:cubicBezTo>
                <a:lnTo>
                  <a:pt x="150285" y="83492"/>
                </a:lnTo>
                <a:lnTo>
                  <a:pt x="233776" y="83492"/>
                </a:lnTo>
                <a:cubicBezTo>
                  <a:pt x="247605" y="83492"/>
                  <a:pt x="258824" y="94711"/>
                  <a:pt x="258824" y="108539"/>
                </a:cubicBezTo>
                <a:cubicBezTo>
                  <a:pt x="258824" y="118819"/>
                  <a:pt x="252614" y="127638"/>
                  <a:pt x="243743" y="131499"/>
                </a:cubicBezTo>
                <a:cubicBezTo>
                  <a:pt x="252614" y="135361"/>
                  <a:pt x="258824" y="144180"/>
                  <a:pt x="258824" y="154459"/>
                </a:cubicBezTo>
                <a:cubicBezTo>
                  <a:pt x="258824" y="166670"/>
                  <a:pt x="250057" y="176846"/>
                  <a:pt x="238473" y="179037"/>
                </a:cubicBezTo>
                <a:cubicBezTo>
                  <a:pt x="240769" y="182847"/>
                  <a:pt x="242126" y="187282"/>
                  <a:pt x="242126" y="192031"/>
                </a:cubicBezTo>
                <a:cubicBezTo>
                  <a:pt x="242126" y="203615"/>
                  <a:pt x="234298" y="213321"/>
                  <a:pt x="223653" y="216191"/>
                </a:cubicBezTo>
                <a:cubicBezTo>
                  <a:pt x="224801" y="219061"/>
                  <a:pt x="225427" y="222192"/>
                  <a:pt x="225427" y="225427"/>
                </a:cubicBezTo>
                <a:cubicBezTo>
                  <a:pt x="225427" y="239256"/>
                  <a:pt x="214208" y="250475"/>
                  <a:pt x="200380" y="250475"/>
                </a:cubicBezTo>
                <a:lnTo>
                  <a:pt x="154512" y="250475"/>
                </a:lnTo>
                <a:cubicBezTo>
                  <a:pt x="135569" y="250475"/>
                  <a:pt x="117149" y="244004"/>
                  <a:pt x="102382" y="232159"/>
                </a:cubicBezTo>
                <a:lnTo>
                  <a:pt x="96015" y="227097"/>
                </a:lnTo>
                <a:cubicBezTo>
                  <a:pt x="88084" y="220783"/>
                  <a:pt x="83492" y="211182"/>
                  <a:pt x="83492" y="201006"/>
                </a:cubicBezTo>
                <a:lnTo>
                  <a:pt x="83492" y="103634"/>
                </a:lnTo>
                <a:cubicBezTo>
                  <a:pt x="83492" y="95859"/>
                  <a:pt x="85318" y="88188"/>
                  <a:pt x="88762" y="81248"/>
                </a:cubicBezTo>
                <a:lnTo>
                  <a:pt x="118088" y="22595"/>
                </a:lnTo>
                <a:cubicBezTo>
                  <a:pt x="122472" y="13880"/>
                  <a:pt x="131395" y="8349"/>
                  <a:pt x="141205" y="8349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1148844" y="1522887"/>
            <a:ext cx="1184467" cy="320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4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b="0" i="0" sz="1600" u="none" cap="none" strike="noStrike"/>
          </a:p>
        </p:txBody>
      </p:sp>
      <p:sp>
        <p:nvSpPr>
          <p:cNvPr id="578" name="Google Shape;578;p15"/>
          <p:cNvSpPr/>
          <p:nvPr/>
        </p:nvSpPr>
        <p:spPr>
          <a:xfrm>
            <a:off x="561064" y="2075045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561064" y="2075045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743632" y="2262066"/>
            <a:ext cx="160304" cy="160304"/>
          </a:xfrm>
          <a:custGeom>
            <a:rect b="b" l="l" r="r" t="t"/>
            <a:pathLst>
              <a:path extrusionOk="0" h="160304" w="160304">
                <a:moveTo>
                  <a:pt x="80152" y="0"/>
                </a:moveTo>
                <a:cubicBezTo>
                  <a:pt x="81592" y="0"/>
                  <a:pt x="83032" y="313"/>
                  <a:pt x="84347" y="908"/>
                </a:cubicBezTo>
                <a:lnTo>
                  <a:pt x="143334" y="25924"/>
                </a:lnTo>
                <a:cubicBezTo>
                  <a:pt x="150222" y="28836"/>
                  <a:pt x="155357" y="35630"/>
                  <a:pt x="155326" y="43833"/>
                </a:cubicBezTo>
                <a:cubicBezTo>
                  <a:pt x="155169" y="74892"/>
                  <a:pt x="142395" y="131718"/>
                  <a:pt x="88449" y="157549"/>
                </a:cubicBezTo>
                <a:cubicBezTo>
                  <a:pt x="83220" y="160053"/>
                  <a:pt x="77146" y="160053"/>
                  <a:pt x="71918" y="157549"/>
                </a:cubicBezTo>
                <a:cubicBezTo>
                  <a:pt x="17940" y="131718"/>
                  <a:pt x="5197" y="74892"/>
                  <a:pt x="5041" y="43833"/>
                </a:cubicBezTo>
                <a:cubicBezTo>
                  <a:pt x="5009" y="35630"/>
                  <a:pt x="10144" y="28836"/>
                  <a:pt x="17032" y="25924"/>
                </a:cubicBezTo>
                <a:lnTo>
                  <a:pt x="75988" y="908"/>
                </a:lnTo>
                <a:cubicBezTo>
                  <a:pt x="77303" y="313"/>
                  <a:pt x="78712" y="0"/>
                  <a:pt x="80152" y="0"/>
                </a:cubicBezTo>
                <a:close/>
                <a:moveTo>
                  <a:pt x="80152" y="20915"/>
                </a:moveTo>
                <a:lnTo>
                  <a:pt x="80152" y="139295"/>
                </a:lnTo>
                <a:cubicBezTo>
                  <a:pt x="123359" y="118381"/>
                  <a:pt x="134975" y="72043"/>
                  <a:pt x="135256" y="44303"/>
                </a:cubicBezTo>
                <a:lnTo>
                  <a:pt x="80152" y="20946"/>
                </a:lnTo>
                <a:lnTo>
                  <a:pt x="80152" y="20946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926200" y="2217537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Complejidad Garantizada</a:t>
            </a:r>
            <a:endParaRPr b="0" i="0" sz="1600" u="none" cap="none" strike="noStrike"/>
          </a:p>
        </p:txBody>
      </p:sp>
      <p:sp>
        <p:nvSpPr>
          <p:cNvPr id="582" name="Google Shape;582;p15"/>
          <p:cNvSpPr/>
          <p:nvPr/>
        </p:nvSpPr>
        <p:spPr>
          <a:xfrm>
            <a:off x="721367" y="2538145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Siempre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en todos los casos. No hay escenarios patológicos como en QuickSort.</a:t>
            </a:r>
            <a:endParaRPr b="0" i="0" sz="1600" u="none" cap="none" strike="noStrike"/>
          </a:p>
        </p:txBody>
      </p:sp>
      <p:sp>
        <p:nvSpPr>
          <p:cNvPr id="583" name="Google Shape;583;p15"/>
          <p:cNvSpPr/>
          <p:nvPr/>
        </p:nvSpPr>
        <p:spPr>
          <a:xfrm>
            <a:off x="561064" y="3250606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561064" y="3250606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743632" y="3437627"/>
            <a:ext cx="160304" cy="160304"/>
          </a:xfrm>
          <a:custGeom>
            <a:rect b="b" l="l" r="r" t="t"/>
            <a:pathLst>
              <a:path extrusionOk="0" h="160304" w="160304">
                <a:moveTo>
                  <a:pt x="20038" y="20038"/>
                </a:moveTo>
                <a:cubicBezTo>
                  <a:pt x="8986" y="20038"/>
                  <a:pt x="0" y="29024"/>
                  <a:pt x="0" y="40076"/>
                </a:cubicBezTo>
                <a:lnTo>
                  <a:pt x="0" y="42393"/>
                </a:lnTo>
                <a:cubicBezTo>
                  <a:pt x="0" y="44522"/>
                  <a:pt x="1378" y="46338"/>
                  <a:pt x="3162" y="47496"/>
                </a:cubicBezTo>
                <a:cubicBezTo>
                  <a:pt x="7295" y="50189"/>
                  <a:pt x="10019" y="54823"/>
                  <a:pt x="10019" y="60114"/>
                </a:cubicBezTo>
                <a:cubicBezTo>
                  <a:pt x="10019" y="65405"/>
                  <a:pt x="7295" y="70039"/>
                  <a:pt x="3162" y="72732"/>
                </a:cubicBezTo>
                <a:cubicBezTo>
                  <a:pt x="1378" y="73890"/>
                  <a:pt x="0" y="75706"/>
                  <a:pt x="0" y="77835"/>
                </a:cubicBezTo>
                <a:lnTo>
                  <a:pt x="0" y="95180"/>
                </a:lnTo>
                <a:lnTo>
                  <a:pt x="160304" y="95180"/>
                </a:lnTo>
                <a:lnTo>
                  <a:pt x="160304" y="77835"/>
                </a:lnTo>
                <a:cubicBezTo>
                  <a:pt x="160304" y="75706"/>
                  <a:pt x="158926" y="73890"/>
                  <a:pt x="157142" y="72732"/>
                </a:cubicBezTo>
                <a:cubicBezTo>
                  <a:pt x="153009" y="70039"/>
                  <a:pt x="150285" y="65405"/>
                  <a:pt x="150285" y="60114"/>
                </a:cubicBezTo>
                <a:cubicBezTo>
                  <a:pt x="150285" y="54823"/>
                  <a:pt x="153009" y="50189"/>
                  <a:pt x="157142" y="47496"/>
                </a:cubicBezTo>
                <a:cubicBezTo>
                  <a:pt x="158926" y="46338"/>
                  <a:pt x="160304" y="44522"/>
                  <a:pt x="160304" y="42393"/>
                </a:cubicBezTo>
                <a:lnTo>
                  <a:pt x="160304" y="40076"/>
                </a:lnTo>
                <a:cubicBezTo>
                  <a:pt x="160304" y="29024"/>
                  <a:pt x="151318" y="20038"/>
                  <a:pt x="140266" y="20038"/>
                </a:cubicBezTo>
                <a:lnTo>
                  <a:pt x="20038" y="20038"/>
                </a:lnTo>
                <a:close/>
                <a:moveTo>
                  <a:pt x="160304" y="130247"/>
                </a:moveTo>
                <a:lnTo>
                  <a:pt x="160304" y="110209"/>
                </a:lnTo>
                <a:lnTo>
                  <a:pt x="0" y="110209"/>
                </a:lnTo>
                <a:lnTo>
                  <a:pt x="0" y="130247"/>
                </a:lnTo>
                <a:cubicBezTo>
                  <a:pt x="0" y="135789"/>
                  <a:pt x="4477" y="140266"/>
                  <a:pt x="10019" y="140266"/>
                </a:cubicBezTo>
                <a:lnTo>
                  <a:pt x="30057" y="140266"/>
                </a:lnTo>
                <a:lnTo>
                  <a:pt x="30057" y="132752"/>
                </a:lnTo>
                <a:cubicBezTo>
                  <a:pt x="30057" y="128588"/>
                  <a:pt x="33407" y="125237"/>
                  <a:pt x="37571" y="125237"/>
                </a:cubicBezTo>
                <a:cubicBezTo>
                  <a:pt x="41735" y="125237"/>
                  <a:pt x="45085" y="128588"/>
                  <a:pt x="45085" y="132752"/>
                </a:cubicBezTo>
                <a:lnTo>
                  <a:pt x="45085" y="140266"/>
                </a:lnTo>
                <a:lnTo>
                  <a:pt x="72638" y="140266"/>
                </a:lnTo>
                <a:lnTo>
                  <a:pt x="72638" y="132752"/>
                </a:lnTo>
                <a:cubicBezTo>
                  <a:pt x="72638" y="128588"/>
                  <a:pt x="75988" y="125237"/>
                  <a:pt x="80152" y="125237"/>
                </a:cubicBezTo>
                <a:cubicBezTo>
                  <a:pt x="84316" y="125237"/>
                  <a:pt x="87666" y="128588"/>
                  <a:pt x="87666" y="132752"/>
                </a:cubicBezTo>
                <a:lnTo>
                  <a:pt x="87666" y="140266"/>
                </a:lnTo>
                <a:lnTo>
                  <a:pt x="115218" y="140266"/>
                </a:lnTo>
                <a:lnTo>
                  <a:pt x="115218" y="132752"/>
                </a:lnTo>
                <a:cubicBezTo>
                  <a:pt x="115218" y="128588"/>
                  <a:pt x="118569" y="125237"/>
                  <a:pt x="122733" y="125237"/>
                </a:cubicBezTo>
                <a:cubicBezTo>
                  <a:pt x="126897" y="125237"/>
                  <a:pt x="130247" y="128588"/>
                  <a:pt x="130247" y="132752"/>
                </a:cubicBezTo>
                <a:lnTo>
                  <a:pt x="130247" y="140266"/>
                </a:lnTo>
                <a:lnTo>
                  <a:pt x="150285" y="140266"/>
                </a:lnTo>
                <a:cubicBezTo>
                  <a:pt x="155827" y="140266"/>
                  <a:pt x="160304" y="135789"/>
                  <a:pt x="160304" y="130247"/>
                </a:cubicBezTo>
                <a:close/>
                <a:moveTo>
                  <a:pt x="50095" y="50095"/>
                </a:moveTo>
                <a:lnTo>
                  <a:pt x="50095" y="70133"/>
                </a:lnTo>
                <a:cubicBezTo>
                  <a:pt x="50095" y="75675"/>
                  <a:pt x="45618" y="80152"/>
                  <a:pt x="40076" y="80152"/>
                </a:cubicBezTo>
                <a:cubicBezTo>
                  <a:pt x="34534" y="80152"/>
                  <a:pt x="30057" y="75675"/>
                  <a:pt x="30057" y="70133"/>
                </a:cubicBezTo>
                <a:lnTo>
                  <a:pt x="30057" y="50095"/>
                </a:lnTo>
                <a:cubicBezTo>
                  <a:pt x="30057" y="44553"/>
                  <a:pt x="34534" y="40076"/>
                  <a:pt x="40076" y="40076"/>
                </a:cubicBezTo>
                <a:cubicBezTo>
                  <a:pt x="45618" y="40076"/>
                  <a:pt x="50095" y="44553"/>
                  <a:pt x="50095" y="50095"/>
                </a:cubicBezTo>
                <a:close/>
                <a:moveTo>
                  <a:pt x="90171" y="50095"/>
                </a:moveTo>
                <a:lnTo>
                  <a:pt x="90171" y="70133"/>
                </a:lnTo>
                <a:cubicBezTo>
                  <a:pt x="90171" y="75675"/>
                  <a:pt x="85694" y="80152"/>
                  <a:pt x="80152" y="80152"/>
                </a:cubicBezTo>
                <a:cubicBezTo>
                  <a:pt x="74610" y="80152"/>
                  <a:pt x="70133" y="75675"/>
                  <a:pt x="70133" y="70133"/>
                </a:cubicBezTo>
                <a:lnTo>
                  <a:pt x="70133" y="50095"/>
                </a:lnTo>
                <a:cubicBezTo>
                  <a:pt x="70133" y="44553"/>
                  <a:pt x="74610" y="40076"/>
                  <a:pt x="80152" y="40076"/>
                </a:cubicBezTo>
                <a:cubicBezTo>
                  <a:pt x="85694" y="40076"/>
                  <a:pt x="90171" y="44553"/>
                  <a:pt x="90171" y="50095"/>
                </a:cubicBezTo>
                <a:close/>
                <a:moveTo>
                  <a:pt x="130247" y="50095"/>
                </a:moveTo>
                <a:lnTo>
                  <a:pt x="130247" y="70133"/>
                </a:lnTo>
                <a:cubicBezTo>
                  <a:pt x="130247" y="75675"/>
                  <a:pt x="125770" y="80152"/>
                  <a:pt x="120228" y="80152"/>
                </a:cubicBezTo>
                <a:cubicBezTo>
                  <a:pt x="114686" y="80152"/>
                  <a:pt x="110209" y="75675"/>
                  <a:pt x="110209" y="70133"/>
                </a:cubicBezTo>
                <a:lnTo>
                  <a:pt x="110209" y="50095"/>
                </a:lnTo>
                <a:cubicBezTo>
                  <a:pt x="110209" y="44553"/>
                  <a:pt x="114686" y="40076"/>
                  <a:pt x="120228" y="40076"/>
                </a:cubicBezTo>
                <a:cubicBezTo>
                  <a:pt x="125770" y="40076"/>
                  <a:pt x="130247" y="44553"/>
                  <a:pt x="130247" y="50095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5"/>
          <p:cNvSpPr/>
          <p:nvPr/>
        </p:nvSpPr>
        <p:spPr>
          <a:xfrm>
            <a:off x="926200" y="3393099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Ordenamiento In-Place</a:t>
            </a:r>
            <a:endParaRPr b="0" i="0" sz="1600" u="none" cap="none" strike="noStrike"/>
          </a:p>
        </p:txBody>
      </p:sp>
      <p:sp>
        <p:nvSpPr>
          <p:cNvPr id="587" name="Google Shape;587;p15"/>
          <p:cNvSpPr/>
          <p:nvPr/>
        </p:nvSpPr>
        <p:spPr>
          <a:xfrm>
            <a:off x="721367" y="3713706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Requiere solo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espacio adicional. No necesita arreglos auxiliares como Merge Sort.</a:t>
            </a:r>
            <a:endParaRPr b="0" i="0" sz="1600" u="none" cap="none" strike="noStrike"/>
          </a:p>
        </p:txBody>
      </p:sp>
      <p:sp>
        <p:nvSpPr>
          <p:cNvPr id="588" name="Google Shape;588;p15"/>
          <p:cNvSpPr/>
          <p:nvPr/>
        </p:nvSpPr>
        <p:spPr>
          <a:xfrm>
            <a:off x="561064" y="4426168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>
            <a:off x="561064" y="4426168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743632" y="4613189"/>
            <a:ext cx="160304" cy="160304"/>
          </a:xfrm>
          <a:custGeom>
            <a:rect b="b" l="l" r="r" t="t"/>
            <a:pathLst>
              <a:path extrusionOk="0" h="160304" w="160304">
                <a:moveTo>
                  <a:pt x="20038" y="20038"/>
                </a:moveTo>
                <a:cubicBezTo>
                  <a:pt x="20038" y="14496"/>
                  <a:pt x="15561" y="10019"/>
                  <a:pt x="10019" y="10019"/>
                </a:cubicBezTo>
                <a:cubicBezTo>
                  <a:pt x="4477" y="10019"/>
                  <a:pt x="0" y="14496"/>
                  <a:pt x="0" y="20038"/>
                </a:cubicBezTo>
                <a:lnTo>
                  <a:pt x="0" y="125237"/>
                </a:lnTo>
                <a:cubicBezTo>
                  <a:pt x="0" y="139076"/>
                  <a:pt x="11209" y="150285"/>
                  <a:pt x="25047" y="150285"/>
                </a:cubicBezTo>
                <a:lnTo>
                  <a:pt x="150285" y="150285"/>
                </a:lnTo>
                <a:cubicBezTo>
                  <a:pt x="155827" y="150285"/>
                  <a:pt x="160304" y="145808"/>
                  <a:pt x="160304" y="140266"/>
                </a:cubicBezTo>
                <a:cubicBezTo>
                  <a:pt x="160304" y="134724"/>
                  <a:pt x="155827" y="130247"/>
                  <a:pt x="150285" y="130247"/>
                </a:cubicBezTo>
                <a:lnTo>
                  <a:pt x="25047" y="130247"/>
                </a:lnTo>
                <a:cubicBezTo>
                  <a:pt x="22292" y="130247"/>
                  <a:pt x="20038" y="127993"/>
                  <a:pt x="20038" y="125237"/>
                </a:cubicBezTo>
                <a:lnTo>
                  <a:pt x="20038" y="20038"/>
                </a:lnTo>
                <a:close/>
                <a:moveTo>
                  <a:pt x="147342" y="47152"/>
                </a:moveTo>
                <a:cubicBezTo>
                  <a:pt x="151255" y="43238"/>
                  <a:pt x="151255" y="36882"/>
                  <a:pt x="147342" y="32969"/>
                </a:cubicBezTo>
                <a:cubicBezTo>
                  <a:pt x="143428" y="29055"/>
                  <a:pt x="137072" y="29055"/>
                  <a:pt x="133159" y="32969"/>
                </a:cubicBezTo>
                <a:lnTo>
                  <a:pt x="100190" y="65969"/>
                </a:lnTo>
                <a:lnTo>
                  <a:pt x="82218" y="48029"/>
                </a:lnTo>
                <a:cubicBezTo>
                  <a:pt x="78305" y="44115"/>
                  <a:pt x="71949" y="44115"/>
                  <a:pt x="68035" y="48029"/>
                </a:cubicBezTo>
                <a:lnTo>
                  <a:pt x="37978" y="78086"/>
                </a:lnTo>
                <a:cubicBezTo>
                  <a:pt x="34065" y="81999"/>
                  <a:pt x="34065" y="88355"/>
                  <a:pt x="37978" y="92269"/>
                </a:cubicBezTo>
                <a:cubicBezTo>
                  <a:pt x="41892" y="96182"/>
                  <a:pt x="48248" y="96182"/>
                  <a:pt x="52161" y="92269"/>
                </a:cubicBezTo>
                <a:lnTo>
                  <a:pt x="75142" y="69288"/>
                </a:lnTo>
                <a:lnTo>
                  <a:pt x="93114" y="87259"/>
                </a:lnTo>
                <a:cubicBezTo>
                  <a:pt x="97028" y="91173"/>
                  <a:pt x="103383" y="91173"/>
                  <a:pt x="107297" y="87259"/>
                </a:cubicBezTo>
                <a:lnTo>
                  <a:pt x="147373" y="47183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926200" y="4568660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Excelente para Grandes Datasets</a:t>
            </a:r>
            <a:endParaRPr b="0" i="0" sz="1600" u="none" cap="none" strike="noStrike"/>
          </a:p>
        </p:txBody>
      </p:sp>
      <p:sp>
        <p:nvSpPr>
          <p:cNvPr id="592" name="Google Shape;592;p15"/>
          <p:cNvSpPr/>
          <p:nvPr/>
        </p:nvSpPr>
        <p:spPr>
          <a:xfrm>
            <a:off x="721367" y="4889268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Eficiente para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millones de elementos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 El crecimiento logarítmico lo hace escalable.</a:t>
            </a:r>
            <a:endParaRPr b="0" i="0" sz="1600" u="none" cap="none" strike="noStrike"/>
          </a:p>
        </p:txBody>
      </p:sp>
      <p:sp>
        <p:nvSpPr>
          <p:cNvPr id="593" name="Google Shape;593;p15"/>
          <p:cNvSpPr/>
          <p:nvPr/>
        </p:nvSpPr>
        <p:spPr>
          <a:xfrm>
            <a:off x="561064" y="5601730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561064" y="5601730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723594" y="5788751"/>
            <a:ext cx="200380" cy="160304"/>
          </a:xfrm>
          <a:custGeom>
            <a:rect b="b" l="l" r="r" t="t"/>
            <a:pathLst>
              <a:path extrusionOk="0" h="160304" w="200380">
                <a:moveTo>
                  <a:pt x="130216" y="65906"/>
                </a:moveTo>
                <a:cubicBezTo>
                  <a:pt x="134035" y="64873"/>
                  <a:pt x="138043" y="66689"/>
                  <a:pt x="139765" y="70227"/>
                </a:cubicBezTo>
                <a:lnTo>
                  <a:pt x="145588" y="81999"/>
                </a:lnTo>
                <a:cubicBezTo>
                  <a:pt x="148813" y="82438"/>
                  <a:pt x="151976" y="83314"/>
                  <a:pt x="154950" y="84535"/>
                </a:cubicBezTo>
                <a:lnTo>
                  <a:pt x="165908" y="77240"/>
                </a:lnTo>
                <a:cubicBezTo>
                  <a:pt x="169196" y="75049"/>
                  <a:pt x="173548" y="75487"/>
                  <a:pt x="176334" y="78273"/>
                </a:cubicBezTo>
                <a:lnTo>
                  <a:pt x="182346" y="84285"/>
                </a:lnTo>
                <a:cubicBezTo>
                  <a:pt x="185132" y="87071"/>
                  <a:pt x="185571" y="91455"/>
                  <a:pt x="183379" y="94711"/>
                </a:cubicBezTo>
                <a:lnTo>
                  <a:pt x="176084" y="105638"/>
                </a:lnTo>
                <a:cubicBezTo>
                  <a:pt x="176679" y="107109"/>
                  <a:pt x="177211" y="108643"/>
                  <a:pt x="177649" y="110240"/>
                </a:cubicBezTo>
                <a:cubicBezTo>
                  <a:pt x="178088" y="111837"/>
                  <a:pt x="178369" y="113402"/>
                  <a:pt x="178589" y="114999"/>
                </a:cubicBezTo>
                <a:lnTo>
                  <a:pt x="190392" y="120823"/>
                </a:lnTo>
                <a:cubicBezTo>
                  <a:pt x="193930" y="122576"/>
                  <a:pt x="195746" y="126584"/>
                  <a:pt x="194713" y="130372"/>
                </a:cubicBezTo>
                <a:lnTo>
                  <a:pt x="192521" y="138575"/>
                </a:lnTo>
                <a:cubicBezTo>
                  <a:pt x="191488" y="142364"/>
                  <a:pt x="187950" y="144931"/>
                  <a:pt x="184005" y="144681"/>
                </a:cubicBezTo>
                <a:lnTo>
                  <a:pt x="170855" y="143835"/>
                </a:lnTo>
                <a:cubicBezTo>
                  <a:pt x="168883" y="146371"/>
                  <a:pt x="166597" y="148719"/>
                  <a:pt x="163998" y="150723"/>
                </a:cubicBezTo>
                <a:lnTo>
                  <a:pt x="164844" y="163842"/>
                </a:lnTo>
                <a:cubicBezTo>
                  <a:pt x="165094" y="167787"/>
                  <a:pt x="162527" y="171356"/>
                  <a:pt x="158738" y="172358"/>
                </a:cubicBezTo>
                <a:lnTo>
                  <a:pt x="150535" y="174550"/>
                </a:lnTo>
                <a:cubicBezTo>
                  <a:pt x="146716" y="175583"/>
                  <a:pt x="142739" y="173767"/>
                  <a:pt x="140986" y="170229"/>
                </a:cubicBezTo>
                <a:lnTo>
                  <a:pt x="135162" y="158457"/>
                </a:lnTo>
                <a:cubicBezTo>
                  <a:pt x="131938" y="158018"/>
                  <a:pt x="128775" y="157142"/>
                  <a:pt x="125801" y="155921"/>
                </a:cubicBezTo>
                <a:lnTo>
                  <a:pt x="114843" y="163216"/>
                </a:lnTo>
                <a:cubicBezTo>
                  <a:pt x="111555" y="165407"/>
                  <a:pt x="107203" y="164969"/>
                  <a:pt x="104417" y="162182"/>
                </a:cubicBezTo>
                <a:lnTo>
                  <a:pt x="98405" y="156171"/>
                </a:lnTo>
                <a:cubicBezTo>
                  <a:pt x="95619" y="153385"/>
                  <a:pt x="95180" y="149033"/>
                  <a:pt x="97372" y="145745"/>
                </a:cubicBezTo>
                <a:lnTo>
                  <a:pt x="104667" y="134787"/>
                </a:lnTo>
                <a:cubicBezTo>
                  <a:pt x="104072" y="133315"/>
                  <a:pt x="103540" y="131781"/>
                  <a:pt x="103102" y="130184"/>
                </a:cubicBezTo>
                <a:cubicBezTo>
                  <a:pt x="102663" y="128588"/>
                  <a:pt x="102382" y="126991"/>
                  <a:pt x="102162" y="125425"/>
                </a:cubicBezTo>
                <a:lnTo>
                  <a:pt x="90359" y="119602"/>
                </a:lnTo>
                <a:cubicBezTo>
                  <a:pt x="86821" y="117848"/>
                  <a:pt x="85036" y="113841"/>
                  <a:pt x="86038" y="110052"/>
                </a:cubicBezTo>
                <a:lnTo>
                  <a:pt x="88230" y="101849"/>
                </a:lnTo>
                <a:cubicBezTo>
                  <a:pt x="89263" y="98061"/>
                  <a:pt x="92801" y="95494"/>
                  <a:pt x="96746" y="95744"/>
                </a:cubicBezTo>
                <a:lnTo>
                  <a:pt x="109865" y="96589"/>
                </a:lnTo>
                <a:cubicBezTo>
                  <a:pt x="111837" y="94053"/>
                  <a:pt x="114123" y="91705"/>
                  <a:pt x="116721" y="89701"/>
                </a:cubicBezTo>
                <a:lnTo>
                  <a:pt x="115876" y="76614"/>
                </a:lnTo>
                <a:cubicBezTo>
                  <a:pt x="115625" y="72669"/>
                  <a:pt x="118193" y="69100"/>
                  <a:pt x="121981" y="68098"/>
                </a:cubicBezTo>
                <a:lnTo>
                  <a:pt x="130184" y="65906"/>
                </a:lnTo>
                <a:close/>
                <a:moveTo>
                  <a:pt x="140391" y="106452"/>
                </a:moveTo>
                <a:cubicBezTo>
                  <a:pt x="132788" y="106460"/>
                  <a:pt x="126622" y="112640"/>
                  <a:pt x="126631" y="120244"/>
                </a:cubicBezTo>
                <a:cubicBezTo>
                  <a:pt x="126639" y="127847"/>
                  <a:pt x="132819" y="134013"/>
                  <a:pt x="140422" y="134004"/>
                </a:cubicBezTo>
                <a:cubicBezTo>
                  <a:pt x="148026" y="133995"/>
                  <a:pt x="154192" y="127815"/>
                  <a:pt x="154183" y="120212"/>
                </a:cubicBezTo>
                <a:cubicBezTo>
                  <a:pt x="154174" y="112609"/>
                  <a:pt x="147994" y="106443"/>
                  <a:pt x="140391" y="106452"/>
                </a:cubicBezTo>
                <a:close/>
                <a:moveTo>
                  <a:pt x="70415" y="-14246"/>
                </a:moveTo>
                <a:lnTo>
                  <a:pt x="78618" y="-12054"/>
                </a:lnTo>
                <a:cubicBezTo>
                  <a:pt x="82406" y="-11021"/>
                  <a:pt x="84974" y="-7452"/>
                  <a:pt x="84723" y="-3538"/>
                </a:cubicBezTo>
                <a:lnTo>
                  <a:pt x="83878" y="9549"/>
                </a:lnTo>
                <a:cubicBezTo>
                  <a:pt x="86476" y="11553"/>
                  <a:pt x="88762" y="13870"/>
                  <a:pt x="90734" y="16437"/>
                </a:cubicBezTo>
                <a:lnTo>
                  <a:pt x="103884" y="15592"/>
                </a:lnTo>
                <a:cubicBezTo>
                  <a:pt x="107798" y="15342"/>
                  <a:pt x="111367" y="17909"/>
                  <a:pt x="112401" y="21697"/>
                </a:cubicBezTo>
                <a:lnTo>
                  <a:pt x="114592" y="29900"/>
                </a:lnTo>
                <a:cubicBezTo>
                  <a:pt x="115594" y="33689"/>
                  <a:pt x="113809" y="37696"/>
                  <a:pt x="110272" y="39450"/>
                </a:cubicBezTo>
                <a:lnTo>
                  <a:pt x="98468" y="45273"/>
                </a:lnTo>
                <a:cubicBezTo>
                  <a:pt x="98249" y="46870"/>
                  <a:pt x="97936" y="48467"/>
                  <a:pt x="97529" y="50032"/>
                </a:cubicBezTo>
                <a:cubicBezTo>
                  <a:pt x="97122" y="51598"/>
                  <a:pt x="96558" y="53163"/>
                  <a:pt x="95963" y="54635"/>
                </a:cubicBezTo>
                <a:lnTo>
                  <a:pt x="103258" y="65593"/>
                </a:lnTo>
                <a:cubicBezTo>
                  <a:pt x="105450" y="68881"/>
                  <a:pt x="105012" y="73233"/>
                  <a:pt x="102225" y="76019"/>
                </a:cubicBezTo>
                <a:lnTo>
                  <a:pt x="96214" y="82030"/>
                </a:lnTo>
                <a:cubicBezTo>
                  <a:pt x="93427" y="84817"/>
                  <a:pt x="89075" y="85255"/>
                  <a:pt x="85788" y="83064"/>
                </a:cubicBezTo>
                <a:lnTo>
                  <a:pt x="74829" y="75769"/>
                </a:lnTo>
                <a:cubicBezTo>
                  <a:pt x="71855" y="76990"/>
                  <a:pt x="68693" y="77866"/>
                  <a:pt x="65468" y="78305"/>
                </a:cubicBezTo>
                <a:lnTo>
                  <a:pt x="59644" y="90077"/>
                </a:lnTo>
                <a:cubicBezTo>
                  <a:pt x="57891" y="93615"/>
                  <a:pt x="53883" y="95400"/>
                  <a:pt x="50095" y="94398"/>
                </a:cubicBezTo>
                <a:lnTo>
                  <a:pt x="41892" y="92206"/>
                </a:lnTo>
                <a:cubicBezTo>
                  <a:pt x="38072" y="91173"/>
                  <a:pt x="35536" y="87604"/>
                  <a:pt x="35787" y="83690"/>
                </a:cubicBezTo>
                <a:lnTo>
                  <a:pt x="36632" y="70571"/>
                </a:lnTo>
                <a:cubicBezTo>
                  <a:pt x="34033" y="68567"/>
                  <a:pt x="31748" y="66251"/>
                  <a:pt x="29775" y="63683"/>
                </a:cubicBezTo>
                <a:lnTo>
                  <a:pt x="16625" y="64529"/>
                </a:lnTo>
                <a:cubicBezTo>
                  <a:pt x="12712" y="64779"/>
                  <a:pt x="9142" y="62212"/>
                  <a:pt x="8109" y="58423"/>
                </a:cubicBezTo>
                <a:lnTo>
                  <a:pt x="5917" y="50220"/>
                </a:lnTo>
                <a:cubicBezTo>
                  <a:pt x="4916" y="46432"/>
                  <a:pt x="6700" y="42424"/>
                  <a:pt x="10238" y="40671"/>
                </a:cubicBezTo>
                <a:lnTo>
                  <a:pt x="22042" y="34847"/>
                </a:lnTo>
                <a:cubicBezTo>
                  <a:pt x="22261" y="33251"/>
                  <a:pt x="22574" y="31685"/>
                  <a:pt x="22981" y="30088"/>
                </a:cubicBezTo>
                <a:cubicBezTo>
                  <a:pt x="23419" y="28492"/>
                  <a:pt x="23920" y="26957"/>
                  <a:pt x="24547" y="25486"/>
                </a:cubicBezTo>
                <a:lnTo>
                  <a:pt x="17251" y="14559"/>
                </a:lnTo>
                <a:cubicBezTo>
                  <a:pt x="15060" y="11271"/>
                  <a:pt x="15498" y="6919"/>
                  <a:pt x="18285" y="4133"/>
                </a:cubicBezTo>
                <a:lnTo>
                  <a:pt x="24296" y="-1879"/>
                </a:lnTo>
                <a:cubicBezTo>
                  <a:pt x="27083" y="-4665"/>
                  <a:pt x="31435" y="-5103"/>
                  <a:pt x="34722" y="-2912"/>
                </a:cubicBezTo>
                <a:lnTo>
                  <a:pt x="45680" y="4383"/>
                </a:lnTo>
                <a:cubicBezTo>
                  <a:pt x="48655" y="3162"/>
                  <a:pt x="51817" y="2286"/>
                  <a:pt x="55042" y="1847"/>
                </a:cubicBezTo>
                <a:lnTo>
                  <a:pt x="60865" y="-9925"/>
                </a:lnTo>
                <a:cubicBezTo>
                  <a:pt x="62619" y="-13463"/>
                  <a:pt x="66595" y="-15248"/>
                  <a:pt x="70415" y="-14246"/>
                </a:cubicBezTo>
                <a:close/>
                <a:moveTo>
                  <a:pt x="60239" y="26300"/>
                </a:moveTo>
                <a:cubicBezTo>
                  <a:pt x="52636" y="26300"/>
                  <a:pt x="46463" y="32473"/>
                  <a:pt x="46463" y="40076"/>
                </a:cubicBezTo>
                <a:cubicBezTo>
                  <a:pt x="46463" y="47679"/>
                  <a:pt x="52636" y="53852"/>
                  <a:pt x="60239" y="53852"/>
                </a:cubicBezTo>
                <a:cubicBezTo>
                  <a:pt x="67842" y="53852"/>
                  <a:pt x="74015" y="47679"/>
                  <a:pt x="74015" y="40076"/>
                </a:cubicBezTo>
                <a:cubicBezTo>
                  <a:pt x="74015" y="32473"/>
                  <a:pt x="67842" y="26300"/>
                  <a:pt x="60239" y="2630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926200" y="5744222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Predecible y Confiable</a:t>
            </a:r>
            <a:endParaRPr b="0" i="0" sz="1600" u="none" cap="none" strike="noStrike"/>
          </a:p>
        </p:txBody>
      </p:sp>
      <p:sp>
        <p:nvSpPr>
          <p:cNvPr id="597" name="Google Shape;597;p15"/>
          <p:cNvSpPr/>
          <p:nvPr/>
        </p:nvSpPr>
        <p:spPr>
          <a:xfrm>
            <a:off x="721367" y="6064830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Ideal para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sistemas críticos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donde se necesita tiempo de respuesta garantizado.</a:t>
            </a:r>
            <a:endParaRPr b="0" i="0" sz="1600" u="none" cap="none" strike="noStrike"/>
          </a:p>
        </p:txBody>
      </p:sp>
      <p:sp>
        <p:nvSpPr>
          <p:cNvPr id="598" name="Google Shape;598;p15"/>
          <p:cNvSpPr/>
          <p:nvPr/>
        </p:nvSpPr>
        <p:spPr>
          <a:xfrm>
            <a:off x="6188954" y="1251261"/>
            <a:ext cx="5637353" cy="5601730"/>
          </a:xfrm>
          <a:custGeom>
            <a:rect b="b" l="l" r="r" t="t"/>
            <a:pathLst>
              <a:path extrusionOk="0" h="5601730" w="5637353">
                <a:moveTo>
                  <a:pt x="106881" y="0"/>
                </a:moveTo>
                <a:lnTo>
                  <a:pt x="5530472" y="0"/>
                </a:lnTo>
                <a:cubicBezTo>
                  <a:pt x="5589501" y="0"/>
                  <a:pt x="5637353" y="47852"/>
                  <a:pt x="5637353" y="106881"/>
                </a:cubicBezTo>
                <a:lnTo>
                  <a:pt x="5637353" y="5494849"/>
                </a:lnTo>
                <a:cubicBezTo>
                  <a:pt x="5637353" y="5553877"/>
                  <a:pt x="5589501" y="5601730"/>
                  <a:pt x="5530472" y="5601730"/>
                </a:cubicBezTo>
                <a:lnTo>
                  <a:pt x="106881" y="5601730"/>
                </a:lnTo>
                <a:cubicBezTo>
                  <a:pt x="47852" y="5601730"/>
                  <a:pt x="0" y="5553877"/>
                  <a:pt x="0" y="5494849"/>
                </a:cubicBezTo>
                <a:lnTo>
                  <a:pt x="0" y="106881"/>
                </a:lnTo>
                <a:cubicBezTo>
                  <a:pt x="0" y="47892"/>
                  <a:pt x="47892" y="0"/>
                  <a:pt x="106881" y="0"/>
                </a:cubicBezTo>
                <a:close/>
              </a:path>
            </a:pathLst>
          </a:custGeom>
          <a:solidFill>
            <a:srgbClr val="262626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6371522" y="1433829"/>
            <a:ext cx="498723" cy="498723"/>
          </a:xfrm>
          <a:custGeom>
            <a:rect b="b" l="l" r="r" t="t"/>
            <a:pathLst>
              <a:path extrusionOk="0" h="498723" w="498723">
                <a:moveTo>
                  <a:pt x="249362" y="0"/>
                </a:moveTo>
                <a:lnTo>
                  <a:pt x="249362" y="0"/>
                </a:lnTo>
                <a:cubicBezTo>
                  <a:pt x="387080" y="0"/>
                  <a:pt x="498723" y="111643"/>
                  <a:pt x="498723" y="249362"/>
                </a:cubicBezTo>
                <a:lnTo>
                  <a:pt x="498723" y="249362"/>
                </a:lnTo>
                <a:cubicBezTo>
                  <a:pt x="498723" y="387080"/>
                  <a:pt x="387080" y="498723"/>
                  <a:pt x="249362" y="498723"/>
                </a:cubicBezTo>
                <a:lnTo>
                  <a:pt x="249362" y="498723"/>
                </a:lnTo>
                <a:cubicBezTo>
                  <a:pt x="111643" y="498723"/>
                  <a:pt x="0" y="387080"/>
                  <a:pt x="0" y="249362"/>
                </a:cubicBezTo>
                <a:lnTo>
                  <a:pt x="0" y="249362"/>
                </a:lnTo>
                <a:cubicBezTo>
                  <a:pt x="0" y="111643"/>
                  <a:pt x="111643" y="0"/>
                  <a:pt x="24936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6489524" y="1549604"/>
            <a:ext cx="267173" cy="267173"/>
          </a:xfrm>
          <a:custGeom>
            <a:rect b="b" l="l" r="r" t="t"/>
            <a:pathLst>
              <a:path extrusionOk="0" h="267173" w="267173">
                <a:moveTo>
                  <a:pt x="200380" y="16698"/>
                </a:moveTo>
                <a:cubicBezTo>
                  <a:pt x="214208" y="16698"/>
                  <a:pt x="225427" y="27918"/>
                  <a:pt x="225427" y="41746"/>
                </a:cubicBezTo>
                <a:cubicBezTo>
                  <a:pt x="225427" y="45033"/>
                  <a:pt x="224749" y="48112"/>
                  <a:pt x="223653" y="50982"/>
                </a:cubicBezTo>
                <a:cubicBezTo>
                  <a:pt x="234298" y="53852"/>
                  <a:pt x="242126" y="63558"/>
                  <a:pt x="242126" y="75142"/>
                </a:cubicBezTo>
                <a:cubicBezTo>
                  <a:pt x="242126" y="79891"/>
                  <a:pt x="240769" y="84327"/>
                  <a:pt x="238473" y="88136"/>
                </a:cubicBezTo>
                <a:cubicBezTo>
                  <a:pt x="250057" y="90327"/>
                  <a:pt x="258824" y="100503"/>
                  <a:pt x="258824" y="112714"/>
                </a:cubicBezTo>
                <a:cubicBezTo>
                  <a:pt x="258824" y="122994"/>
                  <a:pt x="252614" y="131812"/>
                  <a:pt x="243743" y="135674"/>
                </a:cubicBezTo>
                <a:cubicBezTo>
                  <a:pt x="252614" y="139535"/>
                  <a:pt x="258824" y="148354"/>
                  <a:pt x="258824" y="158634"/>
                </a:cubicBezTo>
                <a:cubicBezTo>
                  <a:pt x="258824" y="172462"/>
                  <a:pt x="247605" y="183682"/>
                  <a:pt x="233776" y="183682"/>
                </a:cubicBezTo>
                <a:lnTo>
                  <a:pt x="150285" y="183682"/>
                </a:lnTo>
                <a:lnTo>
                  <a:pt x="165000" y="220418"/>
                </a:lnTo>
                <a:cubicBezTo>
                  <a:pt x="166305" y="223705"/>
                  <a:pt x="166983" y="227254"/>
                  <a:pt x="166983" y="230802"/>
                </a:cubicBezTo>
                <a:lnTo>
                  <a:pt x="166983" y="232994"/>
                </a:lnTo>
                <a:cubicBezTo>
                  <a:pt x="166983" y="247239"/>
                  <a:pt x="155451" y="258772"/>
                  <a:pt x="141205" y="258772"/>
                </a:cubicBezTo>
                <a:cubicBezTo>
                  <a:pt x="131447" y="258772"/>
                  <a:pt x="122524" y="253240"/>
                  <a:pt x="118141" y="244526"/>
                </a:cubicBezTo>
                <a:lnTo>
                  <a:pt x="88762" y="185925"/>
                </a:lnTo>
                <a:cubicBezTo>
                  <a:pt x="85266" y="178985"/>
                  <a:pt x="83492" y="171314"/>
                  <a:pt x="83492" y="163539"/>
                </a:cubicBezTo>
                <a:lnTo>
                  <a:pt x="83492" y="66167"/>
                </a:lnTo>
                <a:cubicBezTo>
                  <a:pt x="83492" y="56044"/>
                  <a:pt x="88136" y="46442"/>
                  <a:pt x="96015" y="40076"/>
                </a:cubicBezTo>
                <a:lnTo>
                  <a:pt x="102382" y="35014"/>
                </a:lnTo>
                <a:cubicBezTo>
                  <a:pt x="117201" y="23169"/>
                  <a:pt x="135569" y="16698"/>
                  <a:pt x="154512" y="16698"/>
                </a:cubicBezTo>
                <a:lnTo>
                  <a:pt x="200380" y="16698"/>
                </a:lnTo>
                <a:close/>
                <a:moveTo>
                  <a:pt x="41746" y="50095"/>
                </a:moveTo>
                <a:cubicBezTo>
                  <a:pt x="50982" y="50095"/>
                  <a:pt x="58444" y="57557"/>
                  <a:pt x="58444" y="66793"/>
                </a:cubicBezTo>
                <a:lnTo>
                  <a:pt x="58444" y="200380"/>
                </a:lnTo>
                <a:cubicBezTo>
                  <a:pt x="58444" y="209616"/>
                  <a:pt x="50982" y="217078"/>
                  <a:pt x="41746" y="217078"/>
                </a:cubicBezTo>
                <a:lnTo>
                  <a:pt x="16698" y="217078"/>
                </a:lnTo>
                <a:cubicBezTo>
                  <a:pt x="7462" y="217078"/>
                  <a:pt x="0" y="209616"/>
                  <a:pt x="0" y="200380"/>
                </a:cubicBezTo>
                <a:lnTo>
                  <a:pt x="0" y="66793"/>
                </a:lnTo>
                <a:cubicBezTo>
                  <a:pt x="0" y="57557"/>
                  <a:pt x="7462" y="50095"/>
                  <a:pt x="16698" y="50095"/>
                </a:cubicBezTo>
                <a:lnTo>
                  <a:pt x="41746" y="50095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5"/>
          <p:cNvSpPr/>
          <p:nvPr/>
        </p:nvSpPr>
        <p:spPr>
          <a:xfrm>
            <a:off x="6977115" y="1522887"/>
            <a:ext cx="1611944" cy="320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4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 b="0" i="0" sz="1600" u="none" cap="none" strike="noStrike"/>
          </a:p>
        </p:txBody>
      </p:sp>
      <p:sp>
        <p:nvSpPr>
          <p:cNvPr id="602" name="Google Shape;602;p15"/>
          <p:cNvSpPr/>
          <p:nvPr/>
        </p:nvSpPr>
        <p:spPr>
          <a:xfrm>
            <a:off x="6389334" y="2075045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6389334" y="2075045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5"/>
          <p:cNvSpPr/>
          <p:nvPr/>
        </p:nvSpPr>
        <p:spPr>
          <a:xfrm>
            <a:off x="6571902" y="2262066"/>
            <a:ext cx="160304" cy="160304"/>
          </a:xfrm>
          <a:custGeom>
            <a:rect b="b" l="l" r="r" t="t"/>
            <a:pathLst>
              <a:path extrusionOk="0" h="160304" w="160304">
                <a:moveTo>
                  <a:pt x="126427" y="10770"/>
                </a:moveTo>
                <a:cubicBezTo>
                  <a:pt x="130184" y="9205"/>
                  <a:pt x="134474" y="10082"/>
                  <a:pt x="137354" y="12931"/>
                </a:cubicBezTo>
                <a:lnTo>
                  <a:pt x="157392" y="32969"/>
                </a:lnTo>
                <a:cubicBezTo>
                  <a:pt x="159271" y="34847"/>
                  <a:pt x="160335" y="37383"/>
                  <a:pt x="160335" y="40045"/>
                </a:cubicBezTo>
                <a:cubicBezTo>
                  <a:pt x="160335" y="42706"/>
                  <a:pt x="159271" y="45242"/>
                  <a:pt x="157392" y="47121"/>
                </a:cubicBezTo>
                <a:lnTo>
                  <a:pt x="137354" y="67159"/>
                </a:lnTo>
                <a:cubicBezTo>
                  <a:pt x="134474" y="70039"/>
                  <a:pt x="130184" y="70884"/>
                  <a:pt x="126427" y="69319"/>
                </a:cubicBezTo>
                <a:cubicBezTo>
                  <a:pt x="122670" y="67753"/>
                  <a:pt x="120228" y="64153"/>
                  <a:pt x="120228" y="60114"/>
                </a:cubicBezTo>
                <a:lnTo>
                  <a:pt x="120228" y="50095"/>
                </a:lnTo>
                <a:lnTo>
                  <a:pt x="110209" y="50095"/>
                </a:lnTo>
                <a:cubicBezTo>
                  <a:pt x="107047" y="50095"/>
                  <a:pt x="104072" y="51566"/>
                  <a:pt x="102194" y="54103"/>
                </a:cubicBezTo>
                <a:lnTo>
                  <a:pt x="92049" y="67628"/>
                </a:lnTo>
                <a:lnTo>
                  <a:pt x="79526" y="50940"/>
                </a:lnTo>
                <a:lnTo>
                  <a:pt x="86163" y="42080"/>
                </a:lnTo>
                <a:cubicBezTo>
                  <a:pt x="91830" y="34503"/>
                  <a:pt x="100753" y="30057"/>
                  <a:pt x="110209" y="30057"/>
                </a:cubicBezTo>
                <a:lnTo>
                  <a:pt x="120228" y="30057"/>
                </a:lnTo>
                <a:lnTo>
                  <a:pt x="120228" y="20038"/>
                </a:lnTo>
                <a:cubicBezTo>
                  <a:pt x="120228" y="15999"/>
                  <a:pt x="122670" y="12336"/>
                  <a:pt x="126427" y="10770"/>
                </a:cubicBezTo>
                <a:close/>
                <a:moveTo>
                  <a:pt x="48216" y="92676"/>
                </a:moveTo>
                <a:lnTo>
                  <a:pt x="60740" y="109364"/>
                </a:lnTo>
                <a:lnTo>
                  <a:pt x="54103" y="118224"/>
                </a:lnTo>
                <a:cubicBezTo>
                  <a:pt x="48436" y="125801"/>
                  <a:pt x="39512" y="130247"/>
                  <a:pt x="30057" y="130247"/>
                </a:cubicBezTo>
                <a:lnTo>
                  <a:pt x="10019" y="130247"/>
                </a:lnTo>
                <a:cubicBezTo>
                  <a:pt x="4477" y="130247"/>
                  <a:pt x="0" y="125770"/>
                  <a:pt x="0" y="120228"/>
                </a:cubicBezTo>
                <a:cubicBezTo>
                  <a:pt x="0" y="114686"/>
                  <a:pt x="4477" y="110209"/>
                  <a:pt x="10019" y="110209"/>
                </a:cubicBezTo>
                <a:lnTo>
                  <a:pt x="30057" y="110209"/>
                </a:lnTo>
                <a:cubicBezTo>
                  <a:pt x="33219" y="110209"/>
                  <a:pt x="36194" y="108737"/>
                  <a:pt x="38072" y="106201"/>
                </a:cubicBezTo>
                <a:lnTo>
                  <a:pt x="48216" y="92676"/>
                </a:lnTo>
                <a:close/>
                <a:moveTo>
                  <a:pt x="137323" y="147342"/>
                </a:moveTo>
                <a:cubicBezTo>
                  <a:pt x="134442" y="150222"/>
                  <a:pt x="130153" y="151068"/>
                  <a:pt x="126396" y="149502"/>
                </a:cubicBezTo>
                <a:cubicBezTo>
                  <a:pt x="122639" y="147937"/>
                  <a:pt x="120228" y="144305"/>
                  <a:pt x="120228" y="140266"/>
                </a:cubicBezTo>
                <a:lnTo>
                  <a:pt x="120228" y="130247"/>
                </a:lnTo>
                <a:lnTo>
                  <a:pt x="110209" y="130247"/>
                </a:lnTo>
                <a:cubicBezTo>
                  <a:pt x="100753" y="130247"/>
                  <a:pt x="91830" y="125801"/>
                  <a:pt x="86163" y="118224"/>
                </a:cubicBezTo>
                <a:lnTo>
                  <a:pt x="38072" y="54103"/>
                </a:lnTo>
                <a:cubicBezTo>
                  <a:pt x="36194" y="51566"/>
                  <a:pt x="33219" y="50095"/>
                  <a:pt x="30057" y="50095"/>
                </a:cubicBezTo>
                <a:lnTo>
                  <a:pt x="10019" y="50095"/>
                </a:lnTo>
                <a:cubicBezTo>
                  <a:pt x="4477" y="50095"/>
                  <a:pt x="0" y="45618"/>
                  <a:pt x="0" y="40076"/>
                </a:cubicBezTo>
                <a:cubicBezTo>
                  <a:pt x="0" y="34534"/>
                  <a:pt x="4477" y="30057"/>
                  <a:pt x="10019" y="30057"/>
                </a:cubicBezTo>
                <a:lnTo>
                  <a:pt x="30057" y="30057"/>
                </a:lnTo>
                <a:cubicBezTo>
                  <a:pt x="39512" y="30057"/>
                  <a:pt x="48436" y="34503"/>
                  <a:pt x="54103" y="42080"/>
                </a:cubicBezTo>
                <a:lnTo>
                  <a:pt x="102194" y="106201"/>
                </a:lnTo>
                <a:cubicBezTo>
                  <a:pt x="104072" y="108737"/>
                  <a:pt x="107047" y="110209"/>
                  <a:pt x="110209" y="110209"/>
                </a:cubicBezTo>
                <a:lnTo>
                  <a:pt x="120228" y="110209"/>
                </a:lnTo>
                <a:lnTo>
                  <a:pt x="120228" y="100190"/>
                </a:lnTo>
                <a:cubicBezTo>
                  <a:pt x="120228" y="96151"/>
                  <a:pt x="122670" y="92488"/>
                  <a:pt x="126427" y="90922"/>
                </a:cubicBezTo>
                <a:cubicBezTo>
                  <a:pt x="130184" y="89357"/>
                  <a:pt x="134474" y="90234"/>
                  <a:pt x="137354" y="93083"/>
                </a:cubicBezTo>
                <a:lnTo>
                  <a:pt x="157392" y="113121"/>
                </a:lnTo>
                <a:cubicBezTo>
                  <a:pt x="159271" y="114999"/>
                  <a:pt x="160335" y="117535"/>
                  <a:pt x="160335" y="120197"/>
                </a:cubicBezTo>
                <a:cubicBezTo>
                  <a:pt x="160335" y="122858"/>
                  <a:pt x="159271" y="125394"/>
                  <a:pt x="157392" y="127273"/>
                </a:cubicBezTo>
                <a:lnTo>
                  <a:pt x="137354" y="14731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6754470" y="2217537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No es Estable</a:t>
            </a:r>
            <a:endParaRPr b="0" i="0" sz="1600" u="none" cap="none" strike="noStrike"/>
          </a:p>
        </p:txBody>
      </p:sp>
      <p:sp>
        <p:nvSpPr>
          <p:cNvPr id="606" name="Google Shape;606;p15"/>
          <p:cNvSpPr/>
          <p:nvPr/>
        </p:nvSpPr>
        <p:spPr>
          <a:xfrm>
            <a:off x="6549638" y="2538145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Los elementos iguales pueden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cambiar de orden relativo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. No preserva el orden original de duplicados.</a:t>
            </a:r>
            <a:endParaRPr b="0" i="0" sz="1600" u="none" cap="none" strike="noStrike"/>
          </a:p>
        </p:txBody>
      </p:sp>
      <p:sp>
        <p:nvSpPr>
          <p:cNvPr id="607" name="Google Shape;607;p15"/>
          <p:cNvSpPr/>
          <p:nvPr/>
        </p:nvSpPr>
        <p:spPr>
          <a:xfrm>
            <a:off x="6389334" y="3250606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"/>
          <p:cNvSpPr/>
          <p:nvPr/>
        </p:nvSpPr>
        <p:spPr>
          <a:xfrm>
            <a:off x="6389334" y="3250606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6571902" y="3437627"/>
            <a:ext cx="160304" cy="160304"/>
          </a:xfrm>
          <a:custGeom>
            <a:rect b="b" l="l" r="r" t="t"/>
            <a:pathLst>
              <a:path extrusionOk="0" h="160304" w="160304">
                <a:moveTo>
                  <a:pt x="0" y="80152"/>
                </a:moveTo>
                <a:cubicBezTo>
                  <a:pt x="0" y="35915"/>
                  <a:pt x="35915" y="0"/>
                  <a:pt x="80152" y="0"/>
                </a:cubicBezTo>
                <a:cubicBezTo>
                  <a:pt x="124389" y="0"/>
                  <a:pt x="160304" y="35915"/>
                  <a:pt x="160304" y="80152"/>
                </a:cubicBezTo>
                <a:cubicBezTo>
                  <a:pt x="160304" y="124389"/>
                  <a:pt x="124389" y="160304"/>
                  <a:pt x="80152" y="160304"/>
                </a:cubicBezTo>
                <a:cubicBezTo>
                  <a:pt x="35915" y="160304"/>
                  <a:pt x="0" y="124389"/>
                  <a:pt x="0" y="80152"/>
                </a:cubicBezTo>
                <a:close/>
                <a:moveTo>
                  <a:pt x="90171" y="30057"/>
                </a:moveTo>
                <a:cubicBezTo>
                  <a:pt x="90171" y="24527"/>
                  <a:pt x="85682" y="20038"/>
                  <a:pt x="80152" y="20038"/>
                </a:cubicBezTo>
                <a:cubicBezTo>
                  <a:pt x="74622" y="20038"/>
                  <a:pt x="70133" y="24527"/>
                  <a:pt x="70133" y="30057"/>
                </a:cubicBezTo>
                <a:cubicBezTo>
                  <a:pt x="70133" y="35587"/>
                  <a:pt x="74622" y="40076"/>
                  <a:pt x="80152" y="40076"/>
                </a:cubicBezTo>
                <a:cubicBezTo>
                  <a:pt x="85682" y="40076"/>
                  <a:pt x="90171" y="35587"/>
                  <a:pt x="90171" y="30057"/>
                </a:cubicBezTo>
                <a:close/>
                <a:moveTo>
                  <a:pt x="80152" y="130247"/>
                </a:moveTo>
                <a:cubicBezTo>
                  <a:pt x="91204" y="130247"/>
                  <a:pt x="100190" y="121261"/>
                  <a:pt x="100190" y="110209"/>
                </a:cubicBezTo>
                <a:cubicBezTo>
                  <a:pt x="100190" y="105137"/>
                  <a:pt x="98311" y="100472"/>
                  <a:pt x="95180" y="96965"/>
                </a:cubicBezTo>
                <a:lnTo>
                  <a:pt x="116940" y="53476"/>
                </a:lnTo>
                <a:cubicBezTo>
                  <a:pt x="118788" y="49751"/>
                  <a:pt x="117285" y="45242"/>
                  <a:pt x="113590" y="43395"/>
                </a:cubicBezTo>
                <a:cubicBezTo>
                  <a:pt x="109896" y="41548"/>
                  <a:pt x="105356" y="43050"/>
                  <a:pt x="103509" y="46745"/>
                </a:cubicBezTo>
                <a:lnTo>
                  <a:pt x="81749" y="90234"/>
                </a:lnTo>
                <a:cubicBezTo>
                  <a:pt x="81216" y="90202"/>
                  <a:pt x="80684" y="90171"/>
                  <a:pt x="80152" y="90171"/>
                </a:cubicBezTo>
                <a:cubicBezTo>
                  <a:pt x="69100" y="90171"/>
                  <a:pt x="60114" y="99157"/>
                  <a:pt x="60114" y="110209"/>
                </a:cubicBezTo>
                <a:cubicBezTo>
                  <a:pt x="60114" y="121261"/>
                  <a:pt x="69100" y="130247"/>
                  <a:pt x="80152" y="130247"/>
                </a:cubicBezTo>
                <a:close/>
                <a:moveTo>
                  <a:pt x="55104" y="45085"/>
                </a:moveTo>
                <a:cubicBezTo>
                  <a:pt x="55104" y="39556"/>
                  <a:pt x="50615" y="35066"/>
                  <a:pt x="45085" y="35066"/>
                </a:cubicBezTo>
                <a:cubicBezTo>
                  <a:pt x="39556" y="35066"/>
                  <a:pt x="35066" y="39556"/>
                  <a:pt x="35066" y="45085"/>
                </a:cubicBezTo>
                <a:cubicBezTo>
                  <a:pt x="35066" y="50615"/>
                  <a:pt x="39556" y="55104"/>
                  <a:pt x="45085" y="55104"/>
                </a:cubicBezTo>
                <a:cubicBezTo>
                  <a:pt x="50615" y="55104"/>
                  <a:pt x="55104" y="50615"/>
                  <a:pt x="55104" y="45085"/>
                </a:cubicBezTo>
                <a:close/>
                <a:moveTo>
                  <a:pt x="30057" y="90171"/>
                </a:moveTo>
                <a:cubicBezTo>
                  <a:pt x="35587" y="90171"/>
                  <a:pt x="40076" y="85682"/>
                  <a:pt x="40076" y="80152"/>
                </a:cubicBezTo>
                <a:cubicBezTo>
                  <a:pt x="40076" y="74622"/>
                  <a:pt x="35587" y="70133"/>
                  <a:pt x="30057" y="70133"/>
                </a:cubicBezTo>
                <a:cubicBezTo>
                  <a:pt x="24527" y="70133"/>
                  <a:pt x="20038" y="74622"/>
                  <a:pt x="20038" y="80152"/>
                </a:cubicBezTo>
                <a:cubicBezTo>
                  <a:pt x="20038" y="85682"/>
                  <a:pt x="24527" y="90171"/>
                  <a:pt x="30057" y="90171"/>
                </a:cubicBezTo>
                <a:close/>
                <a:moveTo>
                  <a:pt x="140266" y="80152"/>
                </a:moveTo>
                <a:cubicBezTo>
                  <a:pt x="140266" y="74622"/>
                  <a:pt x="135777" y="70133"/>
                  <a:pt x="130247" y="70133"/>
                </a:cubicBezTo>
                <a:cubicBezTo>
                  <a:pt x="124717" y="70133"/>
                  <a:pt x="120228" y="74622"/>
                  <a:pt x="120228" y="80152"/>
                </a:cubicBezTo>
                <a:cubicBezTo>
                  <a:pt x="120228" y="85682"/>
                  <a:pt x="124717" y="90171"/>
                  <a:pt x="130247" y="90171"/>
                </a:cubicBezTo>
                <a:cubicBezTo>
                  <a:pt x="135777" y="90171"/>
                  <a:pt x="140266" y="85682"/>
                  <a:pt x="140266" y="80152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5"/>
          <p:cNvSpPr/>
          <p:nvPr/>
        </p:nvSpPr>
        <p:spPr>
          <a:xfrm>
            <a:off x="6754470" y="3393099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Más Lento que QuickSort en Práctica</a:t>
            </a:r>
            <a:endParaRPr b="0" i="0" sz="1600" u="none" cap="none" strike="noStrike"/>
          </a:p>
        </p:txBody>
      </p:sp>
      <p:sp>
        <p:nvSpPr>
          <p:cNvPr id="611" name="Google Shape;611;p15"/>
          <p:cNvSpPr/>
          <p:nvPr/>
        </p:nvSpPr>
        <p:spPr>
          <a:xfrm>
            <a:off x="6549638" y="3713706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Aunque ambos son O(n log n), QuickSort tiene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constantes menores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y mejor rendimiento en la mayoría de casos.</a:t>
            </a:r>
            <a:endParaRPr b="0" i="0" sz="1600" u="none" cap="none" strike="noStrike"/>
          </a:p>
        </p:txBody>
      </p:sp>
      <p:sp>
        <p:nvSpPr>
          <p:cNvPr id="612" name="Google Shape;612;p15"/>
          <p:cNvSpPr/>
          <p:nvPr/>
        </p:nvSpPr>
        <p:spPr>
          <a:xfrm>
            <a:off x="6389334" y="4426168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6389334" y="4426168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5"/>
          <p:cNvSpPr/>
          <p:nvPr/>
        </p:nvSpPr>
        <p:spPr>
          <a:xfrm>
            <a:off x="6581921" y="4613189"/>
            <a:ext cx="140266" cy="160304"/>
          </a:xfrm>
          <a:custGeom>
            <a:rect b="b" l="l" r="r" t="t"/>
            <a:pathLst>
              <a:path extrusionOk="0" h="160304" w="140266">
                <a:moveTo>
                  <a:pt x="140266" y="64435"/>
                </a:moveTo>
                <a:cubicBezTo>
                  <a:pt x="135632" y="67503"/>
                  <a:pt x="130310" y="69976"/>
                  <a:pt x="124768" y="71949"/>
                </a:cubicBezTo>
                <a:cubicBezTo>
                  <a:pt x="110052" y="77209"/>
                  <a:pt x="90734" y="80152"/>
                  <a:pt x="70133" y="80152"/>
                </a:cubicBezTo>
                <a:cubicBezTo>
                  <a:pt x="49531" y="80152"/>
                  <a:pt x="30182" y="77178"/>
                  <a:pt x="15498" y="71949"/>
                </a:cubicBezTo>
                <a:cubicBezTo>
                  <a:pt x="9988" y="69976"/>
                  <a:pt x="4634" y="67503"/>
                  <a:pt x="0" y="64435"/>
                </a:cubicBezTo>
                <a:lnTo>
                  <a:pt x="0" y="90171"/>
                </a:lnTo>
                <a:cubicBezTo>
                  <a:pt x="0" y="104010"/>
                  <a:pt x="31403" y="115218"/>
                  <a:pt x="70133" y="115218"/>
                </a:cubicBezTo>
                <a:cubicBezTo>
                  <a:pt x="108863" y="115218"/>
                  <a:pt x="140266" y="104010"/>
                  <a:pt x="140266" y="90171"/>
                </a:cubicBezTo>
                <a:lnTo>
                  <a:pt x="140266" y="64435"/>
                </a:lnTo>
                <a:close/>
                <a:moveTo>
                  <a:pt x="140266" y="40076"/>
                </a:moveTo>
                <a:lnTo>
                  <a:pt x="140266" y="25047"/>
                </a:lnTo>
                <a:cubicBezTo>
                  <a:pt x="140266" y="11209"/>
                  <a:pt x="108863" y="0"/>
                  <a:pt x="70133" y="0"/>
                </a:cubicBezTo>
                <a:cubicBezTo>
                  <a:pt x="31403" y="0"/>
                  <a:pt x="0" y="11209"/>
                  <a:pt x="0" y="25047"/>
                </a:cubicBezTo>
                <a:lnTo>
                  <a:pt x="0" y="40076"/>
                </a:lnTo>
                <a:cubicBezTo>
                  <a:pt x="0" y="53915"/>
                  <a:pt x="31403" y="65123"/>
                  <a:pt x="70133" y="65123"/>
                </a:cubicBezTo>
                <a:cubicBezTo>
                  <a:pt x="108863" y="65123"/>
                  <a:pt x="140266" y="53915"/>
                  <a:pt x="140266" y="40076"/>
                </a:cubicBezTo>
                <a:close/>
                <a:moveTo>
                  <a:pt x="124768" y="122044"/>
                </a:moveTo>
                <a:cubicBezTo>
                  <a:pt x="110084" y="127273"/>
                  <a:pt x="90766" y="130247"/>
                  <a:pt x="70133" y="130247"/>
                </a:cubicBezTo>
                <a:cubicBezTo>
                  <a:pt x="49500" y="130247"/>
                  <a:pt x="30182" y="127273"/>
                  <a:pt x="15498" y="122044"/>
                </a:cubicBezTo>
                <a:cubicBezTo>
                  <a:pt x="9988" y="120071"/>
                  <a:pt x="4634" y="117598"/>
                  <a:pt x="0" y="114530"/>
                </a:cubicBezTo>
                <a:lnTo>
                  <a:pt x="0" y="135256"/>
                </a:lnTo>
                <a:cubicBezTo>
                  <a:pt x="0" y="149095"/>
                  <a:pt x="31403" y="160304"/>
                  <a:pt x="70133" y="160304"/>
                </a:cubicBezTo>
                <a:cubicBezTo>
                  <a:pt x="108863" y="160304"/>
                  <a:pt x="140266" y="149095"/>
                  <a:pt x="140266" y="135256"/>
                </a:cubicBezTo>
                <a:lnTo>
                  <a:pt x="140266" y="114530"/>
                </a:lnTo>
                <a:cubicBezTo>
                  <a:pt x="135632" y="117598"/>
                  <a:pt x="130310" y="120071"/>
                  <a:pt x="124768" y="122044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6754470" y="4568660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Mal Rendimiento de Caché</a:t>
            </a:r>
            <a:endParaRPr b="0" i="0" sz="1600" u="none" cap="none" strike="noStrike"/>
          </a:p>
        </p:txBody>
      </p:sp>
      <p:sp>
        <p:nvSpPr>
          <p:cNvPr id="616" name="Google Shape;616;p15"/>
          <p:cNvSpPr/>
          <p:nvPr/>
        </p:nvSpPr>
        <p:spPr>
          <a:xfrm>
            <a:off x="6549638" y="4889268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Los accesos al heap no son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secuenciales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, causando más fallos de caché que algoritmos con acceso lineal.</a:t>
            </a:r>
            <a:endParaRPr b="0" i="0" sz="1600" u="none" cap="none" strike="noStrike"/>
          </a:p>
        </p:txBody>
      </p:sp>
      <p:sp>
        <p:nvSpPr>
          <p:cNvPr id="617" name="Google Shape;617;p15"/>
          <p:cNvSpPr/>
          <p:nvPr/>
        </p:nvSpPr>
        <p:spPr>
          <a:xfrm>
            <a:off x="6389334" y="5601730"/>
            <a:ext cx="5254405" cy="1068692"/>
          </a:xfrm>
          <a:custGeom>
            <a:rect b="b" l="l" r="r" t="t"/>
            <a:pathLst>
              <a:path extrusionOk="0" h="1068692" w="5254405">
                <a:moveTo>
                  <a:pt x="35623" y="0"/>
                </a:moveTo>
                <a:lnTo>
                  <a:pt x="5183155" y="0"/>
                </a:lnTo>
                <a:cubicBezTo>
                  <a:pt x="5222505" y="0"/>
                  <a:pt x="5254405" y="31900"/>
                  <a:pt x="5254405" y="71250"/>
                </a:cubicBezTo>
                <a:lnTo>
                  <a:pt x="5254405" y="997443"/>
                </a:lnTo>
                <a:cubicBezTo>
                  <a:pt x="5254405" y="1036767"/>
                  <a:pt x="5222479" y="1068692"/>
                  <a:pt x="5183155" y="1068692"/>
                </a:cubicBez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6389334" y="5601730"/>
            <a:ext cx="35623" cy="1068692"/>
          </a:xfrm>
          <a:custGeom>
            <a:rect b="b" l="l" r="r" t="t"/>
            <a:pathLst>
              <a:path extrusionOk="0" h="1068692" w="35623">
                <a:moveTo>
                  <a:pt x="35623" y="0"/>
                </a:moveTo>
                <a:lnTo>
                  <a:pt x="35623" y="0"/>
                </a:lnTo>
                <a:lnTo>
                  <a:pt x="35623" y="1068692"/>
                </a:lnTo>
                <a:lnTo>
                  <a:pt x="35623" y="1068692"/>
                </a:lnTo>
                <a:cubicBezTo>
                  <a:pt x="15949" y="1068692"/>
                  <a:pt x="0" y="1052743"/>
                  <a:pt x="0" y="10330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6561883" y="5788751"/>
            <a:ext cx="180342" cy="160304"/>
          </a:xfrm>
          <a:custGeom>
            <a:rect b="b" l="l" r="r" t="t"/>
            <a:pathLst>
              <a:path extrusionOk="0" h="160304" w="180342">
                <a:moveTo>
                  <a:pt x="112964" y="376"/>
                </a:moveTo>
                <a:cubicBezTo>
                  <a:pt x="107642" y="-1158"/>
                  <a:pt x="102100" y="1941"/>
                  <a:pt x="100566" y="7264"/>
                </a:cubicBezTo>
                <a:lnTo>
                  <a:pt x="60490" y="147530"/>
                </a:lnTo>
                <a:cubicBezTo>
                  <a:pt x="58956" y="152852"/>
                  <a:pt x="62055" y="158394"/>
                  <a:pt x="67378" y="159928"/>
                </a:cubicBezTo>
                <a:cubicBezTo>
                  <a:pt x="72700" y="161462"/>
                  <a:pt x="78242" y="158363"/>
                  <a:pt x="79776" y="153040"/>
                </a:cubicBezTo>
                <a:lnTo>
                  <a:pt x="119852" y="12774"/>
                </a:lnTo>
                <a:cubicBezTo>
                  <a:pt x="121386" y="7452"/>
                  <a:pt x="118287" y="1910"/>
                  <a:pt x="112964" y="376"/>
                </a:cubicBezTo>
                <a:close/>
                <a:moveTo>
                  <a:pt x="133190" y="42988"/>
                </a:moveTo>
                <a:cubicBezTo>
                  <a:pt x="129276" y="46901"/>
                  <a:pt x="129276" y="53257"/>
                  <a:pt x="133190" y="57171"/>
                </a:cubicBezTo>
                <a:lnTo>
                  <a:pt x="156171" y="80152"/>
                </a:lnTo>
                <a:lnTo>
                  <a:pt x="133190" y="103133"/>
                </a:lnTo>
                <a:cubicBezTo>
                  <a:pt x="129276" y="107047"/>
                  <a:pt x="129276" y="113402"/>
                  <a:pt x="133190" y="117316"/>
                </a:cubicBezTo>
                <a:cubicBezTo>
                  <a:pt x="137104" y="121230"/>
                  <a:pt x="143459" y="121230"/>
                  <a:pt x="147373" y="117316"/>
                </a:cubicBezTo>
                <a:lnTo>
                  <a:pt x="177430" y="87259"/>
                </a:lnTo>
                <a:cubicBezTo>
                  <a:pt x="181344" y="83345"/>
                  <a:pt x="181344" y="76990"/>
                  <a:pt x="177430" y="73076"/>
                </a:cubicBezTo>
                <a:lnTo>
                  <a:pt x="147373" y="43019"/>
                </a:lnTo>
                <a:cubicBezTo>
                  <a:pt x="143459" y="39105"/>
                  <a:pt x="137104" y="39105"/>
                  <a:pt x="133190" y="43019"/>
                </a:cubicBezTo>
                <a:close/>
                <a:moveTo>
                  <a:pt x="47183" y="42988"/>
                </a:moveTo>
                <a:cubicBezTo>
                  <a:pt x="43270" y="39074"/>
                  <a:pt x="36914" y="39074"/>
                  <a:pt x="33000" y="42988"/>
                </a:cubicBezTo>
                <a:lnTo>
                  <a:pt x="2943" y="73045"/>
                </a:lnTo>
                <a:cubicBezTo>
                  <a:pt x="-971" y="76958"/>
                  <a:pt x="-971" y="83314"/>
                  <a:pt x="2943" y="87228"/>
                </a:cubicBezTo>
                <a:lnTo>
                  <a:pt x="33000" y="117285"/>
                </a:lnTo>
                <a:cubicBezTo>
                  <a:pt x="36914" y="121198"/>
                  <a:pt x="43270" y="121198"/>
                  <a:pt x="47183" y="117285"/>
                </a:cubicBezTo>
                <a:cubicBezTo>
                  <a:pt x="51097" y="113371"/>
                  <a:pt x="51097" y="107015"/>
                  <a:pt x="47183" y="103102"/>
                </a:cubicBezTo>
                <a:lnTo>
                  <a:pt x="24202" y="80152"/>
                </a:lnTo>
                <a:lnTo>
                  <a:pt x="47152" y="57171"/>
                </a:lnTo>
                <a:cubicBezTo>
                  <a:pt x="51066" y="53257"/>
                  <a:pt x="51066" y="46901"/>
                  <a:pt x="47152" y="42988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6754470" y="5744222"/>
            <a:ext cx="4826928" cy="24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Más Complejo que Bubble Sort</a:t>
            </a:r>
            <a:endParaRPr b="0" i="0" sz="1600" u="none" cap="none" strike="noStrike"/>
          </a:p>
        </p:txBody>
      </p:sp>
      <p:sp>
        <p:nvSpPr>
          <p:cNvPr id="621" name="Google Shape;621;p15"/>
          <p:cNvSpPr/>
          <p:nvPr/>
        </p:nvSpPr>
        <p:spPr>
          <a:xfrm>
            <a:off x="6549638" y="6064830"/>
            <a:ext cx="5022855" cy="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Requiere entender la </a:t>
            </a:r>
            <a:r>
              <a:rPr b="1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estructura de heap</a:t>
            </a:r>
            <a:r>
              <a:rPr b="0" i="0" lang="en-US" sz="1122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y la operación heapify. No es intuitivo para principiantes.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89fece7ac420b98fb8881490542dae3338fdf7a.jpg" id="627" name="Google Shape;627;p16"/>
          <p:cNvPicPr preferRelativeResize="0"/>
          <p:nvPr/>
        </p:nvPicPr>
        <p:blipFill rotWithShape="1">
          <a:blip r:embed="rId3">
            <a:alphaModFix amt="20000"/>
          </a:blip>
          <a:srcRect b="0" l="5562" r="5562" t="0"/>
          <a:stretch/>
        </p:blipFill>
        <p:spPr>
          <a:xfrm>
            <a:off x="0" y="0"/>
            <a:ext cx="12192000" cy="685902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28" name="Google Shape;628;p16"/>
          <p:cNvSpPr/>
          <p:nvPr/>
        </p:nvSpPr>
        <p:spPr>
          <a:xfrm>
            <a:off x="0" y="0"/>
            <a:ext cx="12192000" cy="6859026"/>
          </a:xfrm>
          <a:custGeom>
            <a:rect b="b" l="l" r="r" t="t"/>
            <a:pathLst>
              <a:path extrusionOk="0" h="6859026" w="12192000">
                <a:moveTo>
                  <a:pt x="0" y="0"/>
                </a:moveTo>
                <a:lnTo>
                  <a:pt x="12192000" y="0"/>
                </a:lnTo>
                <a:lnTo>
                  <a:pt x="12192000" y="6859026"/>
                </a:lnTo>
                <a:lnTo>
                  <a:pt x="0" y="685902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90196"/>
                </a:srgbClr>
              </a:gs>
              <a:gs pos="100000">
                <a:srgbClr val="6366F1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29" name="Google Shape;629;p16"/>
          <p:cNvSpPr/>
          <p:nvPr/>
        </p:nvSpPr>
        <p:spPr>
          <a:xfrm>
            <a:off x="332285" y="-469712"/>
            <a:ext cx="1550665" cy="434843"/>
          </a:xfrm>
          <a:custGeom>
            <a:rect b="b" l="l" r="r" t="t"/>
            <a:pathLst>
              <a:path extrusionOk="0" h="434843" w="1550665">
                <a:moveTo>
                  <a:pt x="217421" y="0"/>
                </a:moveTo>
                <a:lnTo>
                  <a:pt x="1333244" y="0"/>
                </a:lnTo>
                <a:cubicBezTo>
                  <a:pt x="1453322" y="0"/>
                  <a:pt x="1550665" y="97343"/>
                  <a:pt x="1550665" y="217421"/>
                </a:cubicBezTo>
                <a:lnTo>
                  <a:pt x="1550665" y="217421"/>
                </a:lnTo>
                <a:cubicBezTo>
                  <a:pt x="1550665" y="337500"/>
                  <a:pt x="1453322" y="434843"/>
                  <a:pt x="1333244" y="434843"/>
                </a:cubicBezTo>
                <a:lnTo>
                  <a:pt x="217421" y="434843"/>
                </a:lnTo>
                <a:cubicBezTo>
                  <a:pt x="97423" y="434843"/>
                  <a:pt x="0" y="337419"/>
                  <a:pt x="0" y="217421"/>
                </a:cubicBezTo>
                <a:lnTo>
                  <a:pt x="0" y="217421"/>
                </a:lnTo>
                <a:cubicBezTo>
                  <a:pt x="0" y="97423"/>
                  <a:pt x="97423" y="0"/>
                  <a:pt x="21742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533297" y="-367155"/>
            <a:ext cx="1232609" cy="221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2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1600" u="none" cap="none" strike="noStrike"/>
          </a:p>
        </p:txBody>
      </p:sp>
      <p:sp>
        <p:nvSpPr>
          <p:cNvPr id="631" name="Google Shape;631;p16"/>
          <p:cNvSpPr/>
          <p:nvPr/>
        </p:nvSpPr>
        <p:spPr>
          <a:xfrm>
            <a:off x="328183" y="428689"/>
            <a:ext cx="11781771" cy="12306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75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Heap Sort: Un Algoritmo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75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Fundamental y Elegante</a:t>
            </a:r>
            <a:endParaRPr b="0" i="0" sz="1600" u="none" cap="none" strike="noStrike"/>
          </a:p>
        </p:txBody>
      </p:sp>
      <p:sp>
        <p:nvSpPr>
          <p:cNvPr id="632" name="Google Shape;632;p16"/>
          <p:cNvSpPr/>
          <p:nvPr/>
        </p:nvSpPr>
        <p:spPr>
          <a:xfrm>
            <a:off x="328183" y="1921922"/>
            <a:ext cx="8499941" cy="959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Heap Sort representa un </a:t>
            </a:r>
            <a:r>
              <a:rPr b="1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hito fundamental</a:t>
            </a:r>
            <a:r>
              <a:rPr b="0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en la ciencia de la computación, demostrando cómo una </a:t>
            </a:r>
            <a:r>
              <a:rPr b="1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estructura de datos elegante</a:t>
            </a:r>
            <a:r>
              <a:rPr b="0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(el heap) puede transformar un problema complejo en una solución eficiente y predecible.</a:t>
            </a:r>
            <a:endParaRPr b="0" i="0" sz="1600" u="none" cap="none" strike="noStrike"/>
          </a:p>
        </p:txBody>
      </p:sp>
      <p:sp>
        <p:nvSpPr>
          <p:cNvPr id="633" name="Google Shape;633;p16"/>
          <p:cNvSpPr/>
          <p:nvPr/>
        </p:nvSpPr>
        <p:spPr>
          <a:xfrm>
            <a:off x="328183" y="3078767"/>
            <a:ext cx="8499941" cy="959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Su garantía de </a:t>
            </a:r>
            <a:r>
              <a:rPr b="1" i="0" lang="en-US" sz="15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r>
              <a:rPr b="0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en todos los casos lo convierte en una herramienta indispensable cuando la </a:t>
            </a:r>
            <a:r>
              <a:rPr b="1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consistencia</a:t>
            </a:r>
            <a:r>
              <a:rPr b="0" i="0" lang="en-US" sz="155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 es más importante que la velocidad promedio. Es la elección perfecta para sistemas críticos donde no se pueden tolerar degradaciones de rendimiento.</a:t>
            </a:r>
            <a:endParaRPr b="0" i="0" sz="1600" u="none" cap="none" strike="noStrike"/>
          </a:p>
        </p:txBody>
      </p:sp>
      <p:sp>
        <p:nvSpPr>
          <p:cNvPr id="634" name="Google Shape;634;p16"/>
          <p:cNvSpPr/>
          <p:nvPr/>
        </p:nvSpPr>
        <p:spPr>
          <a:xfrm>
            <a:off x="332285" y="4370988"/>
            <a:ext cx="8393281" cy="1698347"/>
          </a:xfrm>
          <a:custGeom>
            <a:rect b="b" l="l" r="r" t="t"/>
            <a:pathLst>
              <a:path extrusionOk="0" h="1698347" w="8393281">
                <a:moveTo>
                  <a:pt x="131265" y="0"/>
                </a:moveTo>
                <a:lnTo>
                  <a:pt x="8262016" y="0"/>
                </a:lnTo>
                <a:cubicBezTo>
                  <a:pt x="8334512" y="0"/>
                  <a:pt x="8393281" y="58769"/>
                  <a:pt x="8393281" y="131265"/>
                </a:cubicBezTo>
                <a:lnTo>
                  <a:pt x="8393281" y="1567082"/>
                </a:lnTo>
                <a:cubicBezTo>
                  <a:pt x="8393281" y="1639578"/>
                  <a:pt x="8334512" y="1698347"/>
                  <a:pt x="8262016" y="1698347"/>
                </a:cubicBezTo>
                <a:lnTo>
                  <a:pt x="131265" y="1698347"/>
                </a:lnTo>
                <a:cubicBezTo>
                  <a:pt x="58818" y="1698347"/>
                  <a:pt x="0" y="1639529"/>
                  <a:pt x="0" y="1567082"/>
                </a:cubicBezTo>
                <a:lnTo>
                  <a:pt x="0" y="131265"/>
                </a:lnTo>
                <a:cubicBezTo>
                  <a:pt x="0" y="58818"/>
                  <a:pt x="58818" y="0"/>
                  <a:pt x="131265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cap="flat" cmpd="sng" w="12700">
            <a:solidFill>
              <a:srgbClr val="6366F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590729" y="4703273"/>
            <a:ext cx="344592" cy="393820"/>
          </a:xfrm>
          <a:custGeom>
            <a:rect b="b" l="l" r="r" t="t"/>
            <a:pathLst>
              <a:path extrusionOk="0" h="393820" w="344592">
                <a:moveTo>
                  <a:pt x="0" y="166143"/>
                </a:moveTo>
                <a:cubicBezTo>
                  <a:pt x="0" y="115146"/>
                  <a:pt x="41305" y="73841"/>
                  <a:pt x="92301" y="73841"/>
                </a:cubicBezTo>
                <a:lnTo>
                  <a:pt x="98455" y="73841"/>
                </a:lnTo>
                <a:cubicBezTo>
                  <a:pt x="112069" y="73841"/>
                  <a:pt x="123069" y="84840"/>
                  <a:pt x="123069" y="98455"/>
                </a:cubicBezTo>
                <a:cubicBezTo>
                  <a:pt x="123069" y="112069"/>
                  <a:pt x="112069" y="123069"/>
                  <a:pt x="98455" y="123069"/>
                </a:cubicBezTo>
                <a:lnTo>
                  <a:pt x="92301" y="123069"/>
                </a:lnTo>
                <a:cubicBezTo>
                  <a:pt x="68534" y="123069"/>
                  <a:pt x="49227" y="142375"/>
                  <a:pt x="49227" y="166143"/>
                </a:cubicBezTo>
                <a:lnTo>
                  <a:pt x="49227" y="172296"/>
                </a:lnTo>
                <a:lnTo>
                  <a:pt x="98455" y="172296"/>
                </a:lnTo>
                <a:cubicBezTo>
                  <a:pt x="125607" y="172296"/>
                  <a:pt x="147682" y="194372"/>
                  <a:pt x="147682" y="221524"/>
                </a:cubicBezTo>
                <a:lnTo>
                  <a:pt x="147682" y="270751"/>
                </a:lnTo>
                <a:cubicBezTo>
                  <a:pt x="147682" y="297903"/>
                  <a:pt x="125607" y="319978"/>
                  <a:pt x="98455" y="319978"/>
                </a:cubicBezTo>
                <a:lnTo>
                  <a:pt x="49227" y="319978"/>
                </a:lnTo>
                <a:cubicBezTo>
                  <a:pt x="22075" y="319978"/>
                  <a:pt x="0" y="297903"/>
                  <a:pt x="0" y="270751"/>
                </a:cubicBezTo>
                <a:lnTo>
                  <a:pt x="0" y="166143"/>
                </a:lnTo>
                <a:close/>
                <a:moveTo>
                  <a:pt x="196910" y="166143"/>
                </a:moveTo>
                <a:cubicBezTo>
                  <a:pt x="196910" y="115146"/>
                  <a:pt x="238215" y="73841"/>
                  <a:pt x="289211" y="73841"/>
                </a:cubicBezTo>
                <a:lnTo>
                  <a:pt x="295365" y="73841"/>
                </a:lnTo>
                <a:cubicBezTo>
                  <a:pt x="308979" y="73841"/>
                  <a:pt x="319978" y="84840"/>
                  <a:pt x="319978" y="98455"/>
                </a:cubicBezTo>
                <a:cubicBezTo>
                  <a:pt x="319978" y="112069"/>
                  <a:pt x="308979" y="123069"/>
                  <a:pt x="295365" y="123069"/>
                </a:cubicBezTo>
                <a:lnTo>
                  <a:pt x="289211" y="123069"/>
                </a:lnTo>
                <a:cubicBezTo>
                  <a:pt x="265444" y="123069"/>
                  <a:pt x="246137" y="142375"/>
                  <a:pt x="246137" y="166143"/>
                </a:cubicBezTo>
                <a:lnTo>
                  <a:pt x="246137" y="172296"/>
                </a:lnTo>
                <a:lnTo>
                  <a:pt x="295365" y="172296"/>
                </a:lnTo>
                <a:cubicBezTo>
                  <a:pt x="322517" y="172296"/>
                  <a:pt x="344592" y="194372"/>
                  <a:pt x="344592" y="221524"/>
                </a:cubicBezTo>
                <a:lnTo>
                  <a:pt x="344592" y="270751"/>
                </a:lnTo>
                <a:cubicBezTo>
                  <a:pt x="344592" y="297903"/>
                  <a:pt x="322517" y="319978"/>
                  <a:pt x="295365" y="319978"/>
                </a:cubicBezTo>
                <a:lnTo>
                  <a:pt x="246137" y="319978"/>
                </a:lnTo>
                <a:cubicBezTo>
                  <a:pt x="218985" y="319978"/>
                  <a:pt x="196910" y="297903"/>
                  <a:pt x="196910" y="270751"/>
                </a:cubicBezTo>
                <a:lnTo>
                  <a:pt x="196910" y="16614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1121335" y="4637637"/>
            <a:ext cx="7457960" cy="80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7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"Los programadores que ignoran la eficiencia de sus algoritmos están condenados a reescribirlos."</a:t>
            </a:r>
            <a:endParaRPr b="0" i="0" sz="1600" u="none" cap="none" strike="noStrike"/>
          </a:p>
        </p:txBody>
      </p:sp>
      <p:sp>
        <p:nvSpPr>
          <p:cNvPr id="637" name="Google Shape;637;p16"/>
          <p:cNvSpPr/>
          <p:nvPr/>
        </p:nvSpPr>
        <p:spPr>
          <a:xfrm>
            <a:off x="1121335" y="5568856"/>
            <a:ext cx="7416937" cy="22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2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— Donald Knuth, The Art of Computer Programming</a:t>
            </a:r>
            <a:endParaRPr b="0" i="0" sz="1600" u="none" cap="none" strike="noStrike"/>
          </a:p>
        </p:txBody>
      </p:sp>
      <p:sp>
        <p:nvSpPr>
          <p:cNvPr id="638" name="Google Shape;638;p16"/>
          <p:cNvSpPr/>
          <p:nvPr/>
        </p:nvSpPr>
        <p:spPr>
          <a:xfrm>
            <a:off x="9499362" y="4900183"/>
            <a:ext cx="1944485" cy="927117"/>
          </a:xfrm>
          <a:custGeom>
            <a:rect b="b" l="l" r="r" t="t"/>
            <a:pathLst>
              <a:path extrusionOk="0" h="927117" w="1944485">
                <a:moveTo>
                  <a:pt x="98451" y="0"/>
                </a:moveTo>
                <a:lnTo>
                  <a:pt x="1846034" y="0"/>
                </a:lnTo>
                <a:cubicBezTo>
                  <a:pt x="1900370" y="0"/>
                  <a:pt x="1944485" y="44114"/>
                  <a:pt x="1944485" y="98451"/>
                </a:cubicBezTo>
                <a:lnTo>
                  <a:pt x="1944485" y="828667"/>
                </a:lnTo>
                <a:cubicBezTo>
                  <a:pt x="1944485" y="883039"/>
                  <a:pt x="1900407" y="927117"/>
                  <a:pt x="1846034" y="927117"/>
                </a:cubicBezTo>
                <a:lnTo>
                  <a:pt x="98451" y="927117"/>
                </a:lnTo>
                <a:cubicBezTo>
                  <a:pt x="44114" y="927117"/>
                  <a:pt x="0" y="883003"/>
                  <a:pt x="0" y="828667"/>
                </a:cubicBezTo>
                <a:lnTo>
                  <a:pt x="0" y="98451"/>
                </a:lnTo>
                <a:cubicBezTo>
                  <a:pt x="0" y="44114"/>
                  <a:pt x="44114" y="0"/>
                  <a:pt x="98451" y="0"/>
                </a:cubicBezTo>
                <a:close/>
              </a:path>
            </a:pathLst>
          </a:custGeom>
          <a:solidFill>
            <a:srgbClr val="262626">
              <a:alpha val="6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9593715" y="5056070"/>
            <a:ext cx="1755779" cy="328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6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endParaRPr b="0" i="0" sz="1600" u="none" cap="none" strike="noStrike"/>
          </a:p>
        </p:txBody>
      </p:sp>
      <p:sp>
        <p:nvSpPr>
          <p:cNvPr id="640" name="Google Shape;640;p16"/>
          <p:cNvSpPr/>
          <p:nvPr/>
        </p:nvSpPr>
        <p:spPr>
          <a:xfrm>
            <a:off x="9593715" y="5441685"/>
            <a:ext cx="1673734" cy="196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4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Año de invención</a:t>
            </a:r>
            <a:endParaRPr b="0" i="0" sz="1600" u="none" cap="none" strike="noStrike"/>
          </a:p>
        </p:txBody>
      </p:sp>
      <p:sp>
        <p:nvSpPr>
          <p:cNvPr id="641" name="Google Shape;641;p16"/>
          <p:cNvSpPr/>
          <p:nvPr/>
        </p:nvSpPr>
        <p:spPr>
          <a:xfrm>
            <a:off x="9499362" y="3710520"/>
            <a:ext cx="1944485" cy="927117"/>
          </a:xfrm>
          <a:custGeom>
            <a:rect b="b" l="l" r="r" t="t"/>
            <a:pathLst>
              <a:path extrusionOk="0" h="927117" w="1944485">
                <a:moveTo>
                  <a:pt x="98451" y="0"/>
                </a:moveTo>
                <a:lnTo>
                  <a:pt x="1846034" y="0"/>
                </a:lnTo>
                <a:cubicBezTo>
                  <a:pt x="1900370" y="0"/>
                  <a:pt x="1944485" y="44114"/>
                  <a:pt x="1944485" y="98451"/>
                </a:cubicBezTo>
                <a:lnTo>
                  <a:pt x="1944485" y="828667"/>
                </a:lnTo>
                <a:cubicBezTo>
                  <a:pt x="1944485" y="883039"/>
                  <a:pt x="1900407" y="927117"/>
                  <a:pt x="1846034" y="927117"/>
                </a:cubicBezTo>
                <a:lnTo>
                  <a:pt x="98451" y="927117"/>
                </a:lnTo>
                <a:cubicBezTo>
                  <a:pt x="44114" y="927117"/>
                  <a:pt x="0" y="883003"/>
                  <a:pt x="0" y="828667"/>
                </a:cubicBezTo>
                <a:lnTo>
                  <a:pt x="0" y="98451"/>
                </a:lnTo>
                <a:cubicBezTo>
                  <a:pt x="0" y="44114"/>
                  <a:pt x="44114" y="0"/>
                  <a:pt x="98451" y="0"/>
                </a:cubicBezTo>
                <a:close/>
              </a:path>
            </a:pathLst>
          </a:custGeom>
          <a:solidFill>
            <a:srgbClr val="262626">
              <a:alpha val="6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9593715" y="3874611"/>
            <a:ext cx="1755779" cy="328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6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600" u="none" cap="none" strike="noStrike"/>
          </a:p>
        </p:txBody>
      </p:sp>
      <p:sp>
        <p:nvSpPr>
          <p:cNvPr id="643" name="Google Shape;643;p16"/>
          <p:cNvSpPr/>
          <p:nvPr/>
        </p:nvSpPr>
        <p:spPr>
          <a:xfrm>
            <a:off x="9675760" y="4174078"/>
            <a:ext cx="1673734" cy="196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4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Complejidad garantizada</a:t>
            </a:r>
            <a:endParaRPr b="0" i="0" sz="1600" u="none" cap="none" strike="noStrike"/>
          </a:p>
        </p:txBody>
      </p:sp>
      <p:sp>
        <p:nvSpPr>
          <p:cNvPr id="644" name="Google Shape;644;p16"/>
          <p:cNvSpPr/>
          <p:nvPr/>
        </p:nvSpPr>
        <p:spPr>
          <a:xfrm>
            <a:off x="9499362" y="2502396"/>
            <a:ext cx="1944485" cy="927117"/>
          </a:xfrm>
          <a:custGeom>
            <a:rect b="b" l="l" r="r" t="t"/>
            <a:pathLst>
              <a:path extrusionOk="0" h="927117" w="1944485">
                <a:moveTo>
                  <a:pt x="98451" y="0"/>
                </a:moveTo>
                <a:lnTo>
                  <a:pt x="1846034" y="0"/>
                </a:lnTo>
                <a:cubicBezTo>
                  <a:pt x="1900370" y="0"/>
                  <a:pt x="1944485" y="44114"/>
                  <a:pt x="1944485" y="98451"/>
                </a:cubicBezTo>
                <a:lnTo>
                  <a:pt x="1944485" y="828667"/>
                </a:lnTo>
                <a:cubicBezTo>
                  <a:pt x="1944485" y="883039"/>
                  <a:pt x="1900407" y="927117"/>
                  <a:pt x="1846034" y="927117"/>
                </a:cubicBezTo>
                <a:lnTo>
                  <a:pt x="98451" y="927117"/>
                </a:lnTo>
                <a:cubicBezTo>
                  <a:pt x="44114" y="927117"/>
                  <a:pt x="0" y="883003"/>
                  <a:pt x="0" y="828667"/>
                </a:cubicBezTo>
                <a:lnTo>
                  <a:pt x="0" y="98451"/>
                </a:lnTo>
                <a:cubicBezTo>
                  <a:pt x="0" y="44114"/>
                  <a:pt x="44114" y="0"/>
                  <a:pt x="98451" y="0"/>
                </a:cubicBezTo>
                <a:close/>
              </a:path>
            </a:pathLst>
          </a:custGeom>
          <a:solidFill>
            <a:srgbClr val="262626">
              <a:alpha val="6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9688067" y="2717766"/>
            <a:ext cx="1755779" cy="328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6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i="0" sz="1600" u="none" cap="none" strike="noStrike"/>
          </a:p>
        </p:txBody>
      </p:sp>
      <p:sp>
        <p:nvSpPr>
          <p:cNvPr id="646" name="Google Shape;646;p16"/>
          <p:cNvSpPr/>
          <p:nvPr/>
        </p:nvSpPr>
        <p:spPr>
          <a:xfrm>
            <a:off x="9688067" y="3078767"/>
            <a:ext cx="1673734" cy="196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4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Espacio auxiliar</a:t>
            </a:r>
            <a:endParaRPr b="0" i="0" sz="1600" u="none" cap="none" strike="noStrike"/>
          </a:p>
        </p:txBody>
      </p:sp>
      <p:sp>
        <p:nvSpPr>
          <p:cNvPr id="647" name="Google Shape;647;p16"/>
          <p:cNvSpPr/>
          <p:nvPr/>
        </p:nvSpPr>
        <p:spPr>
          <a:xfrm>
            <a:off x="9499362" y="1458363"/>
            <a:ext cx="1944485" cy="927117"/>
          </a:xfrm>
          <a:custGeom>
            <a:rect b="b" l="l" r="r" t="t"/>
            <a:pathLst>
              <a:path extrusionOk="0" h="927117" w="1944485">
                <a:moveTo>
                  <a:pt x="98451" y="0"/>
                </a:moveTo>
                <a:lnTo>
                  <a:pt x="1846034" y="0"/>
                </a:lnTo>
                <a:cubicBezTo>
                  <a:pt x="1900370" y="0"/>
                  <a:pt x="1944485" y="44114"/>
                  <a:pt x="1944485" y="98451"/>
                </a:cubicBezTo>
                <a:lnTo>
                  <a:pt x="1944485" y="828667"/>
                </a:lnTo>
                <a:cubicBezTo>
                  <a:pt x="1944485" y="883039"/>
                  <a:pt x="1900407" y="927117"/>
                  <a:pt x="1846034" y="927117"/>
                </a:cubicBezTo>
                <a:lnTo>
                  <a:pt x="98451" y="927117"/>
                </a:lnTo>
                <a:cubicBezTo>
                  <a:pt x="44114" y="927117"/>
                  <a:pt x="0" y="883003"/>
                  <a:pt x="0" y="828667"/>
                </a:cubicBezTo>
                <a:lnTo>
                  <a:pt x="0" y="98451"/>
                </a:lnTo>
                <a:cubicBezTo>
                  <a:pt x="0" y="44114"/>
                  <a:pt x="44114" y="0"/>
                  <a:pt x="98451" y="0"/>
                </a:cubicBezTo>
                <a:close/>
              </a:path>
            </a:pathLst>
          </a:custGeom>
          <a:solidFill>
            <a:srgbClr val="262626">
              <a:alpha val="6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6"/>
          <p:cNvSpPr/>
          <p:nvPr/>
        </p:nvSpPr>
        <p:spPr>
          <a:xfrm>
            <a:off x="9688067" y="1659376"/>
            <a:ext cx="1755779" cy="328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6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0" i="0" sz="1600" u="none" cap="none" strike="noStrike"/>
          </a:p>
        </p:txBody>
      </p:sp>
      <p:sp>
        <p:nvSpPr>
          <p:cNvPr id="649" name="Google Shape;649;p16"/>
          <p:cNvSpPr/>
          <p:nvPr/>
        </p:nvSpPr>
        <p:spPr>
          <a:xfrm>
            <a:off x="9634738" y="1921922"/>
            <a:ext cx="1673734" cy="196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4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2026-03-25T18:39:14Z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{"Label":"Heap Sort: Algoritmo de Ordenamiento Eficiente","ContentProducer":"001191110108MACG2KBH8F10000","ProduceID":"19d26389-2912-87f8-8000-0000ba22cf2e","ReservedCode1":"","ContentPropagator":"001191110108MACG2KBH8F20000","PropagateID":"19d26389-2912-87f8-8000-0000ba22cf2e","ReservedCode2":""}</vt:lpwstr>
  </property>
</Properties>
</file>